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TerraCognizance - Enterprise Product Specification</a:t>
            </a:r>
          </a:p>
          <a:p>
            <a:r>
              <a:t>Tagline: Enterprise Legal Cognizance &amp; Litigation Intelligence Platform (Graph-of-Thought RAG)</a:t>
            </a:r>
          </a:p>
          <a:p/>
          <a:p>
            <a:r>
              <a:t>Outcome Quote:</a:t>
            </a:r>
          </a:p>
          <a:p>
            <a:r>
              <a:t>“Litigation is not won on generic search, but on interconnecting fragmented truth — transforming sprawling case records into an unshakeable knowledge vault where every assertion commands instant, clause-level proof.” (— THE REVOLUTION IN ENTERPRISE LITIGATION)</a:t>
            </a:r>
          </a:p>
          <a:p/>
          <a:p>
            <a:r>
              <a:t>Executive Overview:</a:t>
            </a:r>
          </a:p>
          <a:p>
            <a:r>
              <a:t>TerraCognizance transforms high-stakes legal corpora, pleadings, contracts, and court exhibits into a structured, interconnected, verifiable Knowledge Vault governed by autonomous Graph-of-Thought architecture. Delivering deterministic retrieval with sub-second synthesis, it powers courtroom hearing simulations, cross-examination rebuttals, and clause-level provenance verification with zero hallucinations.</a:t>
            </a:r>
          </a:p>
          <a:p/>
          <a:p>
            <a:r>
              <a:t>Key Telemetry Metrics:</a:t>
            </a:r>
          </a:p>
          <a:p>
            <a:r>
              <a:t>- KNOWLEDGE VAULT:: Graph-of-Thought RAG</a:t>
            </a:r>
          </a:p>
          <a:p>
            <a:r>
              <a:t>- EVIDENTIARY AUDIT:: 100% Provenance Citations</a:t>
            </a:r>
          </a:p>
          <a:p>
            <a:r>
              <a:t>- REASONING SPEED:: Sub-Second GoT Synthesis</a:t>
            </a:r>
          </a:p>
          <a:p>
            <a:r>
              <a:t>- HALLUCINATION RATE:: Zero Heuristic Bias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TerraCognizance - ANSI/ISA-101 Verified Operational Interface</a:t>
            </a:r>
          </a:p>
          <a:p>
            <a:r>
              <a:t>Representation: TerraCognizance ANSI/ISA-101 Operational Interface &amp; Real-Time System Representation</a:t>
            </a:r>
          </a:p>
          <a:p>
            <a:r>
              <a:t>Compliance: ANSI/ISA-101 Verified HMI</a:t>
            </a:r>
          </a:p>
          <a:p>
            <a:r>
              <a:t>Asset File: terra_cognizance_isa101_showcase.jpg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TerraCognizance Will Do:</a:t>
            </a:r>
          </a:p>
          <a:p>
            <a:r>
              <a:t>[1] Strategy Q&amp;A &amp; Legal Theory Simulation:</a:t>
            </a:r>
          </a:p>
          <a:p>
            <a:r>
              <a:t>Conducts deep conversational analysis across complex legal corpora and multi-jurisdictional precedents; stress-tests statutory defenses, evaluates judicial admissibility patterns, and calculates damages quantum with instant clause-level references.</a:t>
            </a:r>
          </a:p>
          <a:p/>
          <a:p>
            <a:r>
              <a:t>[2] Court Hearing Mode &amp; Live Rebuttal Cockpit:</a:t>
            </a:r>
          </a:p>
          <a:p>
            <a:r>
              <a:t>Ultra-fast, high-density courtroom cockpit providing instant counter-arguments, identifying adverse witness contradictions, and generating exact exhibit, page, and paragraph citations during live cross-examinations and hearings.</a:t>
            </a:r>
          </a:p>
          <a:p/>
          <a:p>
            <a:r>
              <a:t>[3] Graph-of-Thought Relational Knowledge Graph:</a:t>
            </a:r>
          </a:p>
          <a:p>
            <a:r>
              <a:t>Interconnects sprawling claims, evidence nodes, statutory doctrines, and prayers across 40,000+ matter filings into a unified relational topology, exposing hidden dependencies and corporate entity mappings with sub-50ms node traversal.</a:t>
            </a:r>
          </a:p>
          <a:p/>
          <a:p>
            <a:r>
              <a:t>[4] Verifiable Evidentiary Provenance &amp; Audit Trail:</a:t>
            </a:r>
          </a:p>
          <a:p>
            <a:r>
              <a:t>Strict clause-level provenance verification ensures every assertion, summary, and rebuttal citation is directly anchored to verified court exhibits and statutory records, eliminating hallucinated references and ensuring 100% evidentiary defensibility.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TerraCognizance - Operational Use Cases &amp; Field Impact:</a:t>
            </a:r>
          </a:p>
          <a:p>
            <a:r>
              <a:t>[Commercial Litigation] High-Stakes Commercial &amp; Shareholder Suits:</a:t>
            </a:r>
          </a:p>
          <a:p>
            <a:r>
              <a:t>Rapidly cross-references 40,000 pages of commercial agreements, emails, and board resolutions to expose shareholder agreement breaches, reconcile indemnity claims, and calculate damages quantum with zero evidentiary gaps.</a:t>
            </a:r>
          </a:p>
          <a:p/>
          <a:p>
            <a:r>
              <a:t>[Intellectual Property] IP Infringement &amp; Trade Secret Misappropriation:</a:t>
            </a:r>
          </a:p>
          <a:p>
            <a:r>
              <a:t>Constructs precise forensic timelines of source code commits, non-disclosure agreements, and employee movements; maps patent claim charts directly to competitor product teardowns and deposition transcripts.</a:t>
            </a:r>
          </a:p>
          <a:p/>
          <a:p>
            <a:r>
              <a:t>[Arbitration &amp; Infrastructure] Arbitration &amp; Multi-Tier EPC Construction Disputes:</a:t>
            </a:r>
          </a:p>
          <a:p>
            <a:r>
              <a:t>Ingests complex FIDIC engineering contracts, variation orders, and site inspection diaries; automatically quantifies critical path delay claims and contractor liquidated damages reconciliations.</a:t>
            </a:r>
          </a:p>
          <a:p/>
          <a:p>
            <a:r>
              <a:t>[Regulatory Defense] Regulatory Enforcement Defense &amp; White-Collar Audits:</a:t>
            </a:r>
          </a:p>
          <a:p>
            <a:r>
              <a:t>Audits statutory compliance notices and multi-year banking transaction trails; reconstructs anti-corruption defense filings and establishes unbroken chains of custody across cross-border regulatory inquiries.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TerraCognizance - Architectural Contrast (Legacy SCADA vs Terrestrial Platform):</a:t>
            </a:r>
          </a:p>
          <a:p>
            <a:r>
              <a:t>LEGACY:</a:t>
            </a:r>
          </a:p>
          <a:p>
            <a:r>
              <a:t>Vector chunking fractures sentences and multi-page contract clauses, resulting in lost contextual relationships and misleading snippet retrieval.</a:t>
            </a:r>
          </a:p>
          <a:p/>
          <a:p>
            <a:r>
              <a:t>TERRESTRIAL ADVANTAGE:</a:t>
            </a:r>
          </a:p>
          <a:p>
            <a:r>
              <a:t>Graph-of-Thought holistic node traversal preserves document hierarchies, cross-references, and structural relations across all matter filings.</a:t>
            </a:r>
          </a:p>
          <a:p/>
          <a:p>
            <a:r>
              <a:t>LEGACY:</a:t>
            </a:r>
          </a:p>
          <a:p>
            <a:r>
              <a:t>Unverified generative systems produce plausible-sounding hallucinated legal citations and phantom contract provisions.</a:t>
            </a:r>
          </a:p>
          <a:p/>
          <a:p>
            <a:r>
              <a:t>TERRESTRIAL ADVANTAGE:</a:t>
            </a:r>
          </a:p>
          <a:p>
            <a:r>
              <a:t>Strict 100% BELONGS_TO provenance audit: every synthesis bullet is bound to exact document, page number, and paragraph coordinates.</a:t>
            </a:r>
          </a:p>
          <a:p/>
          <a:p>
            <a:r>
              <a:t>LEGACY:</a:t>
            </a:r>
          </a:p>
          <a:p>
            <a:r>
              <a:t>Keyword and semantic vector searches fail when parties, corporate subsidiaries, or witnesses are referenced by acronyms or aliases.</a:t>
            </a:r>
          </a:p>
          <a:p/>
          <a:p>
            <a:r>
              <a:t>TERRESTRIAL ADVANTAGE:</a:t>
            </a:r>
          </a:p>
          <a:p>
            <a:r>
              <a:t>Deterministic 4-level entity resolution cascade collapses aliases, misspellings, and subsidiary names into unified canonical identities.</a:t>
            </a:r>
          </a:p>
          <a:p/>
          <a:p>
            <a:r>
              <a:t>LEGACY:</a:t>
            </a:r>
          </a:p>
          <a:p>
            <a:r>
              <a:t>Static PDF viewing requires hours of manual cross-referencing and highlighter tagging during time-critical court hearings.</a:t>
            </a:r>
          </a:p>
          <a:p/>
          <a:p>
            <a:r>
              <a:t>TERRESTRIAL ADVANTAGE:</a:t>
            </a:r>
          </a:p>
          <a:p>
            <a:r>
              <a:t>Court Hearing Mode provides sub-second rebuttal synthesis and instant cross-examination cards triggered by live opposing arguments.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TerraCognizance - End-to-End System Diagram &amp; Data Pipeline:</a:t>
            </a:r>
          </a:p>
          <a:p/>
          <a:p>
            <a:r>
              <a:t>Layer 01: Multi-Modal Legal Ingestion</a:t>
            </a:r>
          </a:p>
          <a:p>
            <a:r>
              <a:t>Direct multi-format legal ingestion aggregating pleadings, contracts, court exhibits, depositions, and transcripts with automated OCR normalization.</a:t>
            </a:r>
          </a:p>
          <a:p>
            <a:r>
              <a:t>Protocols: Secure Ingestion API, Encrypted Vault Storage, PDF/OCR Stream</a:t>
            </a:r>
          </a:p>
          <a:p/>
          <a:p>
            <a:r>
              <a:t>Layer 02: Deterministic Vault Stream</a:t>
            </a:r>
          </a:p>
          <a:p>
            <a:r>
              <a:t>High-throughput canonical Markdown nodes, bidirectional link indexing, deterministic alias collapsing, and sub-50ms graph synchronization.</a:t>
            </a:r>
          </a:p>
          <a:p>
            <a:r>
              <a:t>Protocols: Knowledge Vault Bus, Entity Resolution Bus, Sub-50ms Graph Stream</a:t>
            </a:r>
          </a:p>
          <a:p/>
          <a:p>
            <a:r>
              <a:t>Layer 03: Graph-of-Thought Reasoning Core</a:t>
            </a:r>
          </a:p>
          <a:p>
            <a:r>
              <a:t>Hybrid Personalized PageRank (PPR), dense vector retrieval, reciprocal rank fusion, and multi-turn autonomous tool synthesis.</a:t>
            </a:r>
          </a:p>
          <a:p>
            <a:r>
              <a:t>Protocols: Graph-of-Thought AI, Personalized PageRank, Tri-Model RRF</a:t>
            </a:r>
          </a:p>
          <a:p/>
          <a:p>
            <a:r>
              <a:t>Layer 04: Courtroom Cockpit &amp; Strategy Console</a:t>
            </a:r>
          </a:p>
          <a:p>
            <a:r>
              <a:t>Live hearing rebuttal cards, clause-level citation drawer, human-in-the-loop Adjudicator review, and ANSI/ISA-101 litigation intelligence displays.</a:t>
            </a:r>
          </a:p>
          <a:p>
            <a:r>
              <a:t>Protocols: Court Hearing Mode, Provenance Drawer, ISA-101 Legal HMI</a:t>
            </a:r>
          </a:p>
          <a:p/>
          <a:p>
            <a:r>
              <a:t>Pipeline Flow:</a:t>
            </a:r>
          </a:p>
          <a:p>
            <a:r>
              <a:t>DATA PIPELINE FLOW: Legal Corpus &amp; Exhibit Ingestion ➔ Deterministic Knowledge Vault Stream ➔ Graph-of-Thought RAG Reasoning ➔ Closed-Loop Court Hearing &amp; Strategy Actuation (&lt; 50ms Latency)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TerraCognizance - System Integrator Deployment Framework &amp; Commercial Model:</a:t>
            </a:r>
          </a:p>
          <a:p/>
          <a:p>
            <a:r>
              <a:t>Phase 1: Connectivity &amp; Audit</a:t>
            </a:r>
          </a:p>
          <a:p>
            <a:r>
              <a:t>Phase 2: Twin Calibration</a:t>
            </a:r>
          </a:p>
          <a:p>
            <a:r>
              <a:t>Phase 3: Autonomous Go-Live</a:t>
            </a:r>
          </a:p>
          <a:p/>
          <a:p>
            <a:r>
              <a:t>Commercial Enablement:</a:t>
            </a:r>
          </a:p>
          <a:p>
            <a:r>
              <a:t>- 25%-35% recurring SaaS margins</a:t>
            </a:r>
          </a:p>
          <a:p>
            <a:r>
              <a:t>- 7-14 day rapid commissioning</a:t>
            </a:r>
          </a:p>
          <a:p>
            <a:r>
              <a:t>- Co-selling and enterprise enablement support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828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TERRESTRIAL PLATFORM  |  TERRACOGNIZANCE  |  ENTERPRISE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TerraCognizance: Enterprise Legal Cognizance &amp; Litigation Intelligence Platform (Graph-of-Thought RAG)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Autonomous Industrial Intelligence Suite · Tier-1 Plant Architecture</a:t>
            </a:r>
          </a:p>
        </p:txBody>
      </p:sp>
      <p:pic>
        <p:nvPicPr>
          <p:cNvPr id="6" name="Picture 5" descr="tp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411480"/>
            <a:ext cx="987552" cy="3840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91640"/>
            <a:ext cx="6217920" cy="466344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576072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i="1" b="1">
                <a:solidFill>
                  <a:srgbClr val="38BDF8"/>
                </a:solidFill>
              </a:defRPr>
            </a:pPr>
            <a:r>
              <a:t>““Litigation is not won on generic search, but on interconnecting fragmented truth — transforming sprawling case records into an unshakeable knowledge vault where every assertion commands instant, clause-level proof.””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950" b="1">
                <a:solidFill>
                  <a:srgbClr val="94A3B8"/>
                </a:solidFill>
              </a:defRPr>
            </a:pPr>
            <a:r>
              <a:t>— — THE REVOLUTION IN ENTERPRISE LITIGATION</a:t>
            </a:r>
          </a:p>
          <a:p>
            <a:pPr>
              <a:spcAft>
                <a:spcPts val="600"/>
              </a:spcAft>
              <a:defRPr sz="1050" b="1">
                <a:solidFill>
                  <a:srgbClr val="FFFFFF"/>
                </a:solidFill>
              </a:defRPr>
            </a:pPr>
            <a:r>
              <a:t>EXECUTIVE OPERATIONAL SYNOPSIS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TerraCognizance transforms high-stakes legal corpora, pleadings, contracts, and court exhibits into a structured, interconnected, verifiable Knowledge Vault governed by autonomous Graph-of-Thought architecture. Delivering deterministic retrieval with sub-second synthesis, it powers courtroom hearing simulations, cross-examination rebuttals, and clause-level provenance verification with zero hallucinations.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691640"/>
            <a:ext cx="2084831" cy="118872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1828800"/>
            <a:ext cx="1810511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94A3B8"/>
                </a:solidFill>
              </a:defRPr>
            </a:pPr>
            <a:r>
              <a:t>KNOWLEDGE VAULT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Graph-of-Thought RAG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1743" y="1691640"/>
            <a:ext cx="2084831" cy="118872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18903" y="1828800"/>
            <a:ext cx="1810511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94A3B8"/>
                </a:solidFill>
              </a:defRPr>
            </a:pPr>
            <a:r>
              <a:t>EVIDENTIARY AUDIT</a:t>
            </a:r>
          </a:p>
          <a:p>
            <a:pPr>
              <a:spcBef>
                <a:spcPts val="400"/>
              </a:spcBef>
              <a:defRPr sz="1400" b="1">
                <a:solidFill>
                  <a:srgbClr val="34D399"/>
                </a:solidFill>
              </a:defRPr>
            </a:pPr>
            <a:r>
              <a:t>100% Provenance Citations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3044952"/>
            <a:ext cx="2084831" cy="118872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3182112"/>
            <a:ext cx="1810511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94A3B8"/>
                </a:solidFill>
              </a:defRPr>
            </a:pPr>
            <a:r>
              <a:t>REASONING SPEED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Sub-Second GoT Synthesis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81743" y="3044952"/>
            <a:ext cx="2084831" cy="118872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18903" y="3182112"/>
            <a:ext cx="1810511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94A3B8"/>
                </a:solidFill>
              </a:defRPr>
            </a:pPr>
            <a:r>
              <a:t>HALLUCINATION RATE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Zero Heuristic Bias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4434840"/>
            <a:ext cx="4334256" cy="192024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0920" y="4617720"/>
            <a:ext cx="38404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TERRESTRIAL PLATFORM CORE</a:t>
            </a:r>
          </a:p>
          <a:p>
            <a:pPr>
              <a:spcBef>
                <a:spcPts val="200"/>
              </a:spcBef>
              <a:defRPr sz="1100" b="1">
                <a:solidFill>
                  <a:srgbClr val="FFFFFF"/>
                </a:solidFill>
              </a:defRPr>
            </a:pPr>
            <a:r>
              <a:t>Edge-to-Cloud Cognitive Nervous System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Physics-informed mathematical twin running sub-25ms closed-loop supervisory control with full ISA-95/101 conformity.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828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TERRESTRIAL PLATFORM  |  TERRACOGNIZANCE  |  OPERATIONAL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TerraCognizance ANSI/ISA-101 Operational Interface &amp; Real-Time System Representation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ANSI/ISA-101 Ergonomic High-Performance HMI · Real-Time System Representation</a:t>
            </a:r>
          </a:p>
        </p:txBody>
      </p:sp>
      <p:pic>
        <p:nvPicPr>
          <p:cNvPr id="6" name="Picture 5" descr="tp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411480"/>
            <a:ext cx="987552" cy="3840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45920"/>
            <a:ext cx="10728655" cy="47091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rra_cognizance_isa101_showc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91640"/>
            <a:ext cx="10637215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828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TERRESTRIAL PLATFORM  |  TERRACOGNIZANCE  |  CORE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What TerraCognizance Will Do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Specific operational functions and engineering capabilities directly sourced from technical documentation.</a:t>
            </a:r>
          </a:p>
        </p:txBody>
      </p:sp>
      <p:pic>
        <p:nvPicPr>
          <p:cNvPr id="6" name="Picture 5" descr="tp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411480"/>
            <a:ext cx="987552" cy="3840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91640"/>
            <a:ext cx="5230368" cy="21945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20"/>
            <a:ext cx="477316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PILLAR 01  |  ENGINEERING CAPABILITY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300" b="1">
                <a:solidFill>
                  <a:srgbClr val="FFFFFF"/>
                </a:solidFill>
              </a:defRPr>
            </a:pPr>
            <a:r>
              <a:t>Strategy Q&amp;A &amp; Legal Theory Simulation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Conducts deep conversational analysis across complex legal corpora and multi-jurisdictional precedents; stress-tests statutory defenses, evaluates judicial admissibility patterns, and calculates damages quantum with instant clause-level references.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1691640"/>
            <a:ext cx="5230368" cy="21945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74520"/>
            <a:ext cx="477316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PILLAR 02  |  ENGINEERING CAPABILITY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300" b="1">
                <a:solidFill>
                  <a:srgbClr val="FFFFFF"/>
                </a:solidFill>
              </a:defRPr>
            </a:pPr>
            <a:r>
              <a:t>Court Hearing Mode &amp; Live Rebuttal Cockpit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Ultra-fast, high-density courtroom cockpit providing instant counter-arguments, identifying adverse witness contradictions, and generating exact exhibit, page, and paragraph citations during live cross-examinations and hearings.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5230368" cy="21945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297680"/>
            <a:ext cx="477316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PILLAR 03  |  ENGINEERING CAPABILITY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300" b="1">
                <a:solidFill>
                  <a:srgbClr val="FFFFFF"/>
                </a:solidFill>
              </a:defRPr>
            </a:pPr>
            <a:r>
              <a:t>Graph-of-Thought Relational Knowledge Graph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Interconnects sprawling claims, evidence nodes, statutory doctrines, and prayers across 40,000+ matter filings into a unified relational topology, exposing hidden dependencies and corporate entity mappings with sub-50ms node traversal.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4114800"/>
            <a:ext cx="5230368" cy="21945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5664" y="4297680"/>
            <a:ext cx="477316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PILLAR 04  |  ENGINEERING CAPABILITY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300" b="1">
                <a:solidFill>
                  <a:srgbClr val="FFFFFF"/>
                </a:solidFill>
              </a:defRPr>
            </a:pPr>
            <a:r>
              <a:t>Verifiable Evidentiary Provenance &amp; Audit Trail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Strict clause-level provenance verification ensures every assertion, summary, and rebuttal citation is directly anchored to verified court exhibits and statutory records, eliminating hallucinated references and ensuring 100% evidentiary defensibility.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828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TERRESTRIAL PLATFORM  |  TERRACOGNIZANCE  |  FIELD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Operational Use Cases &amp; Field Impact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Actual documented use cases across Quality Assurance, Reduced Manpower, Efficiency, and Asset Productivity.</a:t>
            </a:r>
          </a:p>
        </p:txBody>
      </p:sp>
      <p:pic>
        <p:nvPicPr>
          <p:cNvPr id="6" name="Picture 5" descr="tp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411480"/>
            <a:ext cx="987552" cy="3840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91640"/>
            <a:ext cx="5230368" cy="21945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20"/>
            <a:ext cx="477316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4D399"/>
                </a:solidFill>
              </a:defRPr>
            </a:pPr>
            <a:r>
              <a:t>CASE 01  |  COMMERCIAL LITIGATION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300" b="1">
                <a:solidFill>
                  <a:srgbClr val="FFFFFF"/>
                </a:solidFill>
              </a:defRPr>
            </a:pPr>
            <a:r>
              <a:t>High-Stakes Commercial &amp; Shareholder Suits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Rapidly cross-references 40,000 pages of commercial agreements, emails, and board resolutions to expose shareholder agreement breaches, reconcile indemnity claims, and calculate damages quantum with zero evidentiary gaps.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1691640"/>
            <a:ext cx="5230368" cy="21945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74520"/>
            <a:ext cx="477316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4D399"/>
                </a:solidFill>
              </a:defRPr>
            </a:pPr>
            <a:r>
              <a:t>CASE 02  |  INTELLECTUAL PROPERTY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300" b="1">
                <a:solidFill>
                  <a:srgbClr val="FFFFFF"/>
                </a:solidFill>
              </a:defRPr>
            </a:pPr>
            <a:r>
              <a:t>IP Infringement &amp; Trade Secret Misappropriation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Constructs precise forensic timelines of source code commits, non-disclosure agreements, and employee movements; maps patent claim charts directly to competitor product teardowns and deposition transcripts.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5230368" cy="21945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297680"/>
            <a:ext cx="477316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4D399"/>
                </a:solidFill>
              </a:defRPr>
            </a:pPr>
            <a:r>
              <a:t>CASE 03  |  ARBITRATION &amp; INFRASTRUCTURE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300" b="1">
                <a:solidFill>
                  <a:srgbClr val="FFFFFF"/>
                </a:solidFill>
              </a:defRPr>
            </a:pPr>
            <a:r>
              <a:t>Arbitration &amp; Multi-Tier EPC Construction Disputes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Ingests complex FIDIC engineering contracts, variation orders, and site inspection diaries; automatically quantifies critical path delay claims and contractor liquidated damages reconciliations.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4114800"/>
            <a:ext cx="5230368" cy="21945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5664" y="4297680"/>
            <a:ext cx="477316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4D399"/>
                </a:solidFill>
              </a:defRPr>
            </a:pPr>
            <a:r>
              <a:t>CASE 04  |  REGULATORY DEFENSE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300" b="1">
                <a:solidFill>
                  <a:srgbClr val="FFFFFF"/>
                </a:solidFill>
              </a:defRPr>
            </a:pPr>
            <a:r>
              <a:t>Regulatory Enforcement Defense &amp; White-Collar Audits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Audits statutory compliance notices and multi-year banking transaction trails; reconstructs anti-corruption defense filings and establishes unbroken chains of custody across cross-border regulatory inquiries.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828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TERRESTRIAL PLATFORM  |  TERRACOGNIZANCE  |  ARCHITECTURAL CONTRAST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Comparison with Traditional SCADA / Legacy Systems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Point-by-point contrast demonstrating the technological shift from legacy industrial automation to the Terrestrial Platform.</a:t>
            </a:r>
          </a:p>
        </p:txBody>
      </p:sp>
      <p:pic>
        <p:nvPicPr>
          <p:cNvPr id="6" name="Picture 5" descr="tp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411480"/>
            <a:ext cx="987552" cy="3840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91640"/>
            <a:ext cx="5230368" cy="502920"/>
          </a:xfrm>
          <a:prstGeom prst="roundRect">
            <a:avLst/>
          </a:prstGeom>
          <a:solidFill>
            <a:srgbClr val="1C1216"/>
          </a:solidFill>
          <a:ln w="12700">
            <a:solidFill>
              <a:srgbClr val="5019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F4444"/>
                </a:solidFill>
              </a:defRPr>
            </a:pPr>
            <a:r>
              <a:t>TRADITIONAL LEGACY SYSTEMS / SILOED SCADA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1691640"/>
            <a:ext cx="5230368" cy="502920"/>
          </a:xfrm>
          <a:prstGeom prst="roundRect">
            <a:avLst/>
          </a:prstGeom>
          <a:solidFill>
            <a:srgbClr val="0F1C26"/>
          </a:solidFill>
          <a:ln w="12700">
            <a:solidFill>
              <a:srgbClr val="194B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4224" y="1783080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TERRACOGNIZANCE TERRESTRIAL PLATFORM ADVANTAGE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86000"/>
            <a:ext cx="5230368" cy="946404"/>
          </a:xfrm>
          <a:prstGeom prst="roundRect">
            <a:avLst/>
          </a:prstGeom>
          <a:solidFill>
            <a:srgbClr val="1C1216"/>
          </a:solidFill>
          <a:ln w="12700">
            <a:solidFill>
              <a:srgbClr val="5019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359152"/>
            <a:ext cx="4956048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F1F5F9"/>
                </a:solidFill>
              </a:defRPr>
            </a:pPr>
            <a:r>
              <a:t>Vector chunking fractures sentences and multi-page contract clauses, resulting in lost contextual relationships and misleading snippet retrieval.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2286000"/>
            <a:ext cx="5230368" cy="946404"/>
          </a:xfrm>
          <a:prstGeom prst="roundRect">
            <a:avLst/>
          </a:prstGeom>
          <a:solidFill>
            <a:srgbClr val="0F1C26"/>
          </a:solidFill>
          <a:ln w="12700">
            <a:solidFill>
              <a:srgbClr val="194B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2359152"/>
            <a:ext cx="4956048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4D399"/>
                </a:solidFill>
              </a:defRPr>
            </a:pPr>
            <a:r>
              <a:t>Graph-of-Thought holistic node traversal preserves document hierarchies, cross-references, and structural relations across all matter filings.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42132"/>
            <a:ext cx="5230368" cy="946404"/>
          </a:xfrm>
          <a:prstGeom prst="roundRect">
            <a:avLst/>
          </a:prstGeom>
          <a:solidFill>
            <a:srgbClr val="1C1216"/>
          </a:solidFill>
          <a:ln w="12700">
            <a:solidFill>
              <a:srgbClr val="5019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415284"/>
            <a:ext cx="4956048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F1F5F9"/>
                </a:solidFill>
              </a:defRPr>
            </a:pPr>
            <a:r>
              <a:t>Unverified generative systems produce plausible-sounding hallucinated legal citations and phantom contract provisions.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7064" y="3342132"/>
            <a:ext cx="5230368" cy="946404"/>
          </a:xfrm>
          <a:prstGeom prst="roundRect">
            <a:avLst/>
          </a:prstGeom>
          <a:solidFill>
            <a:srgbClr val="0F1C26"/>
          </a:solidFill>
          <a:ln w="12700">
            <a:solidFill>
              <a:srgbClr val="194B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3415284"/>
            <a:ext cx="4956048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4D399"/>
                </a:solidFill>
              </a:defRPr>
            </a:pPr>
            <a:r>
              <a:t>Strict 100% BELONGS_TO provenance audit: every synthesis bullet is bound to exact document, page number, and paragraph coordinates.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398264"/>
            <a:ext cx="5230368" cy="946404"/>
          </a:xfrm>
          <a:prstGeom prst="roundRect">
            <a:avLst/>
          </a:prstGeom>
          <a:solidFill>
            <a:srgbClr val="1C1216"/>
          </a:solidFill>
          <a:ln w="12700">
            <a:solidFill>
              <a:srgbClr val="5019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471416"/>
            <a:ext cx="4956048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F1F5F9"/>
                </a:solidFill>
              </a:defRPr>
            </a:pPr>
            <a:r>
              <a:t>Keyword and semantic vector searches fail when parties, corporate subsidiaries, or witnesses are referenced by acronyms or aliases.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7064" y="4398264"/>
            <a:ext cx="5230368" cy="946404"/>
          </a:xfrm>
          <a:prstGeom prst="roundRect">
            <a:avLst/>
          </a:prstGeom>
          <a:solidFill>
            <a:srgbClr val="0F1C26"/>
          </a:solidFill>
          <a:ln w="12700">
            <a:solidFill>
              <a:srgbClr val="194B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4471416"/>
            <a:ext cx="4956048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4D399"/>
                </a:solidFill>
              </a:defRPr>
            </a:pPr>
            <a:r>
              <a:t>Deterministic 4-level entity resolution cascade collapses aliases, misspellings, and subsidiary names into unified canonical identities.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454396"/>
            <a:ext cx="5230368" cy="946404"/>
          </a:xfrm>
          <a:prstGeom prst="roundRect">
            <a:avLst/>
          </a:prstGeom>
          <a:solidFill>
            <a:srgbClr val="1C1216"/>
          </a:solidFill>
          <a:ln w="12700">
            <a:solidFill>
              <a:srgbClr val="5019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527548"/>
            <a:ext cx="4956048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F1F5F9"/>
                </a:solidFill>
              </a:defRPr>
            </a:pPr>
            <a:r>
              <a:t>Static PDF viewing requires hours of manual cross-referencing and highlighter tagging during time-critical court hearings.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27064" y="5454396"/>
            <a:ext cx="5230368" cy="946404"/>
          </a:xfrm>
          <a:prstGeom prst="roundRect">
            <a:avLst/>
          </a:prstGeom>
          <a:solidFill>
            <a:srgbClr val="0F1C26"/>
          </a:solidFill>
          <a:ln w="12700">
            <a:solidFill>
              <a:srgbClr val="194B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5527548"/>
            <a:ext cx="4956048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4D399"/>
                </a:solidFill>
              </a:defRPr>
            </a:pPr>
            <a:r>
              <a:t>Court Hearing Mode provides sub-second rebuttal synthesis and instant cross-examination cards triggered by live opposing arguments.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828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TERRESTRIAL PLATFORM  |  TERRACOGNIZANCE  | 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End-to-End System Diagram &amp; Data Pipeline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Visual architecture diagram representing field telemetry ingestion, deterministic edge fabric, AI reasoning, and closed-loop actuation.</a:t>
            </a:r>
          </a:p>
        </p:txBody>
      </p:sp>
      <p:pic>
        <p:nvPicPr>
          <p:cNvPr id="6" name="Picture 5" descr="tp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411480"/>
            <a:ext cx="987552" cy="3840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91640"/>
            <a:ext cx="2514600" cy="361188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56232"/>
            <a:ext cx="2185416" cy="32826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LAYER 01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200" b="1">
                <a:solidFill>
                  <a:srgbClr val="FFFFFF"/>
                </a:solidFill>
              </a:defRPr>
            </a:pPr>
            <a:r>
              <a:t>Multi-Modal Legal Ingestion</a:t>
            </a:r>
          </a:p>
          <a:p>
            <a:pPr>
              <a:spcAft>
                <a:spcPts val="800"/>
              </a:spcAft>
              <a:defRPr sz="900">
                <a:solidFill>
                  <a:srgbClr val="F1F5F9"/>
                </a:solidFill>
              </a:defRPr>
            </a:pPr>
            <a:r>
              <a:t>Direct multi-format legal ingestion aggregating pleadings, contracts, court exhibits, depositions, and transcripts with automated OCR normalization.</a:t>
            </a:r>
          </a:p>
          <a:p>
            <a:pPr>
              <a:spcBef>
                <a:spcPts val="400"/>
              </a:spcBef>
              <a:defRPr sz="800" b="1">
                <a:solidFill>
                  <a:srgbClr val="94A3B8"/>
                </a:solidFill>
              </a:defRPr>
            </a:pPr>
            <a:r>
              <a:t>PROTOCOLS &amp; STANDARDS:</a:t>
            </a:r>
          </a:p>
          <a:p>
            <a:pPr>
              <a:spcBef>
                <a:spcPts val="200"/>
              </a:spcBef>
              <a:defRPr sz="850">
                <a:solidFill>
                  <a:srgbClr val="34D399"/>
                </a:solidFill>
              </a:defRPr>
            </a:pPr>
            <a:r>
              <a:t> • Secure Ingestion API</a:t>
            </a:r>
            <a:br/>
            <a:r>
              <a:t> • Encrypted Vault Storage</a:t>
            </a:r>
            <a:br/>
            <a:r>
              <a:t> • PDF/OCR Stream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5576" y="1691640"/>
            <a:ext cx="2514600" cy="361188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0168" y="1856232"/>
            <a:ext cx="2185416" cy="32826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LAYER 02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200" b="1">
                <a:solidFill>
                  <a:srgbClr val="FFFFFF"/>
                </a:solidFill>
              </a:defRPr>
            </a:pPr>
            <a:r>
              <a:t>Deterministic Vault Stream</a:t>
            </a:r>
          </a:p>
          <a:p>
            <a:pPr>
              <a:spcAft>
                <a:spcPts val="800"/>
              </a:spcAft>
              <a:defRPr sz="900">
                <a:solidFill>
                  <a:srgbClr val="F1F5F9"/>
                </a:solidFill>
              </a:defRPr>
            </a:pPr>
            <a:r>
              <a:t>High-throughput canonical Markdown nodes, bidirectional link indexing, deterministic alias collapsing, and sub-50ms graph synchronization.</a:t>
            </a:r>
          </a:p>
          <a:p>
            <a:pPr>
              <a:spcBef>
                <a:spcPts val="400"/>
              </a:spcBef>
              <a:defRPr sz="800" b="1">
                <a:solidFill>
                  <a:srgbClr val="94A3B8"/>
                </a:solidFill>
              </a:defRPr>
            </a:pPr>
            <a:r>
              <a:t>PROTOCOLS &amp; STANDARDS:</a:t>
            </a:r>
          </a:p>
          <a:p>
            <a:pPr>
              <a:spcBef>
                <a:spcPts val="200"/>
              </a:spcBef>
              <a:defRPr sz="850">
                <a:solidFill>
                  <a:srgbClr val="34D399"/>
                </a:solidFill>
              </a:defRPr>
            </a:pPr>
            <a:r>
              <a:t> • Knowledge Vault Bus</a:t>
            </a:r>
            <a:br/>
            <a:r>
              <a:t> • Entity Resolution Bus</a:t>
            </a:r>
            <a:br/>
            <a:r>
              <a:t> • Sub-50ms Graph Stream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691640"/>
            <a:ext cx="2514600" cy="361188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224" y="1856232"/>
            <a:ext cx="2185416" cy="32826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LAYER 03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200" b="1">
                <a:solidFill>
                  <a:srgbClr val="FFFFFF"/>
                </a:solidFill>
              </a:defRPr>
            </a:pPr>
            <a:r>
              <a:t>Graph-of-Thought Reasoning Core</a:t>
            </a:r>
          </a:p>
          <a:p>
            <a:pPr>
              <a:spcAft>
                <a:spcPts val="800"/>
              </a:spcAft>
              <a:defRPr sz="900">
                <a:solidFill>
                  <a:srgbClr val="F1F5F9"/>
                </a:solidFill>
              </a:defRPr>
            </a:pPr>
            <a:r>
              <a:t>Hybrid Personalized PageRank (PPR), dense vector retrieval, reciprocal rank fusion, and multi-turn autonomous tool synthesis.</a:t>
            </a:r>
          </a:p>
          <a:p>
            <a:pPr>
              <a:spcBef>
                <a:spcPts val="400"/>
              </a:spcBef>
              <a:defRPr sz="800" b="1">
                <a:solidFill>
                  <a:srgbClr val="94A3B8"/>
                </a:solidFill>
              </a:defRPr>
            </a:pPr>
            <a:r>
              <a:t>PROTOCOLS &amp; STANDARDS:</a:t>
            </a:r>
          </a:p>
          <a:p>
            <a:pPr>
              <a:spcBef>
                <a:spcPts val="200"/>
              </a:spcBef>
              <a:defRPr sz="850">
                <a:solidFill>
                  <a:srgbClr val="34D399"/>
                </a:solidFill>
              </a:defRPr>
            </a:pPr>
            <a:r>
              <a:t> • Graph-of-Thought AI</a:t>
            </a:r>
            <a:br/>
            <a:r>
              <a:t> • Personalized PageRank</a:t>
            </a:r>
            <a:br/>
            <a:r>
              <a:t> • Tri-Model RRF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33688" y="1691640"/>
            <a:ext cx="2514600" cy="361188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1856232"/>
            <a:ext cx="2185416" cy="32826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LAYER 04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200" b="1">
                <a:solidFill>
                  <a:srgbClr val="FFFFFF"/>
                </a:solidFill>
              </a:defRPr>
            </a:pPr>
            <a:r>
              <a:t>Courtroom Cockpit &amp; Strategy Console</a:t>
            </a:r>
          </a:p>
          <a:p>
            <a:pPr>
              <a:spcAft>
                <a:spcPts val="800"/>
              </a:spcAft>
              <a:defRPr sz="900">
                <a:solidFill>
                  <a:srgbClr val="F1F5F9"/>
                </a:solidFill>
              </a:defRPr>
            </a:pPr>
            <a:r>
              <a:t>Live hearing rebuttal cards, clause-level citation drawer, human-in-the-loop Adjudicator review, and ANSI/ISA-101 litigation intelligence displays.</a:t>
            </a:r>
          </a:p>
          <a:p>
            <a:pPr>
              <a:spcBef>
                <a:spcPts val="400"/>
              </a:spcBef>
              <a:defRPr sz="800" b="1">
                <a:solidFill>
                  <a:srgbClr val="94A3B8"/>
                </a:solidFill>
              </a:defRPr>
            </a:pPr>
            <a:r>
              <a:t>PROTOCOLS &amp; STANDARDS:</a:t>
            </a:r>
          </a:p>
          <a:p>
            <a:pPr>
              <a:spcBef>
                <a:spcPts val="200"/>
              </a:spcBef>
              <a:defRPr sz="850">
                <a:solidFill>
                  <a:srgbClr val="34D399"/>
                </a:solidFill>
              </a:defRPr>
            </a:pPr>
            <a:r>
              <a:t> • Court Hearing Mode</a:t>
            </a:r>
            <a:br/>
            <a:r>
              <a:t> • Provenance Drawer</a:t>
            </a:r>
            <a:br/>
            <a:r>
              <a:t> • ISA-101 Legal HMI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486400"/>
            <a:ext cx="10728655" cy="86868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59612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UNIFIED DATA PIPELINE FLOW</a:t>
            </a:r>
          </a:p>
          <a:p>
            <a:pPr>
              <a:spcBef>
                <a:spcPts val="200"/>
              </a:spcBef>
              <a:defRPr sz="950" b="1">
                <a:solidFill>
                  <a:srgbClr val="FFFFFF"/>
                </a:solidFill>
              </a:defRPr>
            </a:pPr>
            <a:r>
              <a:t>Legal Corpus &amp; Exhibit Ingestion ➔ Deterministic Knowledge Vault Stream ➔ Graph-of-Thought RAG Reasoning ➔ Closed-Loop Court Hearing &amp; Strategy Actuation (&lt; 50ms Latency)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828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TERRESTRIAL PLATFORM  |  TERRACOGNIZANCE  |  DEPLOYMENT &amp; SI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System Integrator Deployment Framework &amp; Commercial Model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Zero rip-and-replace turnkey onboarding with recurring enterprise margins and co-selling enablement.</a:t>
            </a:r>
          </a:p>
        </p:txBody>
      </p:sp>
      <p:pic>
        <p:nvPicPr>
          <p:cNvPr id="6" name="Picture 5" descr="tp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411480"/>
            <a:ext cx="987552" cy="3840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91640"/>
            <a:ext cx="3429000" cy="26517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3063240" cy="2322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PHASE 01 | CONNECTIVITY &amp; AUDIT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200" b="1">
                <a:solidFill>
                  <a:srgbClr val="FFFFFF"/>
                </a:solidFill>
              </a:defRPr>
            </a:pPr>
            <a:r>
              <a:t>Zero Rip-and-Replace Onboarding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Non-intrusive protocol discovery across field PLCs, RTUs, and historians. Plug-and-play mapping of tags into the unified TPIM semantic namespace without stopping ongoing plant production.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691640"/>
            <a:ext cx="3429000" cy="26517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1856232"/>
            <a:ext cx="3063240" cy="2322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PHASE 02 | TWIN CALIBRATION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200" b="1">
                <a:solidFill>
                  <a:srgbClr val="FFFFFF"/>
                </a:solidFill>
              </a:defRPr>
            </a:pPr>
            <a:r>
              <a:t>Physics-Model Synchronization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Deploy high-frequency Edge Gateway on premise. Calibrate first-principles thermodynamic and kinematic models against historical telemetry to achieve 99.4%+ deterministic accuracy.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691640"/>
            <a:ext cx="3429000" cy="26517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1856232"/>
            <a:ext cx="3063240" cy="2322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PHASE 03 | AUTONOMOUS GO-LIVE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200" b="1">
                <a:solidFill>
                  <a:srgbClr val="FFFFFF"/>
                </a:solidFill>
              </a:defRPr>
            </a:pPr>
            <a:r>
              <a:t>Closed-Loop Setpoint Actuation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Supervisory closed-loop setpoint dispatch with bumpless transfer. Comprehensive ISA-101 verified cockpit handoff with continuous SI recurring monitoring and support tiers.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26280"/>
            <a:ext cx="10728655" cy="182880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663440"/>
            <a:ext cx="102412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COMMERCIAL VALUE PROPOSITION FOR SYSTEM INTEGRATORS (TERRACOGNIZANCE)</a:t>
            </a:r>
          </a:p>
          <a:p>
            <a:pPr>
              <a:spcBef>
                <a:spcPts val="300"/>
              </a:spcBef>
              <a:defRPr sz="950">
                <a:solidFill>
                  <a:srgbClr val="F1F5F9"/>
                </a:solidFill>
              </a:defRPr>
            </a:pPr>
            <a:r>
              <a:t>• High-Margin Software Recurring Revenue: Earn 25%–35% continuous recurring margin on every TerraCognizance software deployment, maintenance tier, and AI compute instance.</a:t>
            </a:r>
          </a:p>
          <a:p>
            <a:pPr>
              <a:spcBef>
                <a:spcPts val="300"/>
              </a:spcBef>
              <a:defRPr sz="950">
                <a:solidFill>
                  <a:srgbClr val="F1F5F9"/>
                </a:solidFill>
              </a:defRPr>
            </a:pPr>
            <a:r>
              <a:t>• Turnkey Engineering Velocity: Deploy within 7 to 14 days leveraging pre-trained neural networks and automated semantic tag mapping, avoiding expensive months-long custom PLC code rewrites.</a:t>
            </a:r>
          </a:p>
          <a:p>
            <a:pPr>
              <a:spcBef>
                <a:spcPts val="300"/>
              </a:spcBef>
              <a:defRPr sz="950">
                <a:solidFill>
                  <a:srgbClr val="F1F5F9"/>
                </a:solidFill>
              </a:defRPr>
            </a:pPr>
            <a:r>
              <a:t>• Enterprise Co-Selling &amp; Ecosystem: Access joint executive pipeline opportunities, certified engineering documentation, and board-level C-Suite presentation toolkits.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