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TerraAlarm - Enterprise Product Specification</a:t>
            </a:r>
          </a:p>
          <a:p>
            <a:r>
              <a:t>Tagline: ISA 18.2 Enterprise Alarm Lifecycle &amp; Chattering Suppression Engine</a:t>
            </a:r>
          </a:p>
          <a:p/>
          <a:p>
            <a:r>
              <a:t>Outcome Quote:</a:t>
            </a:r>
          </a:p>
          <a:p>
            <a:r>
              <a:t>“ISA 18.2 based alarm system eradicating nuisance alarm floods and guiding operators to instant root-cause resolution.” (— THE OUTCOME-BASED REVOLUTION)</a:t>
            </a:r>
          </a:p>
          <a:p/>
          <a:p>
            <a:r>
              <a:t>Executive Overview:</a:t>
            </a:r>
          </a:p>
          <a:p>
            <a:r>
              <a:t>TerraAlarm provides an enterprise-grade alarm management system built strictly to ANSI/ISA 18.2 and EEMUA 191 standards. Engineered with an enterprise event streaming core, it manages the complete alarm lifecycle, suppresses chattering alarms, and correlates Sequence of Events (SOE) across distributed substations and industrial plants.</a:t>
            </a:r>
          </a:p>
          <a:p/>
          <a:p>
            <a:r>
              <a:t>Key Telemetry Metrics:</a:t>
            </a:r>
          </a:p>
          <a:p>
            <a:r>
              <a:t>- ALARM MANAGEMENT:: EEMUA 191 / ISA-18.2</a:t>
            </a:r>
          </a:p>
          <a:p>
            <a:r>
              <a:t>- CHATTERING SUPPRESSION:: 99.2% Cleansed</a:t>
            </a:r>
          </a:p>
          <a:p>
            <a:r>
              <a:t>- ROOT CAUSE TRACE:: Bayesian Directed Graph</a:t>
            </a:r>
          </a:p>
          <a:p>
            <a:r>
              <a:t>- OPERATOR LOAD:: &lt; 1 Alarm / 10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TerraAlarm - ANSI/ISA-101 Verified Operational Interface</a:t>
            </a:r>
          </a:p>
          <a:p>
            <a:r>
              <a:t>Representation: TerraAlarm ANSI/ISA-101 Operational Interface &amp; Real-Time System Representation</a:t>
            </a:r>
          </a:p>
          <a:p>
            <a:r>
              <a:t>Compliance: ANSI/ISA-101 Verified HMI</a:t>
            </a:r>
          </a:p>
          <a:p>
            <a:r>
              <a:t>Asset File: terra_alarm_showcase.jpg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TerraAlarm Will Do:</a:t>
            </a:r>
          </a:p>
          <a:p>
            <a:r>
              <a:t>[1] Alarm Lifecycle Management:</a:t>
            </a:r>
          </a:p>
          <a:p>
            <a:r>
              <a:t>Configurable alarm generation, prioritization, acknowledgment, shelving, suppression, escalation, and closure.</a:t>
            </a:r>
          </a:p>
          <a:p/>
          <a:p>
            <a:r>
              <a:t>[2] Event Correlation &amp; SOE Synchronization:</a:t>
            </a:r>
          </a:p>
          <a:p>
            <a:r>
              <a:t>Centralized event correlation with synchronized timestamps for Sequence of Events (SOE) disturbance investigation.</a:t>
            </a:r>
          </a:p>
          <a:p/>
          <a:p>
            <a:r>
              <a:t>[3] Chattering Alarm Detection &amp; Suppression:</a:t>
            </a:r>
          </a:p>
          <a:p>
            <a:r>
              <a:t>Detects rapid oscillatory alarms and automatically applies deadbands or temporary shelving.</a:t>
            </a:r>
          </a:p>
          <a:p/>
          <a:p>
            <a:r>
              <a:t>[4] Enterprise High-Throughput Event Core:</a:t>
            </a:r>
          </a:p>
          <a:p>
            <a:r>
              <a:t>Enterprise architecture with dedicated tenant data segregation, secure multi-tenant access, and deterministic real-time event streaming.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TerraAlarm - Operational Use Cases &amp; Field Impact:</a:t>
            </a:r>
          </a:p>
          <a:p>
            <a:r>
              <a:t>[Productivity &amp; Safety] Productivity &amp; Safety (Alarm Lifecycle Management):</a:t>
            </a:r>
          </a:p>
          <a:p>
            <a:r>
              <a:t>Configurable alarm generation, prioritization, acknowledgment, shelving, suppression, escalation, and closure conforming to ISA 18.2 standards.</a:t>
            </a:r>
          </a:p>
          <a:p/>
          <a:p>
            <a:r>
              <a:t>[QA &amp; Forensics] QA &amp; Forensics (Event Correlation &amp; SOE):</a:t>
            </a:r>
          </a:p>
          <a:p>
            <a:r>
              <a:t>Centralized event correlation with synchronized microsecond timestamps for Sequence of Events (SOE) analysis and fast disturbance investigation.</a:t>
            </a:r>
          </a:p>
          <a:p/>
          <a:p>
            <a:r>
              <a:t>[Efficiency] Efficiency (Alarm Analytics &amp; Chattering Suppression):</a:t>
            </a:r>
          </a:p>
          <a:p>
            <a:r>
              <a:t>Automated alarm trending, chattering alarm detection, nuisance alarm pattern analysis, and dynamic alarm flood suppression.</a:t>
            </a:r>
          </a:p>
          <a:p/>
          <a:p>
            <a:r>
              <a:t>[Reduced Manpower] Reduced Manpower (Substation Cascade Trip Protection):</a:t>
            </a:r>
          </a:p>
          <a:p>
            <a:r>
              <a:t>When a transmission line trips, automatically suppresses downstream secondary feeder alarms, guiding operators to the root cause.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TerraAlarm - Architectural Contrast (Legacy SCADA vs Terrestrial Platform):</a:t>
            </a:r>
          </a:p>
          <a:p>
            <a:r>
              <a:t>LEGACY:</a:t>
            </a:r>
          </a:p>
          <a:p>
            <a:r>
              <a:t>Hundreds of alarms firing every minute during a trip, overwhelming operators into cognitive paralysis.</a:t>
            </a:r>
          </a:p>
          <a:p/>
          <a:p>
            <a:r>
              <a:t>TERRESTRIAL ADVANTAGE:</a:t>
            </a:r>
          </a:p>
          <a:p>
            <a:r>
              <a:t>Dynamic state-based shelving and alarm suppression isolating the single initiating event.</a:t>
            </a:r>
          </a:p>
          <a:p/>
          <a:p>
            <a:r>
              <a:t>LEGACY:</a:t>
            </a:r>
          </a:p>
          <a:p>
            <a:r>
              <a:t>Chattering alarms flickering due to bad sensor wiring or loose thresholds left unaddressed for months.</a:t>
            </a:r>
          </a:p>
          <a:p/>
          <a:p>
            <a:r>
              <a:t>TERRESTRIAL ADVANTAGE:</a:t>
            </a:r>
          </a:p>
          <a:p>
            <a:r>
              <a:t>Automated chattering detection algorithms with automated deadband adjustments and health flagging.</a:t>
            </a:r>
          </a:p>
          <a:p/>
          <a:p>
            <a:r>
              <a:t>LEGACY:</a:t>
            </a:r>
          </a:p>
          <a:p>
            <a:r>
              <a:t>Alarms with cryptic 8-character tag names and zero actionable guidance.</a:t>
            </a:r>
          </a:p>
          <a:p/>
          <a:p>
            <a:r>
              <a:t>TERRESTRIAL ADVANTAGE:</a:t>
            </a:r>
          </a:p>
          <a:p>
            <a:r>
              <a:t>Context-rich alarm cards with verified Standard Operating Procedures (SOPs) and 1-click mitigation actions.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TerraAlarm - End-to-End System Diagram &amp; Data Pipeline:</a:t>
            </a:r>
          </a:p>
          <a:p/>
          <a:p>
            <a:r>
              <a:t>Layer 01: Alarm &amp; SOE Ingestion</a:t>
            </a:r>
          </a:p>
          <a:p>
            <a:r>
              <a:t>Sub-millisecond alarm acquisition from substation IEDs, DCS controllers, safety interlocks, and sequence of events (SOE) recorders.</a:t>
            </a:r>
          </a:p>
          <a:p>
            <a:r>
              <a:t>Protocols: IEC 61850 MMS Alarms, OPC UA A&amp;C, SOE Contact Inputs</a:t>
            </a:r>
          </a:p>
          <a:p/>
          <a:p>
            <a:r>
              <a:t>Layer 02: Microsecond Event Stamping</a:t>
            </a:r>
          </a:p>
          <a:p>
            <a:r>
              <a:t>GPS/IRIG-B synchronized microsecond timestamp correlation, high-throughput alarm event buffering, and deduplication fabric.</a:t>
            </a:r>
          </a:p>
          <a:p>
            <a:r>
              <a:t>Protocols: GPS/IRIG-B Time-Sync, SOE Event Pipeline, Alarm Stream Bus</a:t>
            </a:r>
          </a:p>
          <a:p/>
          <a:p>
            <a:r>
              <a:t>Layer 03: Flood Suppression Core</a:t>
            </a:r>
          </a:p>
          <a:p>
            <a:r>
              <a:t>Dynamic alarm chatter suppression, state-based alarm masking, root-cause propagation trees, and ANSI/ISA 18.2 / EEMUA 191 KPIs.</a:t>
            </a:r>
          </a:p>
          <a:p>
            <a:r>
              <a:t>Protocols: Flood Suppression AI, ISA 18.2 Rationalizer, Root-Cause Trees</a:t>
            </a:r>
          </a:p>
          <a:p/>
          <a:p>
            <a:r>
              <a:t>Layer 04: Operator Shelving Cockpit</a:t>
            </a:r>
          </a:p>
          <a:p>
            <a:r>
              <a:t>Dynamic alarm priority gating, automated operator shelving workflows, SIL-3 2oo3 interlock audits, and ISA-101 alarm summary banners.</a:t>
            </a:r>
          </a:p>
          <a:p>
            <a:r>
              <a:t>Protocols: Priority Gating, Automated Shelving, ISA-101 Alarm Banner</a:t>
            </a:r>
          </a:p>
          <a:p/>
          <a:p>
            <a:r>
              <a:t>Pipeline Flow:</a:t>
            </a:r>
          </a:p>
          <a:p>
            <a:r>
              <a:t>DATA PIPELINE FLOW: Sub-Millisecond SOE Inputs ➔ GPS-Synchronized Event Stream ➔ Dynamic Flood &amp; Chattering Suppression ➔ Automated Shelving &amp; Operator Dispatch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TerraAlarm - System Integrator Deployment Framework &amp; Commercial Model:</a:t>
            </a:r>
          </a:p>
          <a:p/>
          <a:p>
            <a:r>
              <a:t>Phase 1: Connectivity &amp; Audit</a:t>
            </a:r>
          </a:p>
          <a:p>
            <a:r>
              <a:t>Phase 2: Twin Calibration</a:t>
            </a:r>
          </a:p>
          <a:p>
            <a:r>
              <a:t>Phase 3: Autonomous Go-Live</a:t>
            </a:r>
          </a:p>
          <a:p/>
          <a:p>
            <a:r>
              <a:t>Commercial Enablement:</a:t>
            </a:r>
          </a:p>
          <a:p>
            <a:r>
              <a:t>- 25%-35% recurring SaaS margins</a:t>
            </a:r>
          </a:p>
          <a:p>
            <a:r>
              <a:t>- 7-14 day rapid commissioning</a:t>
            </a:r>
          </a:p>
          <a:p>
            <a:r>
              <a:t>- Co-selling and enterprise enablement support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TERRAALARM  |  ENTERPRISE SPECIFICATION</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TerraAlarm: ISA 18.2 Enterprise Alarm Lifecycle &amp; Chattering Suppression Engine</a:t>
            </a:r>
          </a:p>
          <a:p>
            <a:pPr>
              <a:spcBef>
                <a:spcPts val="300"/>
              </a:spcBef>
              <a:defRPr sz="1050">
                <a:solidFill>
                  <a:srgbClr val="94A3B8"/>
                </a:solidFill>
              </a:defRPr>
            </a:pPr>
            <a:r>
              <a:t>Autonomous Industrial Intelligence Suite · Tier-1 Plant Architecture</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6217920" cy="46634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5760720" cy="4297680"/>
          </a:xfrm>
          <a:prstGeom prst="rect">
            <a:avLst/>
          </a:prstGeom>
          <a:noFill/>
        </p:spPr>
        <p:txBody>
          <a:bodyPr wrap="square" lIns="0" rIns="0" tIns="0" bIns="0">
            <a:spAutoFit/>
          </a:bodyPr>
          <a:lstStyle/>
          <a:p>
            <a:pPr>
              <a:defRPr sz="1200" i="1" b="1">
                <a:solidFill>
                  <a:srgbClr val="38BDF8"/>
                </a:solidFill>
              </a:defRPr>
            </a:pPr>
            <a:r>
              <a:t>““ISA 18.2 based alarm system eradicating nuisance alarm floods and guiding operators to instant root-cause resolution.””</a:t>
            </a:r>
          </a:p>
          <a:p>
            <a:pPr>
              <a:spcBef>
                <a:spcPts val="400"/>
              </a:spcBef>
              <a:spcAft>
                <a:spcPts val="1200"/>
              </a:spcAft>
              <a:defRPr sz="950" b="1">
                <a:solidFill>
                  <a:srgbClr val="94A3B8"/>
                </a:solidFill>
              </a:defRPr>
            </a:pPr>
            <a:r>
              <a:t>— — THE OUTCOME-BASED REVOLUTION</a:t>
            </a:r>
          </a:p>
          <a:p>
            <a:pPr>
              <a:spcAft>
                <a:spcPts val="600"/>
              </a:spcAft>
              <a:defRPr sz="1050" b="1">
                <a:solidFill>
                  <a:srgbClr val="FFFFFF"/>
                </a:solidFill>
              </a:defRPr>
            </a:pPr>
            <a:r>
              <a:t>EXECUTIVE OPERATIONAL SYNOPSIS</a:t>
            </a:r>
          </a:p>
          <a:p>
            <a:pPr>
              <a:defRPr sz="1050">
                <a:solidFill>
                  <a:srgbClr val="F1F5F9"/>
                </a:solidFill>
              </a:defRPr>
            </a:pPr>
            <a:r>
              <a:t>TerraAlarm provides an enterprise-grade alarm management system built strictly to ANSI/ISA 18.2 and EEMUA 191 standards. Engineered with an enterprise event streaming core, it manages the complete alarm lifecycle, suppresses chattering alarms, and correlates Sequence of Events (SOE) across distributed substations and industrial plants.</a:t>
            </a:r>
          </a:p>
        </p:txBody>
      </p:sp>
      <p:sp>
        <p:nvSpPr>
          <p:cNvPr id="9" name="Rounded Rectangle 8"/>
          <p:cNvSpPr/>
          <p:nvPr/>
        </p:nvSpPr>
        <p:spPr>
          <a:xfrm>
            <a:off x="7132320"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1828800"/>
            <a:ext cx="1810511" cy="914400"/>
          </a:xfrm>
          <a:prstGeom prst="rect">
            <a:avLst/>
          </a:prstGeom>
          <a:noFill/>
        </p:spPr>
        <p:txBody>
          <a:bodyPr wrap="square" lIns="0" rIns="0" tIns="0" bIns="0">
            <a:spAutoFit/>
          </a:bodyPr>
          <a:lstStyle/>
          <a:p>
            <a:pPr>
              <a:defRPr sz="850" b="1">
                <a:solidFill>
                  <a:srgbClr val="94A3B8"/>
                </a:solidFill>
              </a:defRPr>
            </a:pPr>
            <a:r>
              <a:t>ALARM MANAGEMENT</a:t>
            </a:r>
          </a:p>
          <a:p>
            <a:pPr>
              <a:spcBef>
                <a:spcPts val="400"/>
              </a:spcBef>
              <a:defRPr sz="1400" b="1">
                <a:solidFill>
                  <a:srgbClr val="FFFFFF"/>
                </a:solidFill>
              </a:defRPr>
            </a:pPr>
            <a:r>
              <a:t>EEMUA 191 / ISA-18.2</a:t>
            </a:r>
          </a:p>
        </p:txBody>
      </p:sp>
      <p:sp>
        <p:nvSpPr>
          <p:cNvPr id="11" name="Rounded Rectangle 10"/>
          <p:cNvSpPr/>
          <p:nvPr/>
        </p:nvSpPr>
        <p:spPr>
          <a:xfrm>
            <a:off x="9381743" y="1691640"/>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18903" y="1828800"/>
            <a:ext cx="1810511" cy="914400"/>
          </a:xfrm>
          <a:prstGeom prst="rect">
            <a:avLst/>
          </a:prstGeom>
          <a:noFill/>
        </p:spPr>
        <p:txBody>
          <a:bodyPr wrap="square" lIns="0" rIns="0" tIns="0" bIns="0">
            <a:spAutoFit/>
          </a:bodyPr>
          <a:lstStyle/>
          <a:p>
            <a:pPr>
              <a:defRPr sz="850" b="1">
                <a:solidFill>
                  <a:srgbClr val="94A3B8"/>
                </a:solidFill>
              </a:defRPr>
            </a:pPr>
            <a:r>
              <a:t>CHATTERING SUPPRESSION</a:t>
            </a:r>
          </a:p>
          <a:p>
            <a:pPr>
              <a:spcBef>
                <a:spcPts val="400"/>
              </a:spcBef>
              <a:defRPr sz="1400" b="1">
                <a:solidFill>
                  <a:srgbClr val="34D399"/>
                </a:solidFill>
              </a:defRPr>
            </a:pPr>
            <a:r>
              <a:t>99.2% Cleansed</a:t>
            </a:r>
          </a:p>
        </p:txBody>
      </p:sp>
      <p:sp>
        <p:nvSpPr>
          <p:cNvPr id="13" name="Rounded Rectangle 12"/>
          <p:cNvSpPr/>
          <p:nvPr/>
        </p:nvSpPr>
        <p:spPr>
          <a:xfrm>
            <a:off x="7132320"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3182112"/>
            <a:ext cx="1810511" cy="914400"/>
          </a:xfrm>
          <a:prstGeom prst="rect">
            <a:avLst/>
          </a:prstGeom>
          <a:noFill/>
        </p:spPr>
        <p:txBody>
          <a:bodyPr wrap="square" lIns="0" rIns="0" tIns="0" bIns="0">
            <a:spAutoFit/>
          </a:bodyPr>
          <a:lstStyle/>
          <a:p>
            <a:pPr>
              <a:defRPr sz="850" b="1">
                <a:solidFill>
                  <a:srgbClr val="94A3B8"/>
                </a:solidFill>
              </a:defRPr>
            </a:pPr>
            <a:r>
              <a:t>ROOT CAUSE TRACE</a:t>
            </a:r>
          </a:p>
          <a:p>
            <a:pPr>
              <a:spcBef>
                <a:spcPts val="400"/>
              </a:spcBef>
              <a:defRPr sz="1400" b="1">
                <a:solidFill>
                  <a:srgbClr val="FFFFFF"/>
                </a:solidFill>
              </a:defRPr>
            </a:pPr>
            <a:r>
              <a:t>Bayesian Directed Graph</a:t>
            </a:r>
          </a:p>
        </p:txBody>
      </p:sp>
      <p:sp>
        <p:nvSpPr>
          <p:cNvPr id="15" name="Rounded Rectangle 14"/>
          <p:cNvSpPr/>
          <p:nvPr/>
        </p:nvSpPr>
        <p:spPr>
          <a:xfrm>
            <a:off x="9381743" y="3044952"/>
            <a:ext cx="2084831" cy="118872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3" y="3182112"/>
            <a:ext cx="1810511" cy="914400"/>
          </a:xfrm>
          <a:prstGeom prst="rect">
            <a:avLst/>
          </a:prstGeom>
          <a:noFill/>
        </p:spPr>
        <p:txBody>
          <a:bodyPr wrap="square" lIns="0" rIns="0" tIns="0" bIns="0">
            <a:spAutoFit/>
          </a:bodyPr>
          <a:lstStyle/>
          <a:p>
            <a:pPr>
              <a:defRPr sz="850" b="1">
                <a:solidFill>
                  <a:srgbClr val="94A3B8"/>
                </a:solidFill>
              </a:defRPr>
            </a:pPr>
            <a:r>
              <a:t>OPERATOR LOAD</a:t>
            </a:r>
          </a:p>
          <a:p>
            <a:pPr>
              <a:spcBef>
                <a:spcPts val="400"/>
              </a:spcBef>
              <a:defRPr sz="1400" b="1">
                <a:solidFill>
                  <a:srgbClr val="38BDF8"/>
                </a:solidFill>
              </a:defRPr>
            </a:pPr>
            <a:r>
              <a:t>&lt; 1 Alarm / 10 Min</a:t>
            </a:r>
          </a:p>
        </p:txBody>
      </p:sp>
      <p:sp>
        <p:nvSpPr>
          <p:cNvPr id="17" name="Rounded Rectangle 16"/>
          <p:cNvSpPr/>
          <p:nvPr/>
        </p:nvSpPr>
        <p:spPr>
          <a:xfrm>
            <a:off x="7132320" y="4434840"/>
            <a:ext cx="4334256" cy="192024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0920" y="4617720"/>
            <a:ext cx="3840480" cy="1554480"/>
          </a:xfrm>
          <a:prstGeom prst="rect">
            <a:avLst/>
          </a:prstGeom>
          <a:noFill/>
        </p:spPr>
        <p:txBody>
          <a:bodyPr wrap="square" lIns="0" rIns="0" tIns="0" bIns="0">
            <a:spAutoFit/>
          </a:bodyPr>
          <a:lstStyle/>
          <a:p>
            <a:pPr>
              <a:defRPr sz="950" b="1">
                <a:solidFill>
                  <a:srgbClr val="38BDF8"/>
                </a:solidFill>
              </a:defRPr>
            </a:pPr>
            <a:r>
              <a:t>TERRESTRIAL PLATFORM CORE</a:t>
            </a:r>
          </a:p>
          <a:p>
            <a:pPr>
              <a:spcBef>
                <a:spcPts val="200"/>
              </a:spcBef>
              <a:defRPr sz="1100" b="1">
                <a:solidFill>
                  <a:srgbClr val="FFFFFF"/>
                </a:solidFill>
              </a:defRPr>
            </a:pPr>
            <a:r>
              <a:t>Edge-to-Cloud Cognitive Nervous System</a:t>
            </a:r>
          </a:p>
          <a:p>
            <a:pPr>
              <a:spcBef>
                <a:spcPts val="400"/>
              </a:spcBef>
              <a:defRPr sz="900">
                <a:solidFill>
                  <a:srgbClr val="94A3B8"/>
                </a:solidFill>
              </a:defRPr>
            </a:pPr>
            <a:r>
              <a:t>Physics-informed mathematical twin running sub-25ms closed-loop supervisory control with full ISA-95/101 conformity.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TERRAALARM  |  OPERATIONAL INTERFACE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TerraAlarm ANSI/ISA-101 Operational Interface &amp; Real-Time System Representation</a:t>
            </a:r>
          </a:p>
          <a:p>
            <a:pPr>
              <a:spcBef>
                <a:spcPts val="300"/>
              </a:spcBef>
              <a:defRPr sz="1050">
                <a:solidFill>
                  <a:srgbClr val="94A3B8"/>
                </a:solidFill>
              </a:defRPr>
            </a:pPr>
            <a:r>
              <a:t>ANSI/ISA-101 Ergonomic High-Performance HMI · Real-Time System Representation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45920"/>
            <a:ext cx="10728655" cy="470916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ra_alarm_showcase.jpg"/>
          <p:cNvPicPr>
            <a:picLocks noChangeAspect="1"/>
          </p:cNvPicPr>
          <p:nvPr/>
        </p:nvPicPr>
        <p:blipFill>
          <a:blip r:embed="rId3"/>
          <a:stretch>
            <a:fillRect/>
          </a:stretch>
        </p:blipFill>
        <p:spPr>
          <a:xfrm>
            <a:off x="777240" y="1691640"/>
            <a:ext cx="10637215" cy="46177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TERRAALARM  |  CORE CAPABILITIES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What TerraAlarm Will Do</a:t>
            </a:r>
          </a:p>
          <a:p>
            <a:pPr>
              <a:spcBef>
                <a:spcPts val="300"/>
              </a:spcBef>
              <a:defRPr sz="1050">
                <a:solidFill>
                  <a:srgbClr val="94A3B8"/>
                </a:solidFill>
              </a:defRPr>
            </a:pPr>
            <a:r>
              <a:t>Specific operational functions and engineering capabilities directly sourced from technical documentation.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8BDF8"/>
                </a:solidFill>
              </a:defRPr>
            </a:pPr>
            <a:r>
              <a:t>PILLAR 01  |  ENGINEERING CAPABILITY</a:t>
            </a:r>
          </a:p>
          <a:p>
            <a:pPr>
              <a:spcBef>
                <a:spcPts val="300"/>
              </a:spcBef>
              <a:spcAft>
                <a:spcPts val="600"/>
              </a:spcAft>
              <a:defRPr sz="1300" b="1">
                <a:solidFill>
                  <a:srgbClr val="FFFFFF"/>
                </a:solidFill>
              </a:defRPr>
            </a:pPr>
            <a:r>
              <a:t>Alarm Lifecycle Management</a:t>
            </a:r>
          </a:p>
          <a:p>
            <a:pPr>
              <a:defRPr sz="1000">
                <a:solidFill>
                  <a:srgbClr val="F1F5F9"/>
                </a:solidFill>
              </a:defRPr>
            </a:pPr>
            <a:r>
              <a:t>Configurable alarm generation, prioritization, acknowledgment, shelving, suppression, escalation, and closure.</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8BDF8"/>
                </a:solidFill>
              </a:defRPr>
            </a:pPr>
            <a:r>
              <a:t>PILLAR 02  |  ENGINEERING CAPABILITY</a:t>
            </a:r>
          </a:p>
          <a:p>
            <a:pPr>
              <a:spcBef>
                <a:spcPts val="300"/>
              </a:spcBef>
              <a:spcAft>
                <a:spcPts val="600"/>
              </a:spcAft>
              <a:defRPr sz="1300" b="1">
                <a:solidFill>
                  <a:srgbClr val="FFFFFF"/>
                </a:solidFill>
              </a:defRPr>
            </a:pPr>
            <a:r>
              <a:t>Event Correlation &amp; SOE Synchronization</a:t>
            </a:r>
          </a:p>
          <a:p>
            <a:pPr>
              <a:defRPr sz="1000">
                <a:solidFill>
                  <a:srgbClr val="F1F5F9"/>
                </a:solidFill>
              </a:defRPr>
            </a:pPr>
            <a:r>
              <a:t>Centralized event correlation with synchronized timestamps for Sequence of Events (SOE) disturbance investigation.</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8BDF8"/>
                </a:solidFill>
              </a:defRPr>
            </a:pPr>
            <a:r>
              <a:t>PILLAR 03  |  ENGINEERING CAPABILITY</a:t>
            </a:r>
          </a:p>
          <a:p>
            <a:pPr>
              <a:spcBef>
                <a:spcPts val="300"/>
              </a:spcBef>
              <a:spcAft>
                <a:spcPts val="600"/>
              </a:spcAft>
              <a:defRPr sz="1300" b="1">
                <a:solidFill>
                  <a:srgbClr val="FFFFFF"/>
                </a:solidFill>
              </a:defRPr>
            </a:pPr>
            <a:r>
              <a:t>Chattering Alarm Detection &amp; Suppression</a:t>
            </a:r>
          </a:p>
          <a:p>
            <a:pPr>
              <a:defRPr sz="1000">
                <a:solidFill>
                  <a:srgbClr val="F1F5F9"/>
                </a:solidFill>
              </a:defRPr>
            </a:pPr>
            <a:r>
              <a:t>Detects rapid oscillatory alarms and automatically applies deadbands or temporary shelving.</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8BDF8"/>
                </a:solidFill>
              </a:defRPr>
            </a:pPr>
            <a:r>
              <a:t>PILLAR 04  |  ENGINEERING CAPABILITY</a:t>
            </a:r>
          </a:p>
          <a:p>
            <a:pPr>
              <a:spcBef>
                <a:spcPts val="300"/>
              </a:spcBef>
              <a:spcAft>
                <a:spcPts val="600"/>
              </a:spcAft>
              <a:defRPr sz="1300" b="1">
                <a:solidFill>
                  <a:srgbClr val="FFFFFF"/>
                </a:solidFill>
              </a:defRPr>
            </a:pPr>
            <a:r>
              <a:t>Enterprise High-Throughput Event Core</a:t>
            </a:r>
          </a:p>
          <a:p>
            <a:pPr>
              <a:defRPr sz="1000">
                <a:solidFill>
                  <a:srgbClr val="F1F5F9"/>
                </a:solidFill>
              </a:defRPr>
            </a:pPr>
            <a:r>
              <a:t>Enterprise architecture with dedicated tenant data segregation, secure multi-tenant access, and deterministic real-time event streaming.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TERRAALARM  |  FIELD USE CASES</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Operational Use Cases &amp; Field Impact</a:t>
            </a:r>
          </a:p>
          <a:p>
            <a:pPr>
              <a:spcBef>
                <a:spcPts val="300"/>
              </a:spcBef>
              <a:defRPr sz="1050">
                <a:solidFill>
                  <a:srgbClr val="94A3B8"/>
                </a:solidFill>
              </a:defRPr>
            </a:pPr>
            <a:r>
              <a:t>Actual documented use cases across Quality Assurance, Reduced Manpower, Efficiency, and Asset Productivity.</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20"/>
            <a:ext cx="4773168" cy="1828800"/>
          </a:xfrm>
          <a:prstGeom prst="rect">
            <a:avLst/>
          </a:prstGeom>
          <a:noFill/>
        </p:spPr>
        <p:txBody>
          <a:bodyPr wrap="square" lIns="0" rIns="0" tIns="0" bIns="0">
            <a:spAutoFit/>
          </a:bodyPr>
          <a:lstStyle/>
          <a:p>
            <a:pPr>
              <a:defRPr sz="850" b="1">
                <a:solidFill>
                  <a:srgbClr val="34D399"/>
                </a:solidFill>
              </a:defRPr>
            </a:pPr>
            <a:r>
              <a:t>CASE 01  |  PRODUCTIVITY &amp; SAFETY</a:t>
            </a:r>
          </a:p>
          <a:p>
            <a:pPr>
              <a:spcBef>
                <a:spcPts val="300"/>
              </a:spcBef>
              <a:spcAft>
                <a:spcPts val="600"/>
              </a:spcAft>
              <a:defRPr sz="1300" b="1">
                <a:solidFill>
                  <a:srgbClr val="FFFFFF"/>
                </a:solidFill>
              </a:defRPr>
            </a:pPr>
            <a:r>
              <a:t>Productivity &amp; Safety (Alarm Lifecycle Management)</a:t>
            </a:r>
          </a:p>
          <a:p>
            <a:pPr>
              <a:defRPr sz="1000">
                <a:solidFill>
                  <a:srgbClr val="F1F5F9"/>
                </a:solidFill>
              </a:defRPr>
            </a:pPr>
            <a:r>
              <a:t>Configurable alarm generation, prioritization, acknowledgment, shelving, suppression, escalation, and closure conforming to ISA 18.2 standards.</a:t>
            </a:r>
          </a:p>
        </p:txBody>
      </p:sp>
      <p:sp>
        <p:nvSpPr>
          <p:cNvPr id="9" name="Rounded Rectangle 8"/>
          <p:cNvSpPr/>
          <p:nvPr/>
        </p:nvSpPr>
        <p:spPr>
          <a:xfrm>
            <a:off x="6227064" y="169164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874520"/>
            <a:ext cx="4773168" cy="1828800"/>
          </a:xfrm>
          <a:prstGeom prst="rect">
            <a:avLst/>
          </a:prstGeom>
          <a:noFill/>
        </p:spPr>
        <p:txBody>
          <a:bodyPr wrap="square" lIns="0" rIns="0" tIns="0" bIns="0">
            <a:spAutoFit/>
          </a:bodyPr>
          <a:lstStyle/>
          <a:p>
            <a:pPr>
              <a:defRPr sz="850" b="1">
                <a:solidFill>
                  <a:srgbClr val="34D399"/>
                </a:solidFill>
              </a:defRPr>
            </a:pPr>
            <a:r>
              <a:t>CASE 02  |  QA &amp; FORENSICS</a:t>
            </a:r>
          </a:p>
          <a:p>
            <a:pPr>
              <a:spcBef>
                <a:spcPts val="300"/>
              </a:spcBef>
              <a:spcAft>
                <a:spcPts val="600"/>
              </a:spcAft>
              <a:defRPr sz="1300" b="1">
                <a:solidFill>
                  <a:srgbClr val="FFFFFF"/>
                </a:solidFill>
              </a:defRPr>
            </a:pPr>
            <a:r>
              <a:t>QA &amp; Forensics (Event Correlation &amp; SOE)</a:t>
            </a:r>
          </a:p>
          <a:p>
            <a:pPr>
              <a:defRPr sz="1000">
                <a:solidFill>
                  <a:srgbClr val="F1F5F9"/>
                </a:solidFill>
              </a:defRPr>
            </a:pPr>
            <a:r>
              <a:t>Centralized event correlation with synchronized microsecond timestamps for Sequence of Events (SOE) analysis and fast disturbance investigation.</a:t>
            </a:r>
          </a:p>
        </p:txBody>
      </p:sp>
      <p:sp>
        <p:nvSpPr>
          <p:cNvPr id="11" name="Rounded Rectangle 10"/>
          <p:cNvSpPr/>
          <p:nvPr/>
        </p:nvSpPr>
        <p:spPr>
          <a:xfrm>
            <a:off x="731520"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4773168" cy="1828800"/>
          </a:xfrm>
          <a:prstGeom prst="rect">
            <a:avLst/>
          </a:prstGeom>
          <a:noFill/>
        </p:spPr>
        <p:txBody>
          <a:bodyPr wrap="square" lIns="0" rIns="0" tIns="0" bIns="0">
            <a:spAutoFit/>
          </a:bodyPr>
          <a:lstStyle/>
          <a:p>
            <a:pPr>
              <a:defRPr sz="850" b="1">
                <a:solidFill>
                  <a:srgbClr val="34D399"/>
                </a:solidFill>
              </a:defRPr>
            </a:pPr>
            <a:r>
              <a:t>CASE 03  |  EFFICIENCY</a:t>
            </a:r>
          </a:p>
          <a:p>
            <a:pPr>
              <a:spcBef>
                <a:spcPts val="300"/>
              </a:spcBef>
              <a:spcAft>
                <a:spcPts val="600"/>
              </a:spcAft>
              <a:defRPr sz="1300" b="1">
                <a:solidFill>
                  <a:srgbClr val="FFFFFF"/>
                </a:solidFill>
              </a:defRPr>
            </a:pPr>
            <a:r>
              <a:t>Efficiency (Alarm Analytics &amp; Chattering Suppression)</a:t>
            </a:r>
          </a:p>
          <a:p>
            <a:pPr>
              <a:defRPr sz="1000">
                <a:solidFill>
                  <a:srgbClr val="F1F5F9"/>
                </a:solidFill>
              </a:defRPr>
            </a:pPr>
            <a:r>
              <a:t>Automated alarm trending, chattering alarm detection, nuisance alarm pattern analysis, and dynamic alarm flood suppression.</a:t>
            </a:r>
          </a:p>
        </p:txBody>
      </p:sp>
      <p:sp>
        <p:nvSpPr>
          <p:cNvPr id="13" name="Rounded Rectangle 12"/>
          <p:cNvSpPr/>
          <p:nvPr/>
        </p:nvSpPr>
        <p:spPr>
          <a:xfrm>
            <a:off x="6227064" y="4114800"/>
            <a:ext cx="5230368" cy="21945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97680"/>
            <a:ext cx="4773168" cy="1828800"/>
          </a:xfrm>
          <a:prstGeom prst="rect">
            <a:avLst/>
          </a:prstGeom>
          <a:noFill/>
        </p:spPr>
        <p:txBody>
          <a:bodyPr wrap="square" lIns="0" rIns="0" tIns="0" bIns="0">
            <a:spAutoFit/>
          </a:bodyPr>
          <a:lstStyle/>
          <a:p>
            <a:pPr>
              <a:defRPr sz="850" b="1">
                <a:solidFill>
                  <a:srgbClr val="34D399"/>
                </a:solidFill>
              </a:defRPr>
            </a:pPr>
            <a:r>
              <a:t>CASE 04  |  REDUCED MANPOWER</a:t>
            </a:r>
          </a:p>
          <a:p>
            <a:pPr>
              <a:spcBef>
                <a:spcPts val="300"/>
              </a:spcBef>
              <a:spcAft>
                <a:spcPts val="600"/>
              </a:spcAft>
              <a:defRPr sz="1300" b="1">
                <a:solidFill>
                  <a:srgbClr val="FFFFFF"/>
                </a:solidFill>
              </a:defRPr>
            </a:pPr>
            <a:r>
              <a:t>Reduced Manpower (Substation Cascade Trip Protection)</a:t>
            </a:r>
          </a:p>
          <a:p>
            <a:pPr>
              <a:defRPr sz="1000">
                <a:solidFill>
                  <a:srgbClr val="F1F5F9"/>
                </a:solidFill>
              </a:defRPr>
            </a:pPr>
            <a:r>
              <a:t>When a transmission line trips, automatically suppresses downstream secondary feeder alarms, guiding operators to the root cause.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TERRAALARM  |  ARCHITECTURAL CONTRAST</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Comparison with Traditional SCADA / Legacy Systems</a:t>
            </a:r>
          </a:p>
          <a:p>
            <a:pPr>
              <a:spcBef>
                <a:spcPts val="300"/>
              </a:spcBef>
              <a:defRPr sz="1050">
                <a:solidFill>
                  <a:srgbClr val="94A3B8"/>
                </a:solidFill>
              </a:defRPr>
            </a:pPr>
            <a:r>
              <a:t>Point-by-point contrast demonstrating the technological shift from legacy industrial automation to the Terrestrial Platform.</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5230368" cy="502920"/>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4937760" cy="320040"/>
          </a:xfrm>
          <a:prstGeom prst="rect">
            <a:avLst/>
          </a:prstGeom>
          <a:noFill/>
        </p:spPr>
        <p:txBody>
          <a:bodyPr wrap="none">
            <a:spAutoFit/>
          </a:bodyPr>
          <a:lstStyle/>
          <a:p>
            <a:pPr>
              <a:defRPr sz="1100" b="1">
                <a:solidFill>
                  <a:srgbClr val="EF4444"/>
                </a:solidFill>
              </a:defRPr>
            </a:pPr>
            <a:r>
              <a:t>TRADITIONAL LEGACY SYSTEMS / SILOED SCADA</a:t>
            </a:r>
          </a:p>
        </p:txBody>
      </p:sp>
      <p:sp>
        <p:nvSpPr>
          <p:cNvPr id="9" name="Rounded Rectangle 8"/>
          <p:cNvSpPr/>
          <p:nvPr/>
        </p:nvSpPr>
        <p:spPr>
          <a:xfrm>
            <a:off x="6227064" y="1691640"/>
            <a:ext cx="5230368" cy="502920"/>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83080"/>
            <a:ext cx="4937760" cy="320040"/>
          </a:xfrm>
          <a:prstGeom prst="rect">
            <a:avLst/>
          </a:prstGeom>
          <a:noFill/>
        </p:spPr>
        <p:txBody>
          <a:bodyPr wrap="none">
            <a:spAutoFit/>
          </a:bodyPr>
          <a:lstStyle/>
          <a:p>
            <a:pPr>
              <a:defRPr sz="1100" b="1">
                <a:solidFill>
                  <a:srgbClr val="38BDF8"/>
                </a:solidFill>
              </a:defRPr>
            </a:pPr>
            <a:r>
              <a:t>TERRAALARM TERRESTRIAL PLATFORM ADVANTAGE</a:t>
            </a:r>
          </a:p>
        </p:txBody>
      </p:sp>
      <p:sp>
        <p:nvSpPr>
          <p:cNvPr id="11" name="Rounded Rectangle 10"/>
          <p:cNvSpPr/>
          <p:nvPr/>
        </p:nvSpPr>
        <p:spPr>
          <a:xfrm>
            <a:off x="731520" y="2286000"/>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59152"/>
            <a:ext cx="4956048" cy="1152144"/>
          </a:xfrm>
          <a:prstGeom prst="rect">
            <a:avLst/>
          </a:prstGeom>
          <a:noFill/>
        </p:spPr>
        <p:txBody>
          <a:bodyPr wrap="square" lIns="0" rIns="0" tIns="0" bIns="0">
            <a:spAutoFit/>
          </a:bodyPr>
          <a:lstStyle/>
          <a:p>
            <a:pPr>
              <a:defRPr sz="1000">
                <a:solidFill>
                  <a:srgbClr val="F1F5F9"/>
                </a:solidFill>
              </a:defRPr>
            </a:pPr>
            <a:r>
              <a:t>Hundreds of alarms firing every minute during a trip, overwhelming operators into cognitive paralysis.</a:t>
            </a:r>
          </a:p>
        </p:txBody>
      </p:sp>
      <p:sp>
        <p:nvSpPr>
          <p:cNvPr id="13" name="Rounded Rectangle 12"/>
          <p:cNvSpPr/>
          <p:nvPr/>
        </p:nvSpPr>
        <p:spPr>
          <a:xfrm>
            <a:off x="6227064" y="2286000"/>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359152"/>
            <a:ext cx="4956048" cy="1152144"/>
          </a:xfrm>
          <a:prstGeom prst="rect">
            <a:avLst/>
          </a:prstGeom>
          <a:noFill/>
        </p:spPr>
        <p:txBody>
          <a:bodyPr wrap="square" lIns="0" rIns="0" tIns="0" bIns="0">
            <a:spAutoFit/>
          </a:bodyPr>
          <a:lstStyle/>
          <a:p>
            <a:pPr>
              <a:defRPr sz="1000" b="1">
                <a:solidFill>
                  <a:srgbClr val="34D399"/>
                </a:solidFill>
              </a:defRPr>
            </a:pPr>
            <a:r>
              <a:t>Dynamic state-based shelving and alarm suppression isolating the single initiating event.</a:t>
            </a:r>
          </a:p>
        </p:txBody>
      </p:sp>
      <p:sp>
        <p:nvSpPr>
          <p:cNvPr id="15" name="Rounded Rectangle 14"/>
          <p:cNvSpPr/>
          <p:nvPr/>
        </p:nvSpPr>
        <p:spPr>
          <a:xfrm>
            <a:off x="731520" y="3694176"/>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67328"/>
            <a:ext cx="4956048" cy="1152144"/>
          </a:xfrm>
          <a:prstGeom prst="rect">
            <a:avLst/>
          </a:prstGeom>
          <a:noFill/>
        </p:spPr>
        <p:txBody>
          <a:bodyPr wrap="square" lIns="0" rIns="0" tIns="0" bIns="0">
            <a:spAutoFit/>
          </a:bodyPr>
          <a:lstStyle/>
          <a:p>
            <a:pPr>
              <a:defRPr sz="1000">
                <a:solidFill>
                  <a:srgbClr val="F1F5F9"/>
                </a:solidFill>
              </a:defRPr>
            </a:pPr>
            <a:r>
              <a:t>Chattering alarms flickering due to bad sensor wiring or loose thresholds left unaddressed for months.</a:t>
            </a:r>
          </a:p>
        </p:txBody>
      </p:sp>
      <p:sp>
        <p:nvSpPr>
          <p:cNvPr id="17" name="Rounded Rectangle 16"/>
          <p:cNvSpPr/>
          <p:nvPr/>
        </p:nvSpPr>
        <p:spPr>
          <a:xfrm>
            <a:off x="6227064" y="3694176"/>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767328"/>
            <a:ext cx="4956048" cy="1152144"/>
          </a:xfrm>
          <a:prstGeom prst="rect">
            <a:avLst/>
          </a:prstGeom>
          <a:noFill/>
        </p:spPr>
        <p:txBody>
          <a:bodyPr wrap="square" lIns="0" rIns="0" tIns="0" bIns="0">
            <a:spAutoFit/>
          </a:bodyPr>
          <a:lstStyle/>
          <a:p>
            <a:pPr>
              <a:defRPr sz="1000" b="1">
                <a:solidFill>
                  <a:srgbClr val="34D399"/>
                </a:solidFill>
              </a:defRPr>
            </a:pPr>
            <a:r>
              <a:t>Automated chattering detection algorithms with automated deadband adjustments and health flagging.</a:t>
            </a:r>
          </a:p>
        </p:txBody>
      </p:sp>
      <p:sp>
        <p:nvSpPr>
          <p:cNvPr id="19" name="Rounded Rectangle 18"/>
          <p:cNvSpPr/>
          <p:nvPr/>
        </p:nvSpPr>
        <p:spPr>
          <a:xfrm>
            <a:off x="731520" y="5102352"/>
            <a:ext cx="5230368" cy="1298448"/>
          </a:xfrm>
          <a:prstGeom prst="roundRect">
            <a:avLst/>
          </a:prstGeom>
          <a:solidFill>
            <a:srgbClr val="1C1216"/>
          </a:solidFill>
          <a:ln w="12700">
            <a:solidFill>
              <a:srgbClr val="501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75504"/>
            <a:ext cx="4956048" cy="1152144"/>
          </a:xfrm>
          <a:prstGeom prst="rect">
            <a:avLst/>
          </a:prstGeom>
          <a:noFill/>
        </p:spPr>
        <p:txBody>
          <a:bodyPr wrap="square" lIns="0" rIns="0" tIns="0" bIns="0">
            <a:spAutoFit/>
          </a:bodyPr>
          <a:lstStyle/>
          <a:p>
            <a:pPr>
              <a:defRPr sz="1000">
                <a:solidFill>
                  <a:srgbClr val="F1F5F9"/>
                </a:solidFill>
              </a:defRPr>
            </a:pPr>
            <a:r>
              <a:t>Alarms with cryptic 8-character tag names and zero actionable guidance.</a:t>
            </a:r>
          </a:p>
        </p:txBody>
      </p:sp>
      <p:sp>
        <p:nvSpPr>
          <p:cNvPr id="21" name="Rounded Rectangle 20"/>
          <p:cNvSpPr/>
          <p:nvPr/>
        </p:nvSpPr>
        <p:spPr>
          <a:xfrm>
            <a:off x="6227064" y="5102352"/>
            <a:ext cx="5230368" cy="1298448"/>
          </a:xfrm>
          <a:prstGeom prst="roundRect">
            <a:avLst/>
          </a:prstGeom>
          <a:solidFill>
            <a:srgbClr val="0F1C26"/>
          </a:solidFill>
          <a:ln w="12700">
            <a:solidFill>
              <a:srgbClr val="194B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5175504"/>
            <a:ext cx="4956048" cy="1152144"/>
          </a:xfrm>
          <a:prstGeom prst="rect">
            <a:avLst/>
          </a:prstGeom>
          <a:noFill/>
        </p:spPr>
        <p:txBody>
          <a:bodyPr wrap="square" lIns="0" rIns="0" tIns="0" bIns="0">
            <a:spAutoFit/>
          </a:bodyPr>
          <a:lstStyle/>
          <a:p>
            <a:pPr>
              <a:defRPr sz="1000" b="1">
                <a:solidFill>
                  <a:srgbClr val="34D399"/>
                </a:solidFill>
              </a:defRPr>
            </a:pPr>
            <a:r>
              <a:t>Context-rich alarm cards with verified Standard Operating Procedures (SOPs) and 1-click mitigation 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TERRAALARM  |  SYSTEM ARCHITECTURE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End-to-End System Diagram &amp; Data Pipeline</a:t>
            </a:r>
          </a:p>
          <a:p>
            <a:pPr>
              <a:spcBef>
                <a:spcPts val="300"/>
              </a:spcBef>
              <a:defRPr sz="1050">
                <a:solidFill>
                  <a:srgbClr val="94A3B8"/>
                </a:solidFill>
              </a:defRPr>
            </a:pPr>
            <a:r>
              <a:t>Visual architecture diagram representing field telemetry ingestion, deterministic edge fabric, AI reasoning, and closed-loop actuation.</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56232"/>
            <a:ext cx="2185416" cy="3282696"/>
          </a:xfrm>
          <a:prstGeom prst="rect">
            <a:avLst/>
          </a:prstGeom>
          <a:noFill/>
        </p:spPr>
        <p:txBody>
          <a:bodyPr wrap="square" lIns="0" rIns="0" tIns="0" bIns="0">
            <a:spAutoFit/>
          </a:bodyPr>
          <a:lstStyle/>
          <a:p>
            <a:pPr>
              <a:defRPr sz="850" b="1">
                <a:solidFill>
                  <a:srgbClr val="38BDF8"/>
                </a:solidFill>
              </a:defRPr>
            </a:pPr>
            <a:r>
              <a:t>LAYER 01</a:t>
            </a:r>
          </a:p>
          <a:p>
            <a:pPr>
              <a:spcBef>
                <a:spcPts val="300"/>
              </a:spcBef>
              <a:spcAft>
                <a:spcPts val="600"/>
              </a:spcAft>
              <a:defRPr sz="1200" b="1">
                <a:solidFill>
                  <a:srgbClr val="FFFFFF"/>
                </a:solidFill>
              </a:defRPr>
            </a:pPr>
            <a:r>
              <a:t>Alarm &amp; SOE Ingestion</a:t>
            </a:r>
          </a:p>
          <a:p>
            <a:pPr>
              <a:spcAft>
                <a:spcPts val="800"/>
              </a:spcAft>
              <a:defRPr sz="900">
                <a:solidFill>
                  <a:srgbClr val="F1F5F9"/>
                </a:solidFill>
              </a:defRPr>
            </a:pPr>
            <a:r>
              <a:t>Sub-millisecond alarm acquisition from substation IEDs, DCS controllers, safety interlocks, and sequence of events (SOE) recorders.</a:t>
            </a:r>
          </a:p>
          <a:p>
            <a:pPr>
              <a:spcBef>
                <a:spcPts val="400"/>
              </a:spcBef>
              <a:defRPr sz="800" b="1">
                <a:solidFill>
                  <a:srgbClr val="94A3B8"/>
                </a:solidFill>
              </a:defRPr>
            </a:pPr>
            <a:r>
              <a:t>PROTOCOLS &amp; STANDARDS:</a:t>
            </a:r>
          </a:p>
          <a:p>
            <a:pPr>
              <a:spcBef>
                <a:spcPts val="200"/>
              </a:spcBef>
              <a:defRPr sz="850">
                <a:solidFill>
                  <a:srgbClr val="34D399"/>
                </a:solidFill>
              </a:defRPr>
            </a:pPr>
            <a:r>
              <a:t> • IEC 61850 MMS Alarms</a:t>
            </a:r>
            <a:br/>
            <a:r>
              <a:t> • OPC UA A&amp;C</a:t>
            </a:r>
            <a:br/>
            <a:r>
              <a:t> • SOE Contact Inputs</a:t>
            </a:r>
          </a:p>
        </p:txBody>
      </p:sp>
      <p:sp>
        <p:nvSpPr>
          <p:cNvPr id="9" name="Rounded Rectangle 8"/>
          <p:cNvSpPr/>
          <p:nvPr/>
        </p:nvSpPr>
        <p:spPr>
          <a:xfrm>
            <a:off x="3465576"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856232"/>
            <a:ext cx="2185416" cy="3282696"/>
          </a:xfrm>
          <a:prstGeom prst="rect">
            <a:avLst/>
          </a:prstGeom>
          <a:noFill/>
        </p:spPr>
        <p:txBody>
          <a:bodyPr wrap="square" lIns="0" rIns="0" tIns="0" bIns="0">
            <a:spAutoFit/>
          </a:bodyPr>
          <a:lstStyle/>
          <a:p>
            <a:pPr>
              <a:defRPr sz="850" b="1">
                <a:solidFill>
                  <a:srgbClr val="38BDF8"/>
                </a:solidFill>
              </a:defRPr>
            </a:pPr>
            <a:r>
              <a:t>LAYER 02</a:t>
            </a:r>
          </a:p>
          <a:p>
            <a:pPr>
              <a:spcBef>
                <a:spcPts val="300"/>
              </a:spcBef>
              <a:spcAft>
                <a:spcPts val="600"/>
              </a:spcAft>
              <a:defRPr sz="1200" b="1">
                <a:solidFill>
                  <a:srgbClr val="FFFFFF"/>
                </a:solidFill>
              </a:defRPr>
            </a:pPr>
            <a:r>
              <a:t>Microsecond Event Stamping</a:t>
            </a:r>
          </a:p>
          <a:p>
            <a:pPr>
              <a:spcAft>
                <a:spcPts val="800"/>
              </a:spcAft>
              <a:defRPr sz="900">
                <a:solidFill>
                  <a:srgbClr val="F1F5F9"/>
                </a:solidFill>
              </a:defRPr>
            </a:pPr>
            <a:r>
              <a:t>GPS/IRIG-B synchronized microsecond timestamp correlation, high-throughput alarm event buffering, and deduplication fabric.</a:t>
            </a:r>
          </a:p>
          <a:p>
            <a:pPr>
              <a:spcBef>
                <a:spcPts val="400"/>
              </a:spcBef>
              <a:defRPr sz="800" b="1">
                <a:solidFill>
                  <a:srgbClr val="94A3B8"/>
                </a:solidFill>
              </a:defRPr>
            </a:pPr>
            <a:r>
              <a:t>PROTOCOLS &amp; STANDARDS:</a:t>
            </a:r>
          </a:p>
          <a:p>
            <a:pPr>
              <a:spcBef>
                <a:spcPts val="200"/>
              </a:spcBef>
              <a:defRPr sz="850">
                <a:solidFill>
                  <a:srgbClr val="34D399"/>
                </a:solidFill>
              </a:defRPr>
            </a:pPr>
            <a:r>
              <a:t> • GPS/IRIG-B Time-Sync</a:t>
            </a:r>
            <a:br/>
            <a:r>
              <a:t> • SOE Event Pipeline</a:t>
            </a:r>
            <a:br/>
            <a:r>
              <a:t> • Alarm Stream Bus</a:t>
            </a:r>
          </a:p>
        </p:txBody>
      </p:sp>
      <p:sp>
        <p:nvSpPr>
          <p:cNvPr id="11" name="Rounded Rectangle 10"/>
          <p:cNvSpPr/>
          <p:nvPr/>
        </p:nvSpPr>
        <p:spPr>
          <a:xfrm>
            <a:off x="6199632"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856232"/>
            <a:ext cx="2185416" cy="3282696"/>
          </a:xfrm>
          <a:prstGeom prst="rect">
            <a:avLst/>
          </a:prstGeom>
          <a:noFill/>
        </p:spPr>
        <p:txBody>
          <a:bodyPr wrap="square" lIns="0" rIns="0" tIns="0" bIns="0">
            <a:spAutoFit/>
          </a:bodyPr>
          <a:lstStyle/>
          <a:p>
            <a:pPr>
              <a:defRPr sz="850" b="1">
                <a:solidFill>
                  <a:srgbClr val="38BDF8"/>
                </a:solidFill>
              </a:defRPr>
            </a:pPr>
            <a:r>
              <a:t>LAYER 03</a:t>
            </a:r>
          </a:p>
          <a:p>
            <a:pPr>
              <a:spcBef>
                <a:spcPts val="300"/>
              </a:spcBef>
              <a:spcAft>
                <a:spcPts val="600"/>
              </a:spcAft>
              <a:defRPr sz="1200" b="1">
                <a:solidFill>
                  <a:srgbClr val="FFFFFF"/>
                </a:solidFill>
              </a:defRPr>
            </a:pPr>
            <a:r>
              <a:t>Flood Suppression Core</a:t>
            </a:r>
          </a:p>
          <a:p>
            <a:pPr>
              <a:spcAft>
                <a:spcPts val="800"/>
              </a:spcAft>
              <a:defRPr sz="900">
                <a:solidFill>
                  <a:srgbClr val="F1F5F9"/>
                </a:solidFill>
              </a:defRPr>
            </a:pPr>
            <a:r>
              <a:t>Dynamic alarm chatter suppression, state-based alarm masking, root-cause propagation trees, and ANSI/ISA 18.2 / EEMUA 191 KPIs.</a:t>
            </a:r>
          </a:p>
          <a:p>
            <a:pPr>
              <a:spcBef>
                <a:spcPts val="400"/>
              </a:spcBef>
              <a:defRPr sz="800" b="1">
                <a:solidFill>
                  <a:srgbClr val="94A3B8"/>
                </a:solidFill>
              </a:defRPr>
            </a:pPr>
            <a:r>
              <a:t>PROTOCOLS &amp; STANDARDS:</a:t>
            </a:r>
          </a:p>
          <a:p>
            <a:pPr>
              <a:spcBef>
                <a:spcPts val="200"/>
              </a:spcBef>
              <a:defRPr sz="850">
                <a:solidFill>
                  <a:srgbClr val="34D399"/>
                </a:solidFill>
              </a:defRPr>
            </a:pPr>
            <a:r>
              <a:t> • Flood Suppression AI</a:t>
            </a:r>
            <a:br/>
            <a:r>
              <a:t> • ISA 18.2 Rationalizer</a:t>
            </a:r>
            <a:br/>
            <a:r>
              <a:t> • Root-Cause Trees</a:t>
            </a:r>
          </a:p>
        </p:txBody>
      </p:sp>
      <p:sp>
        <p:nvSpPr>
          <p:cNvPr id="13" name="Rounded Rectangle 12"/>
          <p:cNvSpPr/>
          <p:nvPr/>
        </p:nvSpPr>
        <p:spPr>
          <a:xfrm>
            <a:off x="8933688" y="1691640"/>
            <a:ext cx="2514600" cy="36118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856232"/>
            <a:ext cx="2185416" cy="3282696"/>
          </a:xfrm>
          <a:prstGeom prst="rect">
            <a:avLst/>
          </a:prstGeom>
          <a:noFill/>
        </p:spPr>
        <p:txBody>
          <a:bodyPr wrap="square" lIns="0" rIns="0" tIns="0" bIns="0">
            <a:spAutoFit/>
          </a:bodyPr>
          <a:lstStyle/>
          <a:p>
            <a:pPr>
              <a:defRPr sz="850" b="1">
                <a:solidFill>
                  <a:srgbClr val="38BDF8"/>
                </a:solidFill>
              </a:defRPr>
            </a:pPr>
            <a:r>
              <a:t>LAYER 04</a:t>
            </a:r>
          </a:p>
          <a:p>
            <a:pPr>
              <a:spcBef>
                <a:spcPts val="300"/>
              </a:spcBef>
              <a:spcAft>
                <a:spcPts val="600"/>
              </a:spcAft>
              <a:defRPr sz="1200" b="1">
                <a:solidFill>
                  <a:srgbClr val="FFFFFF"/>
                </a:solidFill>
              </a:defRPr>
            </a:pPr>
            <a:r>
              <a:t>Operator Shelving Cockpit</a:t>
            </a:r>
          </a:p>
          <a:p>
            <a:pPr>
              <a:spcAft>
                <a:spcPts val="800"/>
              </a:spcAft>
              <a:defRPr sz="900">
                <a:solidFill>
                  <a:srgbClr val="F1F5F9"/>
                </a:solidFill>
              </a:defRPr>
            </a:pPr>
            <a:r>
              <a:t>Dynamic alarm priority gating, automated operator shelving workflows, SIL-3 2oo3 interlock audits, and ISA-101 alarm summary banners.</a:t>
            </a:r>
          </a:p>
          <a:p>
            <a:pPr>
              <a:spcBef>
                <a:spcPts val="400"/>
              </a:spcBef>
              <a:defRPr sz="800" b="1">
                <a:solidFill>
                  <a:srgbClr val="94A3B8"/>
                </a:solidFill>
              </a:defRPr>
            </a:pPr>
            <a:r>
              <a:t>PROTOCOLS &amp; STANDARDS:</a:t>
            </a:r>
          </a:p>
          <a:p>
            <a:pPr>
              <a:spcBef>
                <a:spcPts val="200"/>
              </a:spcBef>
              <a:defRPr sz="850">
                <a:solidFill>
                  <a:srgbClr val="34D399"/>
                </a:solidFill>
              </a:defRPr>
            </a:pPr>
            <a:r>
              <a:t> • Priority Gating</a:t>
            </a:r>
            <a:br/>
            <a:r>
              <a:t> • Automated Shelving</a:t>
            </a:r>
            <a:br/>
            <a:r>
              <a:t> • ISA-101 Alarm Banner</a:t>
            </a:r>
          </a:p>
        </p:txBody>
      </p:sp>
      <p:sp>
        <p:nvSpPr>
          <p:cNvPr id="15" name="Rounded Rectangle 14"/>
          <p:cNvSpPr/>
          <p:nvPr/>
        </p:nvSpPr>
        <p:spPr>
          <a:xfrm>
            <a:off x="731520" y="5486400"/>
            <a:ext cx="10728655" cy="86868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596128"/>
            <a:ext cx="10241280" cy="640080"/>
          </a:xfrm>
          <a:prstGeom prst="rect">
            <a:avLst/>
          </a:prstGeom>
          <a:noFill/>
        </p:spPr>
        <p:txBody>
          <a:bodyPr wrap="square" lIns="0" rIns="0" tIns="0" bIns="0">
            <a:spAutoFit/>
          </a:bodyPr>
          <a:lstStyle/>
          <a:p>
            <a:pPr>
              <a:defRPr sz="850" b="1">
                <a:solidFill>
                  <a:srgbClr val="38BDF8"/>
                </a:solidFill>
              </a:defRPr>
            </a:pPr>
            <a:r>
              <a:t>UNIFIED DATA PIPELINE FLOW</a:t>
            </a:r>
          </a:p>
          <a:p>
            <a:pPr>
              <a:spcBef>
                <a:spcPts val="200"/>
              </a:spcBef>
              <a:defRPr sz="950" b="1">
                <a:solidFill>
                  <a:srgbClr val="FFFFFF"/>
                </a:solidFill>
              </a:defRPr>
            </a:pPr>
            <a:r>
              <a:t>Sub-Millisecond SOE Inputs ➔ GPS-Synchronized Event Stream ➔ Dynamic Flood &amp; Chattering Suppression ➔ Automated Shelving &amp; Operator Dispatch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18288"/>
          </a:xfrm>
          <a:prstGeom prst="rect">
            <a:avLst/>
          </a:prstGeom>
          <a:solidFill>
            <a:srgbClr val="38BDF8"/>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8229600" cy="274320"/>
          </a:xfrm>
          <a:prstGeom prst="rect">
            <a:avLst/>
          </a:prstGeom>
          <a:noFill/>
        </p:spPr>
        <p:txBody>
          <a:bodyPr wrap="square" lIns="0" rIns="0" tIns="0" bIns="0">
            <a:spAutoFit/>
          </a:bodyPr>
          <a:lstStyle/>
          <a:p>
            <a:pPr>
              <a:defRPr sz="950" b="1">
                <a:solidFill>
                  <a:srgbClr val="38BDF8"/>
                </a:solidFill>
              </a:defRPr>
            </a:pPr>
            <a:r>
              <a:t>TERRESTRIAL PLATFORM  |  TERRAALARM  |  DEPLOYMENT &amp; SI VALUE</a:t>
            </a:r>
          </a:p>
        </p:txBody>
      </p:sp>
      <p:sp>
        <p:nvSpPr>
          <p:cNvPr id="5" name="TextBox 4"/>
          <p:cNvSpPr txBox="1"/>
          <p:nvPr/>
        </p:nvSpPr>
        <p:spPr>
          <a:xfrm>
            <a:off x="731520" y="731520"/>
            <a:ext cx="9601200" cy="777240"/>
          </a:xfrm>
          <a:prstGeom prst="rect">
            <a:avLst/>
          </a:prstGeom>
          <a:noFill/>
        </p:spPr>
        <p:txBody>
          <a:bodyPr wrap="square" lIns="0" rIns="0" tIns="0" bIns="0">
            <a:spAutoFit/>
          </a:bodyPr>
          <a:lstStyle/>
          <a:p>
            <a:pPr>
              <a:defRPr sz="1900" b="1">
                <a:solidFill>
                  <a:srgbClr val="FFFFFF"/>
                </a:solidFill>
              </a:defRPr>
            </a:pPr>
            <a:r>
              <a:t>System Integrator Deployment Framework &amp; Commercial Model</a:t>
            </a:r>
          </a:p>
          <a:p>
            <a:pPr>
              <a:spcBef>
                <a:spcPts val="300"/>
              </a:spcBef>
              <a:defRPr sz="1050">
                <a:solidFill>
                  <a:srgbClr val="94A3B8"/>
                </a:solidFill>
              </a:defRPr>
            </a:pPr>
            <a:r>
              <a:t>Zero rip-and-replace turnkey onboarding with recurring enterprise margins and co-selling enablement.</a:t>
            </a:r>
          </a:p>
        </p:txBody>
      </p:sp>
      <p:pic>
        <p:nvPicPr>
          <p:cNvPr id="6" name="Picture 5" descr="tp_logo_white.png"/>
          <p:cNvPicPr>
            <a:picLocks noChangeAspect="1"/>
          </p:cNvPicPr>
          <p:nvPr/>
        </p:nvPicPr>
        <p:blipFill>
          <a:blip r:embed="rId2"/>
          <a:stretch>
            <a:fillRect/>
          </a:stretch>
        </p:blipFill>
        <p:spPr>
          <a:xfrm>
            <a:off x="10469880" y="411480"/>
            <a:ext cx="987552" cy="384048"/>
          </a:xfrm>
          <a:prstGeom prst="rect">
            <a:avLst/>
          </a:prstGeom>
        </p:spPr>
      </p:pic>
      <p:sp>
        <p:nvSpPr>
          <p:cNvPr id="7" name="Rounded Rectangle 6"/>
          <p:cNvSpPr/>
          <p:nvPr/>
        </p:nvSpPr>
        <p:spPr>
          <a:xfrm>
            <a:off x="731520"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56232"/>
            <a:ext cx="3063240" cy="2322576"/>
          </a:xfrm>
          <a:prstGeom prst="rect">
            <a:avLst/>
          </a:prstGeom>
          <a:noFill/>
        </p:spPr>
        <p:txBody>
          <a:bodyPr wrap="square" lIns="0" rIns="0" tIns="0" bIns="0">
            <a:spAutoFit/>
          </a:bodyPr>
          <a:lstStyle/>
          <a:p>
            <a:pPr>
              <a:defRPr sz="850" b="1">
                <a:solidFill>
                  <a:srgbClr val="38BDF8"/>
                </a:solidFill>
              </a:defRPr>
            </a:pPr>
            <a:r>
              <a:t>PHASE 01 | CONNECTIVITY &amp; AUDIT</a:t>
            </a:r>
          </a:p>
          <a:p>
            <a:pPr>
              <a:spcBef>
                <a:spcPts val="300"/>
              </a:spcBef>
              <a:spcAft>
                <a:spcPts val="600"/>
              </a:spcAft>
              <a:defRPr sz="1200" b="1">
                <a:solidFill>
                  <a:srgbClr val="FFFFFF"/>
                </a:solidFill>
              </a:defRPr>
            </a:pPr>
            <a:r>
              <a:t>Zero Rip-and-Replace Onboarding</a:t>
            </a:r>
          </a:p>
          <a:p>
            <a:pPr>
              <a:defRPr sz="950">
                <a:solidFill>
                  <a:srgbClr val="F1F5F9"/>
                </a:solidFill>
              </a:defRPr>
            </a:pPr>
            <a:r>
              <a:t>Non-intrusive protocol discovery across field PLCs, RTUs, and historians. Plug-and-play mapping of tags into the unified TPIM semantic namespace without stopping ongoing plant production.</a:t>
            </a:r>
          </a:p>
        </p:txBody>
      </p:sp>
      <p:sp>
        <p:nvSpPr>
          <p:cNvPr id="9" name="Rounded Rectangle 8"/>
          <p:cNvSpPr/>
          <p:nvPr/>
        </p:nvSpPr>
        <p:spPr>
          <a:xfrm>
            <a:off x="4379976"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6" y="1856232"/>
            <a:ext cx="3063240" cy="2322576"/>
          </a:xfrm>
          <a:prstGeom prst="rect">
            <a:avLst/>
          </a:prstGeom>
          <a:noFill/>
        </p:spPr>
        <p:txBody>
          <a:bodyPr wrap="square" lIns="0" rIns="0" tIns="0" bIns="0">
            <a:spAutoFit/>
          </a:bodyPr>
          <a:lstStyle/>
          <a:p>
            <a:pPr>
              <a:defRPr sz="850" b="1">
                <a:solidFill>
                  <a:srgbClr val="38BDF8"/>
                </a:solidFill>
              </a:defRPr>
            </a:pPr>
            <a:r>
              <a:t>PHASE 02 | TWIN CALIBRATION</a:t>
            </a:r>
          </a:p>
          <a:p>
            <a:pPr>
              <a:spcBef>
                <a:spcPts val="300"/>
              </a:spcBef>
              <a:spcAft>
                <a:spcPts val="600"/>
              </a:spcAft>
              <a:defRPr sz="1200" b="1">
                <a:solidFill>
                  <a:srgbClr val="FFFFFF"/>
                </a:solidFill>
              </a:defRPr>
            </a:pPr>
            <a:r>
              <a:t>Physics-Model Synchronization</a:t>
            </a:r>
          </a:p>
          <a:p>
            <a:pPr>
              <a:defRPr sz="950">
                <a:solidFill>
                  <a:srgbClr val="F1F5F9"/>
                </a:solidFill>
              </a:defRPr>
            </a:pPr>
            <a:r>
              <a:t>Deploy high-frequency Edge Gateway on premise. Calibrate first-principles thermodynamic and kinematic models against historical telemetry to achieve 99.4%+ deterministic accuracy.</a:t>
            </a:r>
          </a:p>
        </p:txBody>
      </p:sp>
      <p:sp>
        <p:nvSpPr>
          <p:cNvPr id="11" name="Rounded Rectangle 10"/>
          <p:cNvSpPr/>
          <p:nvPr/>
        </p:nvSpPr>
        <p:spPr>
          <a:xfrm>
            <a:off x="8028432" y="1691640"/>
            <a:ext cx="3429000" cy="2651760"/>
          </a:xfrm>
          <a:prstGeom prst="roundRect">
            <a:avLst/>
          </a:prstGeom>
          <a:solidFill>
            <a:srgbClr val="131926"/>
          </a:solidFill>
          <a:ln w="1270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856232"/>
            <a:ext cx="3063240" cy="2322576"/>
          </a:xfrm>
          <a:prstGeom prst="rect">
            <a:avLst/>
          </a:prstGeom>
          <a:noFill/>
        </p:spPr>
        <p:txBody>
          <a:bodyPr wrap="square" lIns="0" rIns="0" tIns="0" bIns="0">
            <a:spAutoFit/>
          </a:bodyPr>
          <a:lstStyle/>
          <a:p>
            <a:pPr>
              <a:defRPr sz="850" b="1">
                <a:solidFill>
                  <a:srgbClr val="38BDF8"/>
                </a:solidFill>
              </a:defRPr>
            </a:pPr>
            <a:r>
              <a:t>PHASE 03 | AUTONOMOUS GO-LIVE</a:t>
            </a:r>
          </a:p>
          <a:p>
            <a:pPr>
              <a:spcBef>
                <a:spcPts val="300"/>
              </a:spcBef>
              <a:spcAft>
                <a:spcPts val="600"/>
              </a:spcAft>
              <a:defRPr sz="1200" b="1">
                <a:solidFill>
                  <a:srgbClr val="FFFFFF"/>
                </a:solidFill>
              </a:defRPr>
            </a:pPr>
            <a:r>
              <a:t>Closed-Loop Setpoint Actuation</a:t>
            </a:r>
          </a:p>
          <a:p>
            <a:pPr>
              <a:defRPr sz="950">
                <a:solidFill>
                  <a:srgbClr val="F1F5F9"/>
                </a:solidFill>
              </a:defRPr>
            </a:pPr>
            <a:r>
              <a:t>Supervisory closed-loop setpoint dispatch with bumpless transfer. Comprehensive ISA-101 verified cockpit handoff with continuous SI recurring monitoring and support tiers.</a:t>
            </a:r>
          </a:p>
        </p:txBody>
      </p:sp>
      <p:sp>
        <p:nvSpPr>
          <p:cNvPr id="13" name="Rounded Rectangle 12"/>
          <p:cNvSpPr/>
          <p:nvPr/>
        </p:nvSpPr>
        <p:spPr>
          <a:xfrm>
            <a:off x="731520" y="4526280"/>
            <a:ext cx="10728655" cy="1828800"/>
          </a:xfrm>
          <a:prstGeom prst="roundRect">
            <a:avLst/>
          </a:prstGeom>
          <a:solidFill>
            <a:srgbClr val="1319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63440"/>
            <a:ext cx="10241280" cy="1554480"/>
          </a:xfrm>
          <a:prstGeom prst="rect">
            <a:avLst/>
          </a:prstGeom>
          <a:noFill/>
        </p:spPr>
        <p:txBody>
          <a:bodyPr wrap="square" lIns="0" rIns="0" tIns="0" bIns="0">
            <a:spAutoFit/>
          </a:bodyPr>
          <a:lstStyle/>
          <a:p>
            <a:pPr>
              <a:defRPr sz="1000" b="1">
                <a:solidFill>
                  <a:srgbClr val="38BDF8"/>
                </a:solidFill>
              </a:defRPr>
            </a:pPr>
            <a:r>
              <a:t>COMMERCIAL VALUE PROPOSITION FOR SYSTEM INTEGRATORS (TERRAALARM)</a:t>
            </a:r>
          </a:p>
          <a:p>
            <a:pPr>
              <a:spcBef>
                <a:spcPts val="300"/>
              </a:spcBef>
              <a:defRPr sz="950">
                <a:solidFill>
                  <a:srgbClr val="F1F5F9"/>
                </a:solidFill>
              </a:defRPr>
            </a:pPr>
            <a:r>
              <a:t>• High-Margin Software Recurring Revenue: Earn 25%–35% continuous recurring margin on every TerraAlarm software deployment, maintenance tier, and AI compute instance.</a:t>
            </a:r>
          </a:p>
          <a:p>
            <a:pPr>
              <a:spcBef>
                <a:spcPts val="300"/>
              </a:spcBef>
              <a:defRPr sz="950">
                <a:solidFill>
                  <a:srgbClr val="F1F5F9"/>
                </a:solidFill>
              </a:defRPr>
            </a:pPr>
            <a:r>
              <a:t>• Turnkey Engineering Velocity: Deploy within 7 to 14 days leveraging pre-trained neural networks and automated semantic tag mapping, avoiding expensive months-long custom PLC code rewrites.</a:t>
            </a:r>
          </a:p>
          <a:p>
            <a:pPr>
              <a:spcBef>
                <a:spcPts val="300"/>
              </a:spcBef>
              <a:defRPr sz="950">
                <a:solidFill>
                  <a:srgbClr val="F1F5F9"/>
                </a:solidFill>
              </a:defRPr>
            </a:pPr>
            <a:r>
              <a:t>• Enterprise Co-Selling &amp; Ecosystem: Access joint executive pipeline opportunities, certified engineering documentation, and board-level C-Suite presentation toolkits.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