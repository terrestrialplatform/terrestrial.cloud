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TerraGridG - Enterprise Product Specification</a:t>
            </a:r>
          </a:p>
          <a:p>
            <a:r>
              <a:t>Tagline: City Gas Distribution, Custody Transfer &amp; Pipeline Safety Platform</a:t>
            </a:r>
          </a:p>
          <a:p/>
          <a:p>
            <a:r>
              <a:t>Outcome Quote:</a:t>
            </a:r>
          </a:p>
          <a:p>
            <a:r>
              <a:t>“City gas distribution monitoring, custody flow regulation, and micro-leak gas balance algorithms eliminating unaccounted-for-gas (UFG).” (— THE OUTCOME-BASED REVOLUTION)</a:t>
            </a:r>
          </a:p>
          <a:p/>
          <a:p>
            <a:r>
              <a:t>Executive Overview:</a:t>
            </a:r>
          </a:p>
          <a:p>
            <a:r>
              <a:t>TerraGridG manages city gas distribution (CGD) networks, City Gate Stations (CGS), and pressure reduction stations. It features real-time electronic volume correction (EVC), gas chromatography logging, automated odorant injection monitoring, and micro-leak gas balance models to eliminate Unaccounted-For-Gas (UFG) losses.</a:t>
            </a:r>
          </a:p>
          <a:p/>
          <a:p>
            <a:r>
              <a:t>Key Telemetry Metrics:</a:t>
            </a:r>
          </a:p>
          <a:p>
            <a:r>
              <a:t>- GAS PIPELINE CODE:: ASME B31.8 / AGA</a:t>
            </a:r>
          </a:p>
          <a:p>
            <a:r>
              <a:t>- PRESSURE REGULATION:: ±0.05 bar Precision</a:t>
            </a:r>
          </a:p>
          <a:p>
            <a:r>
              <a:t>- ODORIZATION SYNC:: Online PPM Injection</a:t>
            </a:r>
          </a:p>
          <a:p>
            <a:r>
              <a:t>- COMPRESSOR EFFICIENCY:: 88.2% Optimal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TerraGridG - ANSI/ISA-101 Verified Operational Interface</a:t>
            </a:r>
          </a:p>
          <a:p>
            <a:r>
              <a:t>Representation: TerraGridG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terra_gridg_showcase.jpg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TerraGridG Will Do:</a:t>
            </a:r>
          </a:p>
          <a:p>
            <a:r>
              <a:t>[1] Station Control &amp; Telemetry:</a:t>
            </a:r>
          </a:p>
          <a:p>
            <a:r>
              <a:t>Continuous pressure, temperature, and odorant monitoring with automated emergency shut-off protocols.</a:t>
            </a:r>
          </a:p>
          <a:p/>
          <a:p>
            <a:r>
              <a:t>[2] Custody Flow Analytics (EVC):</a:t>
            </a:r>
          </a:p>
          <a:p>
            <a:r>
              <a:t>Electronic volume correction (EVC) and integrated gas chromatography logging conforming to AGA standards.</a:t>
            </a:r>
          </a:p>
          <a:p/>
          <a:p>
            <a:r>
              <a:t>[3] Rupture &amp; Overpressure Safety:</a:t>
            </a:r>
          </a:p>
          <a:p>
            <a:r>
              <a:t>Algorithmic gas balance models detecting micro-leaks and line pressure drops instantly.</a:t>
            </a:r>
          </a:p>
          <a:p/>
          <a:p>
            <a:r>
              <a:t>[4] Zone-1 Flameproof Edge RTUs:</a:t>
            </a:r>
          </a:p>
          <a:p>
            <a:r>
              <a:t>Hardware designs certified for ATEX and IECEx hazardous environments with solar battery backups.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TerraGridG - Operational Use Cases &amp; Field Impact:</a:t>
            </a:r>
          </a:p>
          <a:p>
            <a:r>
              <a:t>[Efficiency &amp; Custody Precision] Efficiency &amp; Custody Precision (EVC &amp; GC Integration):</a:t>
            </a:r>
          </a:p>
          <a:p>
            <a:r>
              <a:t>Electronic volume correction (EVC) and integrated gas chromatography logging compute standard volume flow per AGA standards.</a:t>
            </a:r>
          </a:p>
          <a:p/>
          <a:p>
            <a:r>
              <a:t>[Safety &amp; Asset Protection] Safety &amp; Asset Protection (Rupture &amp; Overpressure Safety):</a:t>
            </a:r>
          </a:p>
          <a:p>
            <a:r>
              <a:t>Algorithmic gas balance models detect micro-leaks and trip emergency shut-off valves in under 500 milliseconds.</a:t>
            </a:r>
          </a:p>
          <a:p/>
          <a:p>
            <a:r>
              <a:t>[QA] QA (Automated Station Control &amp; Odorant Telemetry):</a:t>
            </a:r>
          </a:p>
          <a:p>
            <a:r>
              <a:t>Continuous pressure, temperature, and mercaptan odorant monitoring guarantee statutory gas safety compliance.</a:t>
            </a:r>
          </a:p>
          <a:p/>
          <a:p>
            <a:r>
              <a:t>[Reduced Manpower] Reduced Manpower (CNG Station Telemetry &amp; Billing):</a:t>
            </a:r>
          </a:p>
          <a:p>
            <a:r>
              <a:t>Supervises dispenser sales, cascade storage pressures, and compressor temperatures with automated payment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TerraGridG - Architectural Contrast (Legacy SCADA vs Terrestrial Platform):</a:t>
            </a:r>
          </a:p>
          <a:p>
            <a:r>
              <a:t>LEGACY:</a:t>
            </a:r>
          </a:p>
          <a:p>
            <a:r>
              <a:t>Monthly manual reconciliation of gas volume differences between supplier city gate and consumer meters.</a:t>
            </a:r>
          </a:p>
          <a:p/>
          <a:p>
            <a:r>
              <a:t>TERRESTRIAL ADVANTAGE:</a:t>
            </a:r>
          </a:p>
          <a:p>
            <a:r>
              <a:t>Real-time continuous reconciliation comparing line pack, temperature/pressure corrected volumes, and deliveries.</a:t>
            </a:r>
          </a:p>
          <a:p/>
          <a:p>
            <a:r>
              <a:t>LEGACY:</a:t>
            </a:r>
          </a:p>
          <a:p>
            <a:r>
              <a:t>Slow identification of pipeline ruptures resulting in hazardous gas clouds and environmental damage.</a:t>
            </a:r>
          </a:p>
          <a:p/>
          <a:p>
            <a:r>
              <a:t>TERRESTRIAL ADVANTAGE:</a:t>
            </a:r>
          </a:p>
          <a:p>
            <a:r>
              <a:t>Algorithmic rate-of-pressure-drop (RoP) detection that trips emergency shut-off valves in under 500 milliseconds.</a:t>
            </a:r>
          </a:p>
          <a:p/>
          <a:p>
            <a:r>
              <a:t>LEGACY:</a:t>
            </a:r>
          </a:p>
          <a:p>
            <a:r>
              <a:t>Manual smell checks to verify gas odorization levels across remote distribution skids.</a:t>
            </a:r>
          </a:p>
          <a:p/>
          <a:p>
            <a:r>
              <a:t>TERRESTRIAL ADVANTAGE:</a:t>
            </a:r>
          </a:p>
          <a:p>
            <a:r>
              <a:t>Automated telemetry of mercaptan injection pumps, gas chromatography, and electronic sniffer sensors.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TerraGridG - End-to-End System Diagram &amp; Data Pipeline:</a:t>
            </a:r>
          </a:p>
          <a:p/>
          <a:p>
            <a:r>
              <a:t>Layer 01: Fiscal Flow &amp; Gas Ingestion</a:t>
            </a:r>
          </a:p>
          <a:p>
            <a:r>
              <a:t>Industrial acquisition from gas chromatographs, Coriolis mass flowmeters, ultrasonic fiscal meters, and pipeline pressure transmitters.</a:t>
            </a:r>
          </a:p>
          <a:p>
            <a:r>
              <a:t>Protocols: AGA-3 / AGA-7 / AGA-8, Enron Modbus, Flow Computer Protocol</a:t>
            </a:r>
          </a:p>
          <a:p/>
          <a:p>
            <a:r>
              <a:t>Layer 02: Fiscal Metering Stream</a:t>
            </a:r>
          </a:p>
          <a:p>
            <a:r>
              <a:t>Real-time calorific value calculation, high-pressure gas gradient buffering, and acoustic transient leak wave streaming.</a:t>
            </a:r>
          </a:p>
          <a:p>
            <a:r>
              <a:t>Protocols: Fiscal Metering Bus, Calorific Stream, Acoustic Wave Buffer</a:t>
            </a:r>
          </a:p>
          <a:p/>
          <a:p>
            <a:r>
              <a:t>Layer 03: Gas Hydraulics &amp; Leak AI</a:t>
            </a:r>
          </a:p>
          <a:p>
            <a:r>
              <a:t>Non-steady state gas transient hydraulics, acoustic frequency wave localization, linepack inventory forecasting, and gas quality validation.</a:t>
            </a:r>
          </a:p>
          <a:p>
            <a:r>
              <a:t>Protocols: Gas Hydraulics Model, Acoustic Leak AI, Linepack Predictor</a:t>
            </a:r>
          </a:p>
          <a:p/>
          <a:p>
            <a:r>
              <a:t>Layer 04: Pressure &amp; SSV Cockpit</a:t>
            </a:r>
          </a:p>
          <a:p>
            <a:r>
              <a:t>Closed-loop pilot regulator setpoint modulation, emergency slam-shut valve (SSV) interlocks, and ANSI/ISA-101 city gate control consoles.</a:t>
            </a:r>
          </a:p>
          <a:p>
            <a:r>
              <a:t>Protocols: Pilot Regulator Control, Slam-Shut Interlocks, ISA-101 Gas HMI</a:t>
            </a:r>
          </a:p>
          <a:p/>
          <a:p>
            <a:r>
              <a:t>Pipeline Flow:</a:t>
            </a:r>
          </a:p>
          <a:p>
            <a:r>
              <a:t>DATA PIPELINE FLOW: Fiscal Flow &amp; Chromatograph Ingestion ➔ High-Pressure Gas Stream ➔ Gas Transient Hydraulics &amp; Leak AI ➔ Closed-Loop Pressure Regulator Actuation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TerraGridG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TERRAGRIDG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TerraGridG: City Gas Distribution, Custody Transfer &amp; Pipeline Safety Platform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““City gas distribution monitoring, custody flow regulation, and micro-leak gas balance algorithms eliminating unaccounted-for-gas (UFG).””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TerraGridG manages city gas distribution (CGD) networks, City Gate Stations (CGS), and pressure reduction stations. It features real-time electronic volume correction (EVC), gas chromatography logging, automated odorant injection monitoring, and micro-leak gas balance models to eliminate Unaccounted-For-Gas (UFG)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GAS PIPELINE CODE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ASME B31.8 / AGA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PRESSURE REGULATION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±0.05 bar 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ODORIZATION SYNC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Online PPM Injection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COMPRESSOR EFFICIENCY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88.2% Optimal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TERRAGRIDG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TerraGridG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gridg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TERRAGRIDG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TerraGridG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Station Control &amp; Telemetry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Continuous pressure, temperature, and odorant monitoring with automated emergency shut-off protocols.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Custody Flow Analytics (EVC)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Electronic volume correction (EVC) and integrated gas chromatography logging conforming to AGA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Rupture &amp; Overpressure Safety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Algorithmic gas balance models detecting micro-leaks and line pressure drops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Zone-1 Flameproof Edge RTUs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Hardware designs certified for ATEX and IECEx hazardous environments with solar battery backups.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TERRAGRIDG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EFFICIENCY &amp; CUSTODY PRECISION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Efficiency &amp; Custody Precision (EVC &amp; GC Integration)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Electronic volume correction (EVC) and integrated gas chromatography logging compute standard volume flow per AGA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SAFETY &amp; ASSET PROTECTION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Safety &amp; Asset Protection (Rupture &amp; Overpressure Safety)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Algorithmic gas balance models detect micro-leaks and trip emergency shut-off valves in under 500 milliseconds.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QA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QA (Automated Station Control &amp; Odorant Telemetry)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Continuous pressure, temperature, and mercaptan odorant monitoring guarantee statutory gas safety compliance.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(CNG Station Telemetry &amp; Billing)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Supervises dispenser sales, cascade storage pressures, and compressor temperatures with automated payment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TERRAGRIDG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TERRAGRIDG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Monthly manual reconciliation of gas volume differences between supplier city gate and consumer meters.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Real-time continuous reconciliation comparing line pack, temperature/pressure corrected volumes, and deliveries.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Slow identification of pipeline ruptures resulting in hazardous gas clouds and environmental damage.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Algorithmic rate-of-pressure-drop (RoP) detection that trips emergency shut-off valves in under 500 milliseconds.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Manual smell checks to verify gas odorization levels across remote distribution skids.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Automated telemetry of mercaptan injection pumps, gas chromatography, and electronic sniffer sensors.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TERRAGRIDG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Fiscal Flow &amp; Gas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Industrial acquisition from gas chromatographs, Coriolis mass flowmeters, ultrasonic fiscal meters, and pipeline pressure transmitters.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AGA-3 / AGA-7 / AGA-8</a:t>
            </a:r>
            <a:br/>
            <a:r>
              <a:t> • Enron Modbus</a:t>
            </a:r>
            <a:br/>
            <a:r>
              <a:t> • Flow Computer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Fiscal Metering Stream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Real-time calorific value calculation, high-pressure gas gradient buffering, and acoustic transient leak wave streaming.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Fiscal Metering Bus</a:t>
            </a:r>
            <a:br/>
            <a:r>
              <a:t> • Calorific Stream</a:t>
            </a:r>
            <a:br/>
            <a:r>
              <a:t> • Acoustic Wave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Gas Hydraulics &amp; Leak AI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Non-steady state gas transient hydraulics, acoustic frequency wave localization, linepack inventory forecasting, and gas quality validation.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Gas Hydraulics Model</a:t>
            </a:r>
            <a:br/>
            <a:r>
              <a:t> • Acoustic Leak AI</a:t>
            </a:r>
            <a:br/>
            <a:r>
              <a:t> • Linepack Predictor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Pressure &amp; SSV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Closed-loop pilot regulator setpoint modulation, emergency slam-shut valve (SSV) interlocks, and ANSI/ISA-101 city gate control consoles.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Pilot Regulator Control</a:t>
            </a:r>
            <a:br/>
            <a:r>
              <a:t> • Slam-Shut Interlocks</a:t>
            </a:r>
            <a:br/>
            <a:r>
              <a:t> • ISA-101 Gas HMI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Fiscal Flow &amp; Chromatograph Ingestion ➔ High-Pressure Gas Stream ➔ Gas Transient Hydraulics &amp; Leak AI ➔ Closed-Loop Pressure Regulator Actuation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TERRAGRIDG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(TERRAGRIDG)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TerraGridG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