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TERRESTRIAL PLATFORM  |  TERRAHVAC CATALOGUE  |  CONFIDENTIAL - AUTHORISED SYSTEM INTEGRATORS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00D4FF"/>
                </a:solidFill>
              </a:defRPr>
            </a:pPr>
            <a:r>
              <a:t>ENTERPRISE PRODUCT SPECIFICATION  |  SMART FACILITIES &amp; BMS</a:t>
            </a:r>
          </a:p>
          <a:p>
            <a:pPr>
              <a:spcAft>
                <a:spcPts val="600"/>
              </a:spcAft>
              <a:defRPr sz="4600" b="1">
                <a:solidFill>
                  <a:srgbClr val="FFFFFF"/>
                </a:solidFill>
              </a:defRPr>
            </a:pPr>
            <a:r>
              <a:t>TerraHVAC</a:t>
            </a:r>
          </a:p>
          <a:p>
            <a:pPr>
              <a:spcAft>
                <a:spcPts val="1200"/>
              </a:spcAft>
              <a:defRPr sz="1900" b="1">
                <a:solidFill>
                  <a:srgbClr val="F5C842"/>
                </a:solidFill>
              </a:defRPr>
            </a:pPr>
            <a:r>
              <a:t>Thermodynamic AI Chiller Governance &amp; Industrial Climate Management</a:t>
            </a:r>
          </a:p>
          <a:p>
            <a:pPr>
              <a:spcAft>
                <a:spcPts val="1200"/>
              </a:spcAft>
              <a:defRPr sz="1400">
                <a:solidFill>
                  <a:srgbClr val="C8D8F0"/>
                </a:solidFill>
              </a:defRPr>
            </a:pPr>
            <a:r>
              <a:t>Industrial Protocol: BACnet/IP    |    Domain Architecture: Terrestrial Deterministic Edge Core</a:t>
            </a:r>
          </a:p>
          <a:p>
            <a:pPr>
              <a:defRPr sz="1500">
                <a:solidFill>
                  <a:srgbClr val="94A3B8"/>
                </a:solidFill>
              </a:defRPr>
            </a:pPr>
            <a:r>
              <a:t>Thermodynamic AI Chiller Governance &amp; Industrial Climate Management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663440"/>
            <a:ext cx="2523744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100" b="1">
                <a:solidFill>
                  <a:srgbClr val="94A3B8"/>
                </a:solidFill>
              </a:defRPr>
            </a:pPr>
            <a:r>
              <a:t>CHILLED WATER LOOP</a:t>
            </a:r>
          </a:p>
          <a:p>
            <a:pPr algn="ctr">
              <a:defRPr sz="1650" b="1">
                <a:solidFill>
                  <a:srgbClr val="00D4FF"/>
                </a:solidFill>
              </a:defRPr>
            </a:pPr>
            <a:r>
              <a:t>7.0°C / 12.0°C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4663440"/>
            <a:ext cx="2523744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100" b="1">
                <a:solidFill>
                  <a:srgbClr val="94A3B8"/>
                </a:solidFill>
              </a:defRPr>
            </a:pPr>
            <a:r>
              <a:t>DELTA-T SYNC</a:t>
            </a:r>
          </a:p>
          <a:p>
            <a:pPr algn="ctr">
              <a:defRPr sz="1650" b="1">
                <a:solidFill>
                  <a:srgbClr val="00D4FF"/>
                </a:solidFill>
              </a:defRPr>
            </a:pPr>
            <a:r>
              <a:t>5.0°C Optimized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4663440"/>
            <a:ext cx="2523744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100" b="1">
                <a:solidFill>
                  <a:srgbClr val="94A3B8"/>
                </a:solidFill>
              </a:defRPr>
            </a:pPr>
            <a:r>
              <a:t>VFD PUMP MOD</a:t>
            </a:r>
          </a:p>
          <a:p>
            <a:pPr algn="ctr">
              <a:defRPr sz="1650" b="1">
                <a:solidFill>
                  <a:srgbClr val="00D4FF"/>
                </a:solidFill>
              </a:defRPr>
            </a:pPr>
            <a:r>
              <a:t>35-50 Hz Dynamic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4663440"/>
            <a:ext cx="2523744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100" b="1">
                <a:solidFill>
                  <a:srgbClr val="94A3B8"/>
                </a:solidFill>
              </a:defRPr>
            </a:pPr>
            <a:r>
              <a:t>COP OPTIMIZATION</a:t>
            </a:r>
          </a:p>
          <a:p>
            <a:pPr algn="ctr">
              <a:defRPr sz="1650" b="1">
                <a:solidFill>
                  <a:srgbClr val="00D4FF"/>
                </a:solidFill>
              </a:defRPr>
            </a:pPr>
            <a:r>
              <a:t>+14.2% Seasonal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00D4FF"/>
                </a:solidFill>
              </a:defRPr>
            </a:pPr>
            <a:r>
              <a:t>TERRAHVAC  |  TERRESTRIAL PLATFORM</a:t>
            </a:r>
          </a:p>
          <a:p>
            <a:pPr>
              <a:defRPr sz="2500" b="1">
                <a:solidFill>
                  <a:srgbClr val="FFFFFF"/>
                </a:solidFill>
              </a:defRPr>
            </a:pPr>
            <a:r>
              <a:t>Core Functional Deliverables &amp; Architectural Pillars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TERRESTRIAL PLATFORM  |  TERRAHVAC CATALOGUE  |  CONFIDENTIAL - AUTHORISED SYSTEM INTEGRATORS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1488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00D4FF"/>
                </a:solidFill>
              </a:defRPr>
            </a:pPr>
            <a:r>
              <a:t>PILLAR 01</a:t>
            </a:r>
          </a:p>
          <a:p>
            <a:pPr>
              <a:spcAft>
                <a:spcPts val="600"/>
              </a:spcAft>
              <a:defRPr sz="1650" b="1">
                <a:solidFill>
                  <a:srgbClr val="FFFFFF"/>
                </a:solidFill>
              </a:defRPr>
            </a:pPr>
            <a:r>
              <a:t>Primary &amp; Secondary Circuit Optimizer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Enhances the efficiency of primary cooling circuits and optimizes secondary distribution for maximum energy savings.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488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00D4FF"/>
                </a:solidFill>
              </a:defRPr>
            </a:pPr>
            <a:r>
              <a:t>PILLAR 02</a:t>
            </a:r>
          </a:p>
          <a:p>
            <a:pPr>
              <a:spcAft>
                <a:spcPts val="600"/>
              </a:spcAft>
              <a:defRPr sz="1650" b="1">
                <a:solidFill>
                  <a:srgbClr val="FFFFFF"/>
                </a:solidFill>
              </a:defRPr>
            </a:pPr>
            <a:r>
              <a:t>Approach Optimizer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Monitors and optimizes temperature approach in condensers and cooling towers, preventing scale-induced energy penalties.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69080"/>
            <a:ext cx="5212080" cy="21488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00D4FF"/>
                </a:solidFill>
              </a:defRPr>
            </a:pPr>
            <a:r>
              <a:t>PILLAR 03</a:t>
            </a:r>
          </a:p>
          <a:p>
            <a:pPr>
              <a:spcAft>
                <a:spcPts val="600"/>
              </a:spcAft>
              <a:defRPr sz="1650" b="1">
                <a:solidFill>
                  <a:srgbClr val="FFFFFF"/>
                </a:solidFill>
              </a:defRPr>
            </a:pPr>
            <a:r>
              <a:t>Intelligent Multi-Mode Scheduler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Dynamically stages Free Cooling, Economizer, and Boost Cooling operations based on weather and thermal demand.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069080"/>
            <a:ext cx="5212080" cy="21488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00D4FF"/>
                </a:solidFill>
              </a:defRPr>
            </a:pPr>
            <a:r>
              <a:t>PILLAR 04</a:t>
            </a:r>
          </a:p>
          <a:p>
            <a:pPr>
              <a:spcAft>
                <a:spcPts val="600"/>
              </a:spcAft>
              <a:defRPr sz="1650" b="1">
                <a:solidFill>
                  <a:srgbClr val="FFFFFF"/>
                </a:solidFill>
              </a:defRPr>
            </a:pPr>
            <a:r>
              <a:t>Chiller System Manager (CSM) Integration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Coordinates multiple chillers, primary/secondary pumps, and cooling tower fans as a single unified thermodynamic plant.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00D4FF"/>
                </a:solidFill>
              </a:defRPr>
            </a:pPr>
            <a:r>
              <a:t>TERRAHVAC  |  TERRESTRIAL PLATFORM</a:t>
            </a:r>
          </a:p>
          <a:p>
            <a:pPr>
              <a:defRPr sz="2500" b="1">
                <a:solidFill>
                  <a:srgbClr val="FFFFFF"/>
                </a:solidFill>
              </a:defRPr>
            </a:pPr>
            <a:r>
              <a:t>Field-Validated Operational Use Cases &amp; Quantifiable ROI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TERRESTRIAL PLATFORM  |  TERRAHVAC CATALOGUE  |  CONFIDENTIAL - AUTHORISED SYSTEM INTEGRATORS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01568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F5C842"/>
                </a:solidFill>
              </a:defRPr>
            </a:pPr>
            <a:r>
              <a:t>EFFICIENCY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</a:defRPr>
            </a:pPr>
            <a:r>
              <a:t>Efficiency (Ambient-Temperature Driven AC Optimization)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Ambient-temperature-driven AC optimization yielded ₹1,80,000 in 2022 and ₹2,10,000 in 2023 in direct power savings at Airport of India.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9976" y="1645920"/>
            <a:ext cx="3401568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F5C842"/>
                </a:solidFill>
              </a:defRPr>
            </a:pPr>
            <a:r>
              <a:t>PRODUCTIVITY &amp; ASSET PROTECTION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</a:defRPr>
            </a:pPr>
            <a:r>
              <a:t>Productivity &amp; Asset Protection (CNS &amp; Clean Room Envelopes)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Maintains ultra-strict temperature and humidity tolerances for sensitive navigation electronics and clean room production batches.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1645920"/>
            <a:ext cx="3401568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F5C842"/>
                </a:solidFill>
              </a:defRPr>
            </a:pPr>
            <a:r>
              <a:t>EFFICIENCY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</a:defRPr>
            </a:pPr>
            <a:r>
              <a:t>Efficiency (Approach Optimizer &amp; Heat Exchanger Health)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Implements strategies to optimize the temperature approach in chillers and cooling towers, catching fouling early.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00D4FF"/>
                </a:solidFill>
              </a:defRPr>
            </a:pPr>
            <a:r>
              <a:t>TERRAHVAC  |  TERRESTRIAL PLATFORM</a:t>
            </a:r>
          </a:p>
          <a:p>
            <a:pPr>
              <a:defRPr sz="2500" b="1">
                <a:solidFill>
                  <a:srgbClr val="FFFFFF"/>
                </a:solidFill>
              </a:defRPr>
            </a:pPr>
            <a:r>
              <a:t>Competitive Advantage: Terrestrial Platform vs. Legacy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TERRESTRIAL PLATFORM  |  TERRAHVAC CATALOGUE  |  CONFIDENTIAL - AUTHORISED SYSTEM INTEGRATORS ONLY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212080" cy="502920"/>
          </a:xfrm>
          <a:prstGeom prst="rect">
            <a:avLst/>
          </a:prstGeom>
          <a:solidFill>
            <a:srgbClr val="280F14"/>
          </a:solidFill>
          <a:ln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F5555"/>
                </a:solidFill>
              </a:defRPr>
            </a:pPr>
            <a:r>
              <a:t>TRADITIONAL LEGACY SCADA / SILOED SYSTEMS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45920"/>
            <a:ext cx="5212080" cy="502920"/>
          </a:xfrm>
          <a:prstGeom prst="rect">
            <a:avLst/>
          </a:prstGeom>
          <a:solidFill>
            <a:srgbClr val="0A2D3C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00D4FF"/>
                </a:solidFill>
              </a:defRPr>
            </a:pPr>
            <a:r>
              <a:t>TERRAHVAC TERRESTRIAL PLATFORM ADVANTAGE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240280"/>
            <a:ext cx="5212080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Chillers run at static design setpoints (e.g. 7°C chilled water) regardless of ambient outdoor wet-bulb variations.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240280"/>
            <a:ext cx="5212080" cy="960120"/>
          </a:xfrm>
          <a:prstGeom prst="roundRect">
            <a:avLst/>
          </a:prstGeom>
          <a:solidFill>
            <a:srgbClr val="141E37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Dynamic thermodynamic setpoint optimization adjusting chilled and condenser water setpoints continuously based on real-time loads.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5212080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Low delta-T syndrome forcing facilities to start redundant chillers and pumps to circulate water through bypassed coils.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291840"/>
            <a:ext cx="5212080" cy="960120"/>
          </a:xfrm>
          <a:prstGeom prst="roundRect">
            <a:avLst/>
          </a:prstGeom>
          <a:solidFill>
            <a:srgbClr val="141E37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AI valve throttling ensuring every cooling coil extracts maximum thermal duty, restoring proper return delta-T.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343400"/>
            <a:ext cx="5212080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Cooling tower scaling and tube fouling discovered only after chillers trip on high-pressure discharge alarms.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343400"/>
            <a:ext cx="5212080" cy="960120"/>
          </a:xfrm>
          <a:prstGeom prst="roundRect">
            <a:avLst/>
          </a:prstGeom>
          <a:solidFill>
            <a:srgbClr val="141E37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Approach Optimizer continuously calculates temperature approach in heat exchangers, predicting tube cleaning needs.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94960"/>
            <a:ext cx="5212080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Static high/low threshold alarms trigger only after physical process degradation has occurred.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5394960"/>
            <a:ext cx="5212080" cy="960120"/>
          </a:xfrm>
          <a:prstGeom prst="roundRect">
            <a:avLst/>
          </a:prstGeom>
          <a:solidFill>
            <a:srgbClr val="141E37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TerraHVAC physics-informed models forecast multi-variable trajectories up to 72 hours in advance.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00D4FF"/>
                </a:solidFill>
              </a:defRPr>
            </a:pPr>
            <a:r>
              <a:t>TERRAHVAC  |  TERRESTRIAL PLATFORM</a:t>
            </a:r>
          </a:p>
          <a:p>
            <a:pPr>
              <a:defRPr sz="2500" b="1">
                <a:solidFill>
                  <a:srgbClr val="FFFFFF"/>
                </a:solidFill>
              </a:defRPr>
            </a:pPr>
            <a:r>
              <a:t>End-to-End System Architecture &amp; Real-Time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TERRESTRIAL PLATFORM  |  TERRAHVAC CATALOGUE  |  CONFIDENTIAL - AUTHORISED SYSTEM INTEGRATORS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523744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00D4FF"/>
                </a:solidFill>
              </a:defRPr>
            </a:pPr>
            <a:r>
              <a:t>LAYER 01</a:t>
            </a:r>
          </a:p>
          <a:p>
            <a:pPr>
              <a:spcAft>
                <a:spcPts val="1200"/>
              </a:spcAft>
              <a:defRPr sz="1550" b="1">
                <a:solidFill>
                  <a:srgbClr val="FFFFFF"/>
                </a:solidFill>
              </a:defRPr>
            </a:pPr>
            <a:r>
              <a:t>Chiller &amp; Hydronic Ingestion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High-precision acquisition from chilled water flowmeters, primary/secondary pump VFDs, cooling tower fan tachometers, and RTD temperature sensors.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645920"/>
            <a:ext cx="2523744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00D4FF"/>
                </a:solidFill>
              </a:defRPr>
            </a:pPr>
            <a:r>
              <a:t>LAYER 02</a:t>
            </a:r>
          </a:p>
          <a:p>
            <a:pPr>
              <a:spcAft>
                <a:spcPts val="1200"/>
              </a:spcAft>
              <a:defRPr sz="1550" b="1">
                <a:solidFill>
                  <a:srgbClr val="FFFFFF"/>
                </a:solidFill>
              </a:defRPr>
            </a:pPr>
            <a:r>
              <a:t>Hydronic Loop Stream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Sub-second thermal loop balance streaming, condenser water temperature gradient tracking, and flow pressure differential buffering.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645920"/>
            <a:ext cx="2523744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00D4FF"/>
                </a:solidFill>
              </a:defRPr>
            </a:pPr>
            <a:r>
              <a:t>LAYER 03</a:t>
            </a:r>
          </a:p>
          <a:p>
            <a:pPr>
              <a:spcAft>
                <a:spcPts val="1200"/>
              </a:spcAft>
              <a:defRPr sz="1550" b="1">
                <a:solidFill>
                  <a:srgbClr val="FFFFFF"/>
                </a:solidFill>
              </a:defRPr>
            </a:pPr>
            <a:r>
              <a:t>Chiller COP Optimizer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Non-linear chiller staging algorithms, dynamic cooling tower wet-bulb approach minimization, Delta-T syndrome mitigation, and pump VFD affinity curves.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1645920"/>
            <a:ext cx="2523744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00D4FF"/>
                </a:solidFill>
              </a:defRPr>
            </a:pPr>
            <a:r>
              <a:t>LAYER 04</a:t>
            </a:r>
          </a:p>
          <a:p>
            <a:pPr>
              <a:spcAft>
                <a:spcPts val="1200"/>
              </a:spcAft>
              <a:defRPr sz="1550" b="1">
                <a:solidFill>
                  <a:srgbClr val="FFFFFF"/>
                </a:solidFill>
              </a:defRPr>
            </a:pPr>
            <a:r>
              <a:t>VFD &amp; Valve Cockpit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Closed-loop primary/secondary pump VFD frequency modulation, cooling tower fan sequencing, and ANSI/ISA-101 central plant optimizer dashboards.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00D4FF"/>
                </a:solidFill>
              </a:defRPr>
            </a:pPr>
            <a:r>
              <a:t>TERRAHVAC  |  TERRESTRIAL PLATFORM</a:t>
            </a:r>
          </a:p>
          <a:p>
            <a:pPr>
              <a:defRPr sz="2500" b="1">
                <a:solidFill>
                  <a:srgbClr val="FFFFFF"/>
                </a:solidFill>
              </a:defRPr>
            </a:pPr>
            <a:r>
              <a:t>System Integrator Deployment Playbook &amp; Commercial Enablement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TERRESTRIAL PLATFORM  |  TERRAHVAC CATALOGUE  |  CONFIDENTIAL - AUTHORISED SYSTEM INTEGRATORS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01568" cy="320040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F5C842"/>
                </a:solidFill>
              </a:defRPr>
            </a:pPr>
            <a:r>
              <a:t>PHASE 01 | CONNECTIVITY &amp; AUDIT</a:t>
            </a:r>
          </a:p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Zero Rip-and-Replace Onboarding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Deploy edge container onto existing industrial PC or VM. Connect to plant DCS/PLCs via BACnet/IP. Ingest and normalize all telemetry in under 48 hours without halting production.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9976" y="1645920"/>
            <a:ext cx="3401568" cy="320040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F5C842"/>
                </a:solidFill>
              </a:defRPr>
            </a:pPr>
            <a:r>
              <a:t>PHASE 02 | TWIN CALIBRATION</a:t>
            </a:r>
          </a:p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Physics-Model Synchronization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Feed historical historian data into TerraHVAC models. Automatically build directed causal relationship graphs, calibrate thermodynamics/kinematics, and train edge neural operators.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1645920"/>
            <a:ext cx="3401568" cy="320040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F5C842"/>
                </a:solidFill>
              </a:defRPr>
            </a:pPr>
            <a:r>
              <a:t>PHASE 03 | AUTONOMOUS GO-LIVE</a:t>
            </a:r>
          </a:p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Closed-Loop Setpoint Actuation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Transition from advisory warnings to sub-25ms supervisory actuation. Sync alarm suppressions with plant operators and link work orders into SAP/ERP for verifiable recurring ROI.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029200"/>
            <a:ext cx="10698480" cy="1188720"/>
          </a:xfrm>
          <a:prstGeom prst="roundRect">
            <a:avLst/>
          </a:prstGeom>
          <a:solidFill>
            <a:srgbClr val="0C1C34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50" b="1">
                <a:solidFill>
                  <a:srgbClr val="00D4FF"/>
                </a:solidFill>
              </a:defRPr>
            </a:pPr>
            <a:r>
              <a:t>COMMERCIAL VALUE PROPOSITION FOR SYSTEM INTEGRATORS (TERRAHVAC)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High recurring annual software margins (ARR)  |  Turnkey deployment in days, not months  |  Full co-selling &amp; pre-sales engineering support  |  Certified partner portal at platform.tpcloud.tech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