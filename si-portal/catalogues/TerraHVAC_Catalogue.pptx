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TerraHVAC - Enterprise Product Specification</a:t>
            </a:r>
          </a:p>
          <a:p>
            <a:r>
              <a:t>Tagline: Thermodynamic AI Chiller Governance &amp; Industrial Climate Management</a:t>
            </a:r>
          </a:p>
          <a:p/>
          <a:p>
            <a:r>
              <a:t>Outcome Quote:</a:t>
            </a:r>
          </a:p>
          <a:p>
            <a:r>
              <a:t>“Eliminating low delta-T syndrome and chiller plant waste through thermodynamic AI approach optimization and intelligent multi-mode scheduling.” (— THE OUTCOME-BASED REVOLUTION)</a:t>
            </a:r>
          </a:p>
          <a:p/>
          <a:p>
            <a:r>
              <a:t>Executive Overview:</a:t>
            </a:r>
          </a:p>
          <a:p>
            <a:r>
              <a:t>TerraHVAC optimizes central chiller plants and industrial HVAC networks where cooling accounts for up to 60% of facility electricity. Running proprietary thermodynamic AI models, it eliminates low delta-T syndrome, dynamically tunes primary/secondary chilled water circuits, and optimizes cooling tower approach temperatures.</a:t>
            </a:r>
          </a:p>
          <a:p/>
          <a:p>
            <a:r>
              <a:t>Key Telemetry Metrics:</a:t>
            </a:r>
          </a:p>
          <a:p>
            <a:r>
              <a:t>- CHILLED WATER LOOP:: 7.0°C / 12.0°C</a:t>
            </a:r>
          </a:p>
          <a:p>
            <a:r>
              <a:t>- DELTA-T SYNC:: 5.0°C Optimized</a:t>
            </a:r>
          </a:p>
          <a:p>
            <a:r>
              <a:t>- VFD PUMP MOD:: 35-50 Hz Dynamic</a:t>
            </a:r>
          </a:p>
          <a:p>
            <a:r>
              <a:t>- COP OPTIMIZATION:: +14.2% Seasonal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TerraHVAC - ANSI/ISA-101 Verified Operational Interface</a:t>
            </a:r>
          </a:p>
          <a:p>
            <a:r>
              <a:t>Representation: TerraHVAC ANSI/ISA-101 Operational Interface &amp; Real-Time System Representation</a:t>
            </a:r>
          </a:p>
          <a:p>
            <a:r>
              <a:t>Compliance: ANSI/ISA-101 Verified HMI</a:t>
            </a:r>
          </a:p>
          <a:p>
            <a:r>
              <a:t>Asset File: terra_hvac_showcase.jpg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TerraHVAC Will Do:</a:t>
            </a:r>
          </a:p>
          <a:p>
            <a:r>
              <a:t>[1] Primary &amp; Secondary Circuit Optimizer:</a:t>
            </a:r>
          </a:p>
          <a:p>
            <a:r>
              <a:t>Enhances the efficiency of primary cooling circuits and optimizes secondary distribution for maximum energy savings.</a:t>
            </a:r>
          </a:p>
          <a:p/>
          <a:p>
            <a:r>
              <a:t>[2] Approach Optimizer:</a:t>
            </a:r>
          </a:p>
          <a:p>
            <a:r>
              <a:t>Monitors and optimizes temperature approach in condensers and cooling towers, preventing scale-induced energy penalties.</a:t>
            </a:r>
          </a:p>
          <a:p/>
          <a:p>
            <a:r>
              <a:t>[3] Intelligent Multi-Mode Scheduler:</a:t>
            </a:r>
          </a:p>
          <a:p>
            <a:r>
              <a:t>Dynamically stages Free Cooling, Economizer, and Boost Cooling operations based on weather and thermal demand.</a:t>
            </a:r>
          </a:p>
          <a:p/>
          <a:p>
            <a:r>
              <a:t>[4] Chiller System Manager (CSM) Integration:</a:t>
            </a:r>
          </a:p>
          <a:p>
            <a:r>
              <a:t>Coordinates multiple chillers, primary/secondary pumps, and cooling tower fans as a single unified thermodynamic plant.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TerraHVAC - Operational Use Cases &amp; Field Impact:</a:t>
            </a:r>
          </a:p>
          <a:p>
            <a:r>
              <a:t>[Efficiency] Efficiency (Ambient-Temperature Driven AC Optimization):</a:t>
            </a:r>
          </a:p>
          <a:p>
            <a:r>
              <a:t>Ambient-temperature-driven AC optimization yielded ₹1,80,000 in 2022 and ₹2,10,000 in 2023 in direct power savings at Airport of India.</a:t>
            </a:r>
          </a:p>
          <a:p/>
          <a:p>
            <a:r>
              <a:t>[Productivity &amp; Asset Protection] Productivity &amp; Asset Protection (CNS &amp; Clean Room Envelopes):</a:t>
            </a:r>
          </a:p>
          <a:p>
            <a:r>
              <a:t>Maintains ultra-strict temperature and humidity tolerances for sensitive navigation electronics and clean room production batches.</a:t>
            </a:r>
          </a:p>
          <a:p/>
          <a:p>
            <a:r>
              <a:t>[Efficiency] Efficiency (Approach Optimizer &amp; Heat Exchanger Health):</a:t>
            </a:r>
          </a:p>
          <a:p>
            <a:r>
              <a:t>Implements strategies to optimize the temperature approach in chillers and cooling towers, catching fouling early.</a:t>
            </a:r>
          </a:p>
          <a:p/>
          <a:p>
            <a:r>
              <a:t>[Reduced Manpower] Reduced Manpower (Automated Free Cooling Transitions):</a:t>
            </a:r>
          </a:p>
          <a:p>
            <a:r>
              <a:t>Automatically switches between Free Cooling, Economizer, and Boost Cooling based on outdoor wet-bulb temperatures without technician manual switching.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TerraHVAC - Architectural Contrast (Legacy SCADA vs Terrestrial Platform):</a:t>
            </a:r>
          </a:p>
          <a:p>
            <a:r>
              <a:t>LEGACY:</a:t>
            </a:r>
          </a:p>
          <a:p>
            <a:r>
              <a:t>Chillers run at static design setpoints (e.g. 7°C chilled water) regardless of ambient outdoor wet-bulb variations.</a:t>
            </a:r>
          </a:p>
          <a:p/>
          <a:p>
            <a:r>
              <a:t>TERRESTRIAL ADVANTAGE:</a:t>
            </a:r>
          </a:p>
          <a:p>
            <a:r>
              <a:t>Dynamic thermodynamic setpoint optimization adjusting chilled and condenser water setpoints continuously based on real-time loads.</a:t>
            </a:r>
          </a:p>
          <a:p/>
          <a:p>
            <a:r>
              <a:t>LEGACY:</a:t>
            </a:r>
          </a:p>
          <a:p>
            <a:r>
              <a:t>Low delta-T syndrome forcing facilities to start redundant chillers and pumps to circulate water through bypassed coils.</a:t>
            </a:r>
          </a:p>
          <a:p/>
          <a:p>
            <a:r>
              <a:t>TERRESTRIAL ADVANTAGE:</a:t>
            </a:r>
          </a:p>
          <a:p>
            <a:r>
              <a:t>AI valve throttling ensuring every cooling coil extracts maximum thermal duty, restoring proper return delta-T.</a:t>
            </a:r>
          </a:p>
          <a:p/>
          <a:p>
            <a:r>
              <a:t>LEGACY:</a:t>
            </a:r>
          </a:p>
          <a:p>
            <a:r>
              <a:t>Cooling tower scaling and tube fouling discovered only after chillers trip on high-pressure discharge alarms.</a:t>
            </a:r>
          </a:p>
          <a:p/>
          <a:p>
            <a:r>
              <a:t>TERRESTRIAL ADVANTAGE:</a:t>
            </a:r>
          </a:p>
          <a:p>
            <a:r>
              <a:t>Approach Optimizer continuously calculates temperature approach in heat exchangers, predicting tube cleaning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TerraHVAC - End-to-End System Diagram &amp; Data Pipeline:</a:t>
            </a:r>
          </a:p>
          <a:p/>
          <a:p>
            <a:r>
              <a:t>Layer 01: Chiller &amp; Hydronic Ingestion</a:t>
            </a:r>
          </a:p>
          <a:p>
            <a:r>
              <a:t>High-precision acquisition from chilled water flowmeters, primary/secondary pump VFDs, cooling tower fan tachometers, and RTD temperature sensors.</a:t>
            </a:r>
          </a:p>
          <a:p>
            <a:r>
              <a:t>Protocols: BACnet/IP, Modbus RTU/TCP, Class 1 BTU Meters</a:t>
            </a:r>
          </a:p>
          <a:p/>
          <a:p>
            <a:r>
              <a:t>Layer 02: Hydronic Loop Stream</a:t>
            </a:r>
          </a:p>
          <a:p>
            <a:r>
              <a:t>Sub-second thermal loop balance streaming, condenser water temperature gradient tracking, and flow pressure differential buffering.</a:t>
            </a:r>
          </a:p>
          <a:p>
            <a:r>
              <a:t>Protocols: Hydronic Loop Stream, Differential Pressure Bus, Thermal Energy Buffer</a:t>
            </a:r>
          </a:p>
          <a:p/>
          <a:p>
            <a:r>
              <a:t>Layer 03: Chiller COP Optimizer</a:t>
            </a:r>
          </a:p>
          <a:p>
            <a:r>
              <a:t>Non-linear chiller staging algorithms, dynamic cooling tower wet-bulb approach minimization, Delta-T syndrome mitigation, and pump VFD affinity curves.</a:t>
            </a:r>
          </a:p>
          <a:p>
            <a:r>
              <a:t>Protocols: Chiller Staging AI, Approach Temp Optimizer, Delta-T Syndrome AI</a:t>
            </a:r>
          </a:p>
          <a:p/>
          <a:p>
            <a:r>
              <a:t>Layer 04: VFD &amp; Valve Cockpit</a:t>
            </a:r>
          </a:p>
          <a:p>
            <a:r>
              <a:t>Closed-loop primary/secondary pump VFD frequency modulation, cooling tower fan sequencing, and ANSI/ISA-101 central plant optimizer dashboards.</a:t>
            </a:r>
          </a:p>
          <a:p>
            <a:r>
              <a:t>Protocols: Pump VFD Modulation, Fan Staging Control, ISA-101 Plant HMI</a:t>
            </a:r>
          </a:p>
          <a:p/>
          <a:p>
            <a:r>
              <a:t>Pipeline Flow:</a:t>
            </a:r>
          </a:p>
          <a:p>
            <a:r>
              <a:t>DATA PIPELINE FLOW: Chiller &amp; Hydronic Sensor Telemetry ➔ Thermodynamic Loop Stream ➔ Dynamic Chiller COP &amp; Delta-T Optimization ➔ Closed-Loop VFD &amp; Valve Actuation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TerraHVAC - System Integrator Deployment Framework &amp; Commercial Model:</a:t>
            </a:r>
          </a:p>
          <a:p/>
          <a:p>
            <a:r>
              <a:t>Phase 1: Connectivity &amp; Audit</a:t>
            </a:r>
          </a:p>
          <a:p>
            <a:r>
              <a:t>Phase 2: Twin Calibration</a:t>
            </a:r>
          </a:p>
          <a:p>
            <a:r>
              <a:t>Phase 3: Autonomous Go-Live</a:t>
            </a:r>
          </a:p>
          <a:p/>
          <a:p>
            <a:r>
              <a:t>Commercial Enablement:</a:t>
            </a:r>
          </a:p>
          <a:p>
            <a:r>
              <a:t>- 25%-35% recurring SaaS margins</a:t>
            </a:r>
          </a:p>
          <a:p>
            <a:r>
              <a:t>- 7-14 day rapid commissioning</a:t>
            </a:r>
          </a:p>
          <a:p>
            <a:r>
              <a:t>- Co-selling and enterprise enablement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TERRAHVAC  |  ENTERPRISE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TerraHVAC: Thermodynamic AI Chiller Governance &amp; Industrial Climate Management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Autonomous Industrial Intelligence Suite · Tier-1 Plant Architecture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760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38BDF8"/>
                </a:solidFill>
              </a:defRPr>
            </a:pPr>
            <a:r>
              <a:t>““Eliminating low delta-T syndrome and chiller plant waste through thermodynamic AI approach optimization and intelligent multi-mode scheduling.””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950" b="1">
                <a:solidFill>
                  <a:srgbClr val="94A3B8"/>
                </a:solidFill>
              </a:defRPr>
            </a:pPr>
            <a:r>
              <a:t>— — THE OUTCOME-BASED REVOLUTION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</a:defRPr>
            </a:pPr>
            <a:r>
              <a:t>EXECUTIVE OPERATIONAL SYNOPSIS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TerraHVAC optimizes central chiller plants and industrial HVAC networks where cooling accounts for up to 60% of facility electricity. Running proprietary thermodynamic AI models, it eliminates low delta-T syndrome, dynamically tunes primary/secondary chilled water circuits, and optimizes cooling tower approach temperatures.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CHILLED WATER LOOP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7.0°C / 12.0°C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1743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3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DELTA-T SYNC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5.0°C Optimized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VFD PUMP MOD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35-50 Hz Dynamic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3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8903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COP OPTIMIZATION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+14.2% Seasonal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434840"/>
            <a:ext cx="4334256" cy="1920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61772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CORE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Edge-to-Cloud Cognitive Nervous System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Physics-informed mathematical twin running sub-25ms closed-loop supervisory control with full ISA-95/101 conformity.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TERRAHVAC  |  OPERATIONAL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TerraHVAC ANSI/ISA-101 Operational Interface &amp; Real-Time System Representation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ANSI/ISA-101 Ergonomic High-Performance HMI · Real-Time System Representation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10728655" cy="47091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ra_hvac_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063721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TERRAHVAC  | 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What TerraHVAC Will Do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Specific operational functions and engineering capabilities directly sourced from technical documentation.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01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Primary &amp; Secondary Circuit Optimizer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Enhances the efficiency of primary cooling circuits and optimizes secondary distribution for maximum energy savings.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02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Approach Optimizer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Monitors and optimizes temperature approach in condensers and cooling towers, preventing scale-induced energy penalties.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03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Intelligent Multi-Mode Scheduler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Dynamically stages Free Cooling, Economizer, and Boost Cooling operations based on weather and thermal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04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Chiller System Manager (CSM) Integration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Coordinates multiple chillers, primary/secondary pumps, and cooling tower fans as a single unified thermodynamic plant.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TERRAHVAC  |  FIELD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Operational Use Cases &amp; Field Impact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Actual documented use cases across Quality Assurance, Reduced Manpower, Efficiency, and Asset Productivity.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01  |  EFFICIENCY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Efficiency (Ambient-Temperature Driven AC Optimization)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Ambient-temperature-driven AC optimization yielded ₹1,80,000 in 2022 and ₹2,10,000 in 2023 in direct power savings at Airport of India.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02  |  PRODUCTIVITY &amp; ASSET PROTECTION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Productivity &amp; Asset Protection (CNS &amp; Clean Room Envelopes)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Maintains ultra-strict temperature and humidity tolerances for sensitive navigation electronics and clean room production batches.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03  |  EFFICIENCY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Efficiency (Approach Optimizer &amp; Heat Exchanger Health)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Implements strategies to optimize the temperature approach in chillers and cooling towers, catching fouling early.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04  |  REDUCED MANPOWER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Reduced Manpower (Automated Free Cooling Transitions)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Automatically switches between Free Cooling, Economizer, and Boost Cooling based on outdoor wet-bulb temperatures without technician manual switching.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TERRAHVAC  |  ARCHITECTURAL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Comparison with Traditional SCADA / Legacy Systems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Point-by-point contrast demonstrating the technological shift from legacy industrial automation to the Terrestrial Platform.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502920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TRADITIONAL LEGACY SYSTEMS / SILOED SCADA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502920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TERRAHVAC TERRESTRIAL PLATFORM ADVANTAGE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Chillers run at static design setpoints (e.g. 7°C chilled water) regardless of ambient outdoor wet-bulb variations.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286000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Dynamic thermodynamic setpoint optimization adjusting chilled and condenser water setpoints continuously based on real-time loads.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94176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Low delta-T syndrome forcing facilities to start redundant chillers and pumps to circulate water through bypassed coils.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3694176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AI valve throttling ensuring every cooling coil extracts maximum thermal duty, restoring proper return delta-T.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02352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Cooling tower scaling and tube fouling discovered only after chillers trip on high-pressure discharge alarms.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5102352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Approach Optimizer continuously calculates temperature approach in heat exchangers, predicting tube cleaning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TERRAHVAC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End-to-End System Diagram &amp; Data Pipeline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Visual architecture diagram representing field telemetry ingestion, deterministic edge fabric, AI reasoning, and closed-loop actuation.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01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Chiller &amp; Hydronic Ingestion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High-precision acquisition from chilled water flowmeters, primary/secondary pump VFDs, cooling tower fan tachometers, and RTD temperature sensors.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BACnet/IP</a:t>
            </a:r>
            <a:br/>
            <a:r>
              <a:t> • Modbus RTU/TCP</a:t>
            </a:r>
            <a:br/>
            <a:r>
              <a:t> • Class 1 BTU 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02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Hydronic Loop Stream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Sub-second thermal loop balance streaming, condenser water temperature gradient tracking, and flow pressure differential buffering.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Hydronic Loop Stream</a:t>
            </a:r>
            <a:br/>
            <a:r>
              <a:t> • Differential Pressure Bus</a:t>
            </a:r>
            <a:br/>
            <a:r>
              <a:t> • Thermal Energy Buffer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03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Chiller COP Optimizer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Non-linear chiller staging algorithms, dynamic cooling tower wet-bulb approach minimization, Delta-T syndrome mitigation, and pump VFD affinity curves.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Chiller Staging AI</a:t>
            </a:r>
            <a:br/>
            <a:r>
              <a:t> • Approach Temp Optimizer</a:t>
            </a:r>
            <a:br/>
            <a:r>
              <a:t> • Delta-T Syndrome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04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VFD &amp; Valve Cockpit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Closed-loop primary/secondary pump VFD frequency modulation, cooling tower fan sequencing, and ANSI/ISA-101 central plant optimizer dashboards.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Pump VFD Modulation</a:t>
            </a:r>
            <a:br/>
            <a:r>
              <a:t> • Fan Staging Control</a:t>
            </a:r>
            <a:br/>
            <a:r>
              <a:t> • ISA-101 Plant HMI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UNIFIED DATA PIPELINE FLOW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Chiller &amp; Hydronic Sensor Telemetry ➔ Thermodynamic Loop Stream ➔ Dynamic Chiller COP &amp; Delta-T Optimization ➔ Closed-Loop VFD &amp; Valve Actuation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TERRAHVAC  |  DEPLOYMENT &amp; SI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System Integrator Deployment Framework &amp; Commercial Model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Zero rip-and-replace turnkey onboarding with recurring enterprise margins and co-selling enablement.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01 | CONNECTIVITY &amp; AUDIT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Non-intrusive protocol discovery across field PLCs, RTUs, and historians. Plug-and-play mapping of tags into the unified TPIM semantic namespace without stopping ongoing plant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02 | TWIN CALIBRATION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Deploy high-frequency Edge Gateway on premise. Calibrate first-principles thermodynamic and kinematic models against historical telemetry to achieve 99.4%+ deterministic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03 | AUTONOMOUS GO-LIVE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Supervisory closed-loop setpoint dispatch with bumpless transfer. Comprehensive ISA-101 verified cockpit handoff with continuous SI recurring monitoring and support tiers.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728655" cy="18288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VALUE PROPOSITION FOR SYSTEM INTEGRATORS (TERRAHVAC)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High-Margin Software Recurring Revenue: Earn 25%–35% continuous recurring margin on every TerraHVAC software deployment, maintenance tier, and AI compute instance.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Turnkey Engineering Velocity: Deploy within 7 to 14 days leveraging pre-trained neural networks and automated semantic tag mapping, avoiding expensive months-long custom PLC code rewrites.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Enterprise Co-Selling &amp; Ecosystem: Access joint executive pipeline opportunities, certified engineering documentation, and board-level C-Suite presentation toolkits.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