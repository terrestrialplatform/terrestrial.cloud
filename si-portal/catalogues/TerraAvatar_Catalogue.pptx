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TerraAvatar - Enterprise Product Specification</a:t>
            </a:r>
          </a:p>
          <a:p>
            <a:r>
              <a:t>Tagline: Top-Down AI Plant Engineering &amp; Full Lifecycle Digital Twin Suite</a:t>
            </a:r>
          </a:p>
          <a:p/>
          <a:p>
            <a:r>
              <a:t>Outcome Quote:</a:t>
            </a:r>
          </a:p>
          <a:p>
            <a:r>
              <a:t>“Engineering suite to create entire plant using TerraAI and make it ready for plug and play for actual physical asset — top-down approach of AI led designed plant and full lifecycle management.” (— THE OUTCOME-BASED REVOLUTION)</a:t>
            </a:r>
          </a:p>
          <a:p/>
          <a:p>
            <a:r>
              <a:t>Executive Overview:</a:t>
            </a:r>
          </a:p>
          <a:p>
            <a:r>
              <a:t>TerraAvatar revolutionizes industrial engineering by enabling top-down generative synthesis of complete plant systems. Using TerraAI, it synthesizes Asset Dossiers, Asset Faceplates, Thermodynamics, and Safety &amp; Interlocks, delivering 100% plug-and-play models validated against rigorous ASME V&amp;V (Verification &amp; Validation) standards.</a:t>
            </a:r>
          </a:p>
          <a:p/>
          <a:p>
            <a:r>
              <a:t>Key Telemetry Metrics:</a:t>
            </a:r>
          </a:p>
          <a:p>
            <a:r>
              <a:t>- DIGITAL TWIN V&amp;V:: ASME V&amp;V 1-5</a:t>
            </a:r>
          </a:p>
          <a:p>
            <a:r>
              <a:t>- SIMULATION ACCURACY:: 99.98% Converged</a:t>
            </a:r>
          </a:p>
          <a:p>
            <a:r>
              <a:t>- PHYSICS COUPLING:: 1D/3D CFD Thermo</a:t>
            </a:r>
          </a:p>
          <a:p>
            <a:r>
              <a:t>- DETERMINISTIC STEP:: 10 ms 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TerraAvatar - ANSI/ISA-101 Verified Operational Interface</a:t>
            </a:r>
          </a:p>
          <a:p>
            <a:r>
              <a:t>Representation: TerraAvatar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terra_avatar_showcase.jpg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TerraAvatar Will Do:</a:t>
            </a:r>
          </a:p>
          <a:p>
            <a:r>
              <a:t>[1] Asset Dossiers &amp; Faceplate Generation:</a:t>
            </a:r>
          </a:p>
          <a:p>
            <a:r>
              <a:t>Automatically compiles standardized Asset Dossiers, technical faceplates, and metadata models for every piece of machinery.</a:t>
            </a:r>
          </a:p>
          <a:p/>
          <a:p>
            <a:r>
              <a:t>[2] ASME V&amp;V Computational Verification:</a:t>
            </a:r>
          </a:p>
          <a:p>
            <a:r>
              <a:t>Multi-tier Verification and Validation ensuring simulation models accurately predict real physical plant dynamics.</a:t>
            </a:r>
          </a:p>
          <a:p/>
          <a:p>
            <a:r>
              <a:t>[3] Automated Safety &amp; Interlock Logic:</a:t>
            </a:r>
          </a:p>
          <a:p>
            <a:r>
              <a:t>Generates verified safety shutdown logic and interlock matrices ready to flash into industrial safety PLCs.</a:t>
            </a:r>
          </a:p>
          <a:p/>
          <a:p>
            <a:r>
              <a:t>[4] End-to-End Lifecycle Continuity:</a:t>
            </a:r>
          </a:p>
          <a:p>
            <a:r>
              <a:t>The exact same model serves as the engineering blueprint, virtual commissioning testbed, and live operational 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TerraAvatar - Operational Use Cases &amp; Field Impact:</a:t>
            </a:r>
          </a:p>
          <a:p>
            <a:r>
              <a:t>[Productivity] Productivity (35% to 50% Commissioning Cycle Cut):</a:t>
            </a:r>
          </a:p>
          <a:p>
            <a:r>
              <a:t>Simulates all plant interlocks, piping routes, and electrical sequencing virtually before physical installation, cutting on-site commissioning time in half.</a:t>
            </a:r>
          </a:p>
          <a:p/>
          <a:p>
            <a:r>
              <a:t>[QA] QA (ASME V&amp;V Computational Verification):</a:t>
            </a:r>
          </a:p>
          <a:p>
            <a:r>
              <a:t>Rigorous verification across mass/energy balance, thermodynamics, and structural safety ensuring 100% design-to-field parity. (Terra Aavtar ASME V&amp;V 1-5).</a:t>
            </a:r>
          </a:p>
          <a:p/>
          <a:p>
            <a:r>
              <a:t>[Reduced Manpower] Reduced Manpower (Automated Engineering Dossier Synthesis):</a:t>
            </a:r>
          </a:p>
          <a:p>
            <a:r>
              <a:t>Replaces months of manual drafting with automated generation of Asset Dossiers, Faceplates, and safety interlock matrices. (Terra Aavtar Asset Dossiers).</a:t>
            </a:r>
          </a:p>
          <a:p/>
          <a:p>
            <a:r>
              <a:t>[Efficiency] Efficiency (Virtual Plant Expansion Simulation):</a:t>
            </a:r>
          </a:p>
          <a:p>
            <a:r>
              <a:t>Simulates tie-in of new boilers, chillers, or solar blocks into existing plants without disturbing live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TerraAvatar - Architectural Contrast (Legacy SCADA vs Terrestrial Platform):</a:t>
            </a:r>
          </a:p>
          <a:p>
            <a:r>
              <a:t>LEGACY:</a:t>
            </a:r>
          </a:p>
          <a:p>
            <a:r>
              <a:t>Civil, mechanical, electrical, and automation designs created in disconnected software with frequent clash errors.</a:t>
            </a:r>
          </a:p>
          <a:p/>
          <a:p>
            <a:r>
              <a:t>TERRESTRIAL ADVANTAGE:</a:t>
            </a:r>
          </a:p>
          <a:p>
            <a:r>
              <a:t>Unified generative platform where electrical, hydraulic, and civil constraints are resolved algorithmically in real time.</a:t>
            </a:r>
          </a:p>
          <a:p/>
          <a:p>
            <a:r>
              <a:t>LEGACY:</a:t>
            </a:r>
          </a:p>
          <a:p>
            <a:r>
              <a:t>On-site commissioning plagued by wrong cable schedules, incorrect relay settings, and delayed field fixes.</a:t>
            </a:r>
          </a:p>
          <a:p/>
          <a:p>
            <a:r>
              <a:t>TERRESTRIAL ADVANTAGE:</a:t>
            </a:r>
          </a:p>
          <a:p>
            <a:r>
              <a:t>Virtual commissioning with digital twins that simulate entire plant operations before equipment ships to site.</a:t>
            </a:r>
          </a:p>
          <a:p/>
          <a:p>
            <a:r>
              <a:t>LEGACY:</a:t>
            </a:r>
          </a:p>
          <a:p>
            <a:r>
              <a:t>As-built documentation is out of date by the time the plant is commissioned.</a:t>
            </a:r>
          </a:p>
          <a:p/>
          <a:p>
            <a:r>
              <a:t>TERRESTRIAL ADVANTAGE:</a:t>
            </a:r>
          </a:p>
          <a:p>
            <a:r>
              <a:t>Continuously updated digital twin that reflects every field engineering change order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TerraAvatar - End-to-End System Diagram &amp; Data Pipeline:</a:t>
            </a:r>
          </a:p>
          <a:p/>
          <a:p>
            <a:r>
              <a:t>Layer 01: Process Boundary Ingestion</a:t>
            </a:r>
          </a:p>
          <a:p>
            <a:r>
              <a:t>Real-time acquisition of stream compositions, operating pressures, temperatures, and mass flow rates across process battery limits.</a:t>
            </a:r>
          </a:p>
          <a:p>
            <a:r>
              <a:t>Protocols: OPC UA Data Access, ASME PTC Standards, ISO 14224 / DEXPI</a:t>
            </a:r>
          </a:p>
          <a:p/>
          <a:p>
            <a:r>
              <a:t>Layer 02: State Observer Stream</a:t>
            </a:r>
          </a:p>
          <a:p>
            <a:r>
              <a:t>Millisecond boundary condition streaming, dynamic sensor data reconciliation, and gross-error measurement filtering.</a:t>
            </a:r>
          </a:p>
          <a:p>
            <a:r>
              <a:t>Protocols: State Observer Bus, Data Reconciliation, Deterministic Stream</a:t>
            </a:r>
          </a:p>
          <a:p/>
          <a:p>
            <a:r>
              <a:t>Layer 03: Thermodynamic Solver Core</a:t>
            </a:r>
          </a:p>
          <a:p>
            <a:r>
              <a:t>Rigorous Equation-of-State (EOS) flash calculations, real-time kinetic reactor modeling, multi-component distillation hydraulics, and mass/energy balances.</a:t>
            </a:r>
          </a:p>
          <a:p>
            <a:r>
              <a:t>Protocols: Thermodynamic EOS, Reaction Kinetics, Mass &amp; Energy Balance</a:t>
            </a:r>
          </a:p>
          <a:p/>
          <a:p>
            <a:r>
              <a:t>Layer 04: ASME V&amp;V 40 Twin Cockpit</a:t>
            </a:r>
          </a:p>
          <a:p>
            <a:r>
              <a:t>ASME V&amp;V 40 credibility auditing, 3D interactive process cutaways, optimal operating envelope enforcement, and ANSI/ISA-101 digital twin views.</a:t>
            </a:r>
          </a:p>
          <a:p>
            <a:r>
              <a:t>Protocols: ASME V&amp;V 40 Credibility, 3D Twin Cutaways, ISA-101 Twin Cockpit</a:t>
            </a:r>
          </a:p>
          <a:p/>
          <a:p>
            <a:r>
              <a:t>Pipeline Flow:</a:t>
            </a:r>
          </a:p>
          <a:p>
            <a:r>
              <a:t>DATA PIPELINE FLOW: Process Battery Limit Telemetry ➔ State Observer Reconciliation Bus ➔ Rigorous Thermodynamic Solver ➔ ASME V&amp;V 40 Digital Twin Cockpit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TerraAvatar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TerraAvatar: Top-Down AI Plant Engineering &amp; Full Lifecycle Digital Twin Suite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““Engineering suite to create entire plant using TerraAI and make it ready for plug and play for actual physical asset — top-down approach of AI led designed plant and full lifecycle management.””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TerraAvatar revolutionizes industrial engineering by enabling top-down generative synthesis of complete plant systems. Using TerraAI, it synthesizes Asset Dossiers, Asset Faceplates, Thermodynamics, and Safety &amp; Interlocks, delivering 100% plug-and-play models validated against rigorous ASME V&amp;V (Verification &amp; Validation)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DIGITAL TWIN V&amp;V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ASME V&amp;V 1-5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SIMULATION ACCURACY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99.98% Converged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PHYSICS COUPLING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1D/3D CFD Thermo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DETERMINISTIC STEP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10 ms 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TerraAvatar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avatar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TerraAvatar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Asset Dossiers &amp; Faceplate Generation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Automatically compiles standardized Asset Dossiers, technical faceplates, and metadata models for every piece of machinery.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ASME V&amp;V Computational Verification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Multi-tier Verification and Validation ensuring simulation models accurately predict real physical plant dynamics.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Automated Safety &amp; Interlock Logic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Generates verified safety shutdown logic and interlock matrices ready to flash into industrial safety PLCs.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End-to-End Lifecycle Continuity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The exact same model serves as the engineering blueprint, virtual commissioning testbed, and live operational twin.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PRODUCTIVITY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(35% to 50% Commissioning Cycle Cut)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Simulates all plant interlocks, piping routes, and electrical sequencing virtually before physical installation, cutting on-site commissioning time in half.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QA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(ASME V&amp;V Computational Verification)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Rigorous verification across mass/energy balance, thermodynamics, and structural safety ensuring 100% design-to-field parity. (Terra Aavtar ASME V&amp;V 1-5).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(Automated Engineering Dossier Synthesis)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Replaces months of manual drafting with automated generation of Asset Dossiers, Faceplates, and safety interlock matrices. (Terra Aavtar Asset Dossiers).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(Virtual Plant Expansion Simulation)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Simulates tie-in of new boilers, chillers, or solar blocks into existing plants without disturbing live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TERRAAVATAR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Civil, mechanical, electrical, and automation designs created in disconnected software with frequent clash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Unified generative platform where electrical, hydraulic, and civil constraints are resolved algorithmically in real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On-site commissioning plagued by wrong cable schedules, incorrect relay settings, and delayed field fixes.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Virtual commissioning with digital twins that simulate entire plant operations before equipment ships to 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As-built documentation is out of date by the time the plant is commissioned.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Continuously updated digital twin that reflects every field engineering change order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Process Boundary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Real-time acquisition of stream compositions, operating pressures, temperatures, and mass flow rates across process battery limits.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OPC UA Data Access</a:t>
            </a:r>
            <a:br/>
            <a:r>
              <a:t> • ASME PTC Standards</a:t>
            </a:r>
            <a:br/>
            <a:r>
              <a:t> • ISO 14224 / DEXPI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State Observer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Millisecond boundary condition streaming, dynamic sensor data reconciliation, and gross-error measurement filtering.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State Observer Bus</a:t>
            </a:r>
            <a:br/>
            <a:r>
              <a:t> • Data Reconciliation</a:t>
            </a:r>
            <a:br/>
            <a:r>
              <a:t> • Deterministic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Thermodynamic Solver Core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Rigorous Equation-of-State (EOS) flash calculations, real-time kinetic reactor modeling, multi-component distillation hydraulics, and mass/energy balances.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Thermodynamic EOS</a:t>
            </a:r>
            <a:br/>
            <a:r>
              <a:t> • Reaction Kinetics</a:t>
            </a:r>
            <a:br/>
            <a:r>
              <a:t> • Mass &amp; Energy 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ASME V&amp;V 40 Twin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ASME V&amp;V 40 credibility auditing, 3D interactive process cutaways, optimal operating envelope enforcement, and ANSI/ISA-101 digital twin views.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ASME V&amp;V 40 Credibility</a:t>
            </a:r>
            <a:br/>
            <a:r>
              <a:t> • 3D Twin Cutaways</a:t>
            </a:r>
            <a:br/>
            <a:r>
              <a:t> • ISA-101 Twin Cockpit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Process Battery Limit Telemetry ➔ State Observer Reconciliation Bus ➔ Rigorous Thermodynamic Solver ➔ ASME V&amp;V 40 Digital Twin Cockpit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TERRAAVATAR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(TERRAAVATAR)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TerraAvatar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