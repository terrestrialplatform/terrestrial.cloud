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TERRAEMS CATALOGUE  |  CONFIDENTIAL - AUTHORISED SYSTEM INTEGRATORS ONLY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777240"/>
            <a:ext cx="10698480" cy="3474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250" b="1">
                <a:solidFill>
                  <a:srgbClr val="00D4FF"/>
                </a:solidFill>
              </a:defRPr>
            </a:pPr>
            <a:r>
              <a:t>ENTERPRISE PRODUCT SPECIFICATION  |  VISION &amp; CLEAN ENERGY</a:t>
            </a:r>
          </a:p>
          <a:p>
            <a:pPr>
              <a:spcAft>
                <a:spcPts val="600"/>
              </a:spcAft>
              <a:defRPr sz="4600" b="1">
                <a:solidFill>
                  <a:srgbClr val="FFFFFF"/>
                </a:solidFill>
              </a:defRPr>
            </a:pPr>
            <a:r>
              <a:t>TerraEMS</a:t>
            </a:r>
          </a:p>
          <a:p>
            <a:pPr>
              <a:spcAft>
                <a:spcPts val="1200"/>
              </a:spcAft>
              <a:defRPr sz="1900" b="1">
                <a:solidFill>
                  <a:srgbClr val="F5C842"/>
                </a:solidFill>
              </a:defRPr>
            </a:pPr>
            <a:r>
              <a:t>Army of AI Agents Managing Entire Energy Ecosystems</a:t>
            </a:r>
          </a:p>
          <a:p>
            <a:pPr>
              <a:spcAft>
                <a:spcPts val="1200"/>
              </a:spcAft>
              <a:defRPr sz="1400">
                <a:solidFill>
                  <a:srgbClr val="C8D8F0"/>
                </a:solidFill>
              </a:defRPr>
            </a:pPr>
            <a:r>
              <a:t>Industrial Protocol: DLMS/COSEM    |    Domain Architecture: Terrestrial Deterministic Edge Core</a:t>
            </a:r>
          </a:p>
          <a:p>
            <a:pPr>
              <a:defRPr sz="1500">
                <a:solidFill>
                  <a:srgbClr val="94A3B8"/>
                </a:solidFill>
              </a:defRPr>
            </a:pPr>
            <a:r>
              <a:t>Army of AI Agents Managing Entire Energy Ecosystems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MFM CONFORMANCE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Class 0.2S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HARMONIC SCOPE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Up to 63rd Order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SLD ACCURACY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99.8% Nominal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4663440"/>
            <a:ext cx="2523744" cy="128016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600"/>
              </a:spcAft>
              <a:defRPr sz="1100" b="1">
                <a:solidFill>
                  <a:srgbClr val="94A3B8"/>
                </a:solidFill>
              </a:defRPr>
            </a:pPr>
            <a:r>
              <a:t>BILLING CYCLE</a:t>
            </a:r>
          </a:p>
          <a:p>
            <a:pPr algn="ctr">
              <a:defRPr sz="1650" b="1">
                <a:solidFill>
                  <a:srgbClr val="00D4FF"/>
                </a:solidFill>
              </a:defRPr>
            </a:pPr>
            <a:r>
              <a:t>15-Min Block Sync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TERRAEMS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Core Functional Deliverables &amp; Architectural Pillars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TERRAEMS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01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Multifunction Meter (MFM) &amp; Harmonics Engine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Captures fundamental parameters (kWh, voltage, current) alongside in-depth electrical harmonics analysis.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6217920" y="164592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02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Substation Equipment Monitoring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Monitors relays, breaker panels, switchgear, and transformers with timely alerts adhering to ISA 18.2 compliance.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03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Self-Learning AI Optimization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AI models continuously learn from energy consumption patterns to adjust optimization strategies and adapt to seasonal shifts.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4069080"/>
            <a:ext cx="5212080" cy="214884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00" b="1">
                <a:solidFill>
                  <a:srgbClr val="00D4FF"/>
                </a:solidFill>
              </a:defRPr>
            </a:pPr>
            <a:r>
              <a:t>PILLAR 04</a:t>
            </a:r>
          </a:p>
          <a:p>
            <a:pPr>
              <a:spcAft>
                <a:spcPts val="600"/>
              </a:spcAft>
              <a:defRPr sz="1650" b="1">
                <a:solidFill>
                  <a:srgbClr val="FFFFFF"/>
                </a:solidFill>
              </a:defRPr>
            </a:pPr>
            <a:r>
              <a:t>Mobile App &amp; Payment Gateway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Monitor energy consumption and securely pay bills using mobile application (Android, iOS, Windows) with instant receipts.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TERRAEMS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Field-Validated Operational Use Cases &amp; Quantifiable ROI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TERRAEMS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(Airport Peak Hour Surcharge Elimination)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Demand management algorithms reduced peak hour utility surcharges, delivering direct financial savings of ₹2,40,000 (2022) and ₹3,10,000 (2023) at Airport of India.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QA &amp; POWER FACTOR PENALTY AVOIDANCE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QA &amp; Power Factor Penalty Avoidance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Real-time Power Factor alerts successfully maintained levels above 0.95, capturing PF penalty avoidance savings of ₹1,15,000 (2022) and ₹1,25,000 (2023).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EFFICIENCY</a:t>
            </a:r>
          </a:p>
          <a:p>
            <a:pPr>
              <a:spcAft>
                <a:spcPts val="1200"/>
              </a:spcAft>
              <a:defRPr sz="1600" b="1">
                <a:solidFill>
                  <a:srgbClr val="FFFFFF"/>
                </a:solidFill>
              </a:defRPr>
            </a:pPr>
            <a:r>
              <a:t>Efficiency (Untraced Utility Loss Slashed in Process Plant)</a:t>
            </a:r>
          </a:p>
          <a:p>
            <a:pPr>
              <a:defRPr sz="1300">
                <a:solidFill>
                  <a:srgbClr val="C8D8F0"/>
                </a:solidFill>
              </a:defRPr>
            </a:pPr>
            <a:r>
              <a:t>Driven by automated meter visibility, untraced utility losses plummeted from 19.5% down to just 6.5%, saving ₹8,50,000 in direct utility costs in chemical manufacturing.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TERRAEMS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Competitive Advantage: Terrestrial Platform vs. Legacy Systems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TERRAEMS CATALOGUE  |  CONFIDENTIAL - AUTHORISED SYSTEM INTEGRATORS ONLY</a:t>
            </a:r>
          </a:p>
        </p:txBody>
      </p:sp>
      <p:sp>
        <p:nvSpPr>
          <p:cNvPr id="6" name="Rectangle 5"/>
          <p:cNvSpPr/>
          <p:nvPr/>
        </p:nvSpPr>
        <p:spPr>
          <a:xfrm>
            <a:off x="731520" y="1645920"/>
            <a:ext cx="5212080" cy="502920"/>
          </a:xfrm>
          <a:prstGeom prst="rect">
            <a:avLst/>
          </a:prstGeom>
          <a:solidFill>
            <a:srgbClr val="280F14"/>
          </a:solidFill>
          <a:ln>
            <a:solidFill>
              <a:srgbClr val="FF555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FF5555"/>
                </a:solidFill>
              </a:defRPr>
            </a:pPr>
            <a:r>
              <a:t>TRADITIONAL LEGACY SCADA / SILOED SYSTEMS</a:t>
            </a:r>
          </a:p>
        </p:txBody>
      </p:sp>
      <p:sp>
        <p:nvSpPr>
          <p:cNvPr id="7" name="Rectangle 6"/>
          <p:cNvSpPr/>
          <p:nvPr/>
        </p:nvSpPr>
        <p:spPr>
          <a:xfrm>
            <a:off x="6217920" y="1645920"/>
            <a:ext cx="5212080" cy="502920"/>
          </a:xfrm>
          <a:prstGeom prst="rect">
            <a:avLst/>
          </a:prstGeom>
          <a:solidFill>
            <a:srgbClr val="0A2D3C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50" b="1">
                <a:solidFill>
                  <a:srgbClr val="00D4FF"/>
                </a:solidFill>
              </a:defRPr>
            </a:pPr>
            <a:r>
              <a:t>TERRAEMS TERRESTRIAL PLATFORM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31520" y="224028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Reviewing monthly utility bills after the money is spent; zero granular visibility into where waste occurs.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217920" y="224028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Real-time sub-metering across feeders, panels, and transformers with instant cost attribution and harmonic profiling.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31520" y="329184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Incurring heavy contract demand penalties and power factor surcharges during sudden factory or facility ramp-ups.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217920" y="329184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Continuous automated load balancing and predictive peak demand management to prevent all utility penalty conditions.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731520" y="434340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Manual meter reading and fragmented paper billing leading to delayed cash flow and billing disputes.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6217920" y="434340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Integrated mobile application with in-built payment gateway, instant payment confirmations, and automated billing workflows.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31520" y="5394960"/>
            <a:ext cx="5212080" cy="960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00">
                <a:solidFill>
                  <a:srgbClr val="94A3B8"/>
                </a:solidFill>
              </a:defRPr>
            </a:pPr>
            <a:r>
              <a:t>Static high/low threshold alarms trigger only after physical process degradation has occurred.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217920" y="5394960"/>
            <a:ext cx="5212080" cy="960120"/>
          </a:xfrm>
          <a:prstGeom prst="roundRect">
            <a:avLst/>
          </a:prstGeom>
          <a:solidFill>
            <a:srgbClr val="141E37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250" b="1">
                <a:solidFill>
                  <a:srgbClr val="FFFFFF"/>
                </a:solidFill>
              </a:defRPr>
            </a:pPr>
            <a:r>
              <a:t>TerraEMS physics-informed models forecast multi-variable trajectories up to 72 hours in advance.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TERRAEMS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End-to-End System Architecture &amp; Real-Time Pipeline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TERRAEMS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01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Multi-Feeder Power Ingestion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Sub-second electrical telemetry acquisition from smart power meters, digital protection relays, and transformer monitoring units.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3456432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02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High-Frequency Power Stream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Continuous 3-phase power telemetry buffering, harmonic distortion FFT computation, and sub-cycle power quality event capture.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6181344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03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Peak Demand Optimizer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Multi-horizon energy demand forecasting, dynamic tariff arbitrage algorithms, power factor correction, and transformer load balancing.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906256" y="1645920"/>
            <a:ext cx="2523744" cy="438912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00D4FF"/>
                </a:solidFill>
              </a:defRPr>
            </a:pPr>
            <a:r>
              <a:t>LAYER 04</a:t>
            </a:r>
          </a:p>
          <a:p>
            <a:pPr>
              <a:spcAft>
                <a:spcPts val="1200"/>
              </a:spcAft>
              <a:defRPr sz="1550" b="1">
                <a:solidFill>
                  <a:srgbClr val="FFFFFF"/>
                </a:solidFill>
              </a:defRPr>
            </a:pPr>
            <a:r>
              <a:t>Microgrid Dispatch Cockpit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Autonomous BESS battery charge/discharge dispatch, automated non-critical load shedding, and ANSI/ISA-101 energy supervisory displays.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0E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54864"/>
          </a:xfrm>
          <a:prstGeom prst="rect">
            <a:avLst/>
          </a:prstGeom>
          <a:solidFill>
            <a:srgbClr val="00D4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365760"/>
            <a:ext cx="1069848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TERRAEMS  |  TERRESTRIAL PLATFORM</a:t>
            </a:r>
          </a:p>
          <a:p>
            <a:pPr>
              <a:defRPr sz="2500" b="1">
                <a:solidFill>
                  <a:srgbClr val="FFFFFF"/>
                </a:solidFill>
              </a:defRPr>
            </a:pPr>
            <a:r>
              <a:t>System Integrator Deployment Playbook &amp; Commercial Enablement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6446520"/>
            <a:ext cx="1069848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TERRESTRIAL PLATFORM  |  TERRAEMS CATALOGUE  |  CONFIDENTIAL - AUTHORISED SYSTEM INTEGRATORS ONLY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731520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01 | CONNECTIVITY &amp; AUDIT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Zero Rip-and-Replace Onboarding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Deploy edge container onto existing industrial PC or VM. Connect to plant DCS/PLCs via DLMS/COSEM. Ingest and normalize all telemetry in under 48 hours without halting production.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79976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02 | TWIN CALIBRATION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Physics-Model Synchronization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Feed historical historian data into TerraEMS models. Automatically build directed causal relationship graphs, calibrate thermodynamics/kinematics, and train edge neural operators.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028432" y="1645920"/>
            <a:ext cx="3401568" cy="3200400"/>
          </a:xfrm>
          <a:prstGeom prst="roundRect">
            <a:avLst/>
          </a:prstGeom>
          <a:solidFill>
            <a:srgbClr val="0F172A"/>
          </a:solidFill>
          <a:ln>
            <a:solidFill>
              <a:srgbClr val="1E293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800"/>
              </a:spcAft>
              <a:defRPr sz="1100" b="1">
                <a:solidFill>
                  <a:srgbClr val="F5C842"/>
                </a:solidFill>
              </a:defRPr>
            </a:pPr>
            <a:r>
              <a:t>PHASE 03 | AUTONOMOUS GO-LIVE</a:t>
            </a:r>
          </a:p>
          <a:p>
            <a:pPr>
              <a:spcAft>
                <a:spcPts val="1000"/>
              </a:spcAft>
              <a:defRPr sz="1600" b="1">
                <a:solidFill>
                  <a:srgbClr val="FFFFFF"/>
                </a:solidFill>
              </a:defRPr>
            </a:pPr>
            <a:r>
              <a:t>Closed-Loop Setpoint Actuation</a:t>
            </a:r>
          </a:p>
          <a:p>
            <a:pPr>
              <a:defRPr sz="1250">
                <a:solidFill>
                  <a:srgbClr val="C8D8F0"/>
                </a:solidFill>
              </a:defRPr>
            </a:pPr>
            <a:r>
              <a:t>Transition from advisory warnings to sub-25ms supervisory actuation. Sync alarm suppressions with plant operators and link work orders into SAP/ERP for verifiable recurring ROI.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731520" y="5029200"/>
            <a:ext cx="10698480" cy="1188720"/>
          </a:xfrm>
          <a:prstGeom prst="roundRect">
            <a:avLst/>
          </a:prstGeom>
          <a:solidFill>
            <a:srgbClr val="0C1C34"/>
          </a:solidFill>
          <a:ln>
            <a:solidFill>
              <a:srgbClr val="00D4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spcAft>
                <a:spcPts val="400"/>
              </a:spcAft>
              <a:defRPr sz="1150" b="1">
                <a:solidFill>
                  <a:srgbClr val="00D4FF"/>
                </a:solidFill>
              </a:defRPr>
            </a:pPr>
            <a:r>
              <a:t>COMMERCIAL VALUE PROPOSITION FOR SYSTEM INTEGRATORS (TERRAEMS)</a:t>
            </a:r>
          </a:p>
          <a:p>
            <a:pPr>
              <a:defRPr sz="1300" b="1">
                <a:solidFill>
                  <a:srgbClr val="FFFFFF"/>
                </a:solidFill>
              </a:defRPr>
            </a:pPr>
            <a:r>
              <a:t>High recurring annual software margins (ARR)  |  Turnkey deployment in days, not months  |  Full co-selling &amp; pre-sales engineering support  |  Certified partner portal at platform.tpcloud.tech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