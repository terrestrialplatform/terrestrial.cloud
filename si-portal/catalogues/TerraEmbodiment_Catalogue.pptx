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TerraEmbodiment - Enterprise Product Specification</a:t>
            </a:r>
          </a:p>
          <a:p>
            <a:r>
              <a:t>Tagline: Autonomous Ground-Floor Physical AI Actuation &amp; OT Edge Execution</a:t>
            </a:r>
          </a:p>
          <a:p/>
          <a:p>
            <a:r>
              <a:t>Outcome Quote:</a:t>
            </a:r>
          </a:p>
          <a:p>
            <a:r>
              <a:t>“Taking action on floor with AI: autonomous or human assisted — controlling PLCs, controllers, robotics, or UAVs directly with TerraAI.” (— THE OUTCOME-BASED REVOLUTION)</a:t>
            </a:r>
          </a:p>
          <a:p/>
          <a:p>
            <a:r>
              <a:t>Executive Overview:</a:t>
            </a:r>
          </a:p>
          <a:p>
            <a:r>
              <a:t>TerraEmbodiment bridges cognitive AI decisions with physical reality on the industrial floor. Deploying hardened, containerized edge runtimes directly on industrial IPCs, it injects deterministic setpoints into PLCs, RTUs, robotic manipulators, and autonomous inspection drones, eliminating human risk in dangerous environments.</a:t>
            </a:r>
          </a:p>
          <a:p/>
          <a:p>
            <a:r>
              <a:t>Key Telemetry Metrics:</a:t>
            </a:r>
          </a:p>
          <a:p>
            <a:r>
              <a:t>- SWARM DRONE LINK:: 2.4/5.8 GHz Mesh</a:t>
            </a:r>
          </a:p>
          <a:p>
            <a:r>
              <a:t>- AGV LOCALIZATION:: SLAM ±2.5cm</a:t>
            </a:r>
          </a:p>
          <a:p>
            <a:r>
              <a:t>- SAFETY RATING:: SIL 2 / PL d</a:t>
            </a:r>
          </a:p>
          <a:p>
            <a:r>
              <a:t>- CONTROL LATENCY:: 8 ms Deterministic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TerraEmbodiment - ANSI/ISA-101 Verified Operational Interface</a:t>
            </a:r>
          </a:p>
          <a:p>
            <a:r>
              <a:t>Representation: TerraEmbodiment ANSI/ISA-101 Operational Interface &amp; Real-Time System Representation</a:t>
            </a:r>
          </a:p>
          <a:p>
            <a:r>
              <a:t>Compliance: ANSI/ISA-101 Verified HMI</a:t>
            </a:r>
          </a:p>
          <a:p>
            <a:r>
              <a:t>Asset File: terra_embodiment_isa101_showcase.jpg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TerraEmbodiment Will Do:</a:t>
            </a:r>
          </a:p>
          <a:p>
            <a:r>
              <a:t>[1] Direct OT Actuation:</a:t>
            </a:r>
          </a:p>
          <a:p>
            <a:r>
              <a:t>Sub-millisecond deterministic setpoint injection to industrial field controllers and PLCs.</a:t>
            </a:r>
          </a:p>
          <a:p/>
          <a:p>
            <a:r>
              <a:t>[2] Autonomous / Assisted Execution Modes:</a:t>
            </a:r>
          </a:p>
          <a:p>
            <a:r>
              <a:t>Configurable execution governance: from closed-loop autonomy to supervised operator sign-off.</a:t>
            </a:r>
          </a:p>
          <a:p/>
          <a:p>
            <a:r>
              <a:t>[3] Edge-Native Microservices:</a:t>
            </a:r>
          </a:p>
          <a:p>
            <a:r>
              <a:t>High-reliability containerized runtime deployed directly on industrial edge IPC hardware.</a:t>
            </a:r>
          </a:p>
          <a:p/>
          <a:p>
            <a:r>
              <a:t>[4] Robotics &amp; UAV Control:</a:t>
            </a:r>
          </a:p>
          <a:p>
            <a:r>
              <a:t>Direct mission dispatch and waypoint navigation for inspection drones and robotic crawlers.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TerraEmbodiment - Operational Use Cases &amp; Field Impact:</a:t>
            </a:r>
          </a:p>
          <a:p>
            <a:r>
              <a:t>[Safety &amp; Reduced Manpower] Safety &amp; Reduced Manpower (Hazardous Switchgear Actuation):</a:t>
            </a:r>
          </a:p>
          <a:p>
            <a:r>
              <a:t>Racks in/out 33kV circuit breakers and closes earth switches autonomously during arc flash hazard conditions without humans in the room.</a:t>
            </a:r>
          </a:p>
          <a:p/>
          <a:p>
            <a:r>
              <a:t>[Productivity &amp; Machine Safety] Productivity &amp; Machine Safety (CNC Load Reduction):</a:t>
            </a:r>
          </a:p>
          <a:p>
            <a:r>
              <a:t>When TerraAI detects high vibration on CNC machines, TerraEmbodiment automatically modulates PLC feed rates to prevent tool breakage.</a:t>
            </a:r>
          </a:p>
          <a:p/>
          <a:p>
            <a:r>
              <a:t>[QA &amp; Autonomous Robotic Inspection] QA &amp; Autonomous Robotic Inspection:</a:t>
            </a:r>
          </a:p>
          <a:p>
            <a:r>
              <a:t>Dispatches autonomous robotic crawlers and thermal drones to wash solar panels and locate hot spots without manual workers.</a:t>
            </a:r>
          </a:p>
          <a:p/>
          <a:p>
            <a:r>
              <a:t>[Efficiency] Efficiency (High-Speed Valve Modulation):</a:t>
            </a:r>
          </a:p>
          <a:p>
            <a:r>
              <a:t>Directly modulates thermal injection valves and high-pressure pumps to suppress water hammer transients.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TerraEmbodiment - Architectural Contrast (Legacy SCADA vs Terrestrial Platform):</a:t>
            </a:r>
          </a:p>
          <a:p>
            <a:r>
              <a:t>LEGACY:</a:t>
            </a:r>
          </a:p>
          <a:p>
            <a:r>
              <a:t>AI systems only provide advisory charts; human technicians must physically walk to switchgear to turn knobs or trip breakers.</a:t>
            </a:r>
          </a:p>
          <a:p/>
          <a:p>
            <a:r>
              <a:t>TERRESTRIAL ADVANTAGE:</a:t>
            </a:r>
          </a:p>
          <a:p>
            <a:r>
              <a:t>Closed-loop, deterministic execution straight to industrial bus controllers with microsecond safety boundaries.</a:t>
            </a:r>
          </a:p>
          <a:p/>
          <a:p>
            <a:r>
              <a:t>LEGACY:</a:t>
            </a:r>
          </a:p>
          <a:p>
            <a:r>
              <a:t>Fragile cloud-dependent automation that fails whenever plant internet or WAN connectivity drops.</a:t>
            </a:r>
          </a:p>
          <a:p/>
          <a:p>
            <a:r>
              <a:t>TERRESTRIAL ADVANTAGE:</a:t>
            </a:r>
          </a:p>
          <a:p>
            <a:r>
              <a:t>Edge-native microservices that continue autonomous local execution even during total WAN blackout.</a:t>
            </a:r>
          </a:p>
          <a:p/>
          <a:p>
            <a:r>
              <a:t>LEGACY:</a:t>
            </a:r>
          </a:p>
          <a:p>
            <a:r>
              <a:t>Manual visual inspections requiring staff to climb tall boilers, flare stacks, or live switchyards.</a:t>
            </a:r>
          </a:p>
          <a:p/>
          <a:p>
            <a:r>
              <a:t>TERRESTRIAL ADVANTAGE:</a:t>
            </a:r>
          </a:p>
          <a:p>
            <a:r>
              <a:t>Automated dispatch of autonomous UAVs and tracked robots with real-time waypoint guidance.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TerraEmbodiment - End-to-End System Diagram &amp; Data Pipeline:</a:t>
            </a:r>
          </a:p>
          <a:p/>
          <a:p>
            <a:r>
              <a:t>Layer 01: Spatial LiDAR &amp; Robot Ingestion</a:t>
            </a:r>
          </a:p>
          <a:p>
            <a:r>
              <a:t>High-bandwidth sensory acquisition aggregating 2D/3D LiDAR point clouds, depth cameras, joint servo encoders, and IMU inertial sensors.</a:t>
            </a:r>
          </a:p>
          <a:p>
            <a:r>
              <a:t>Protocols: ROS2 / DDS Protocol, CANopen / EtherCAT, Safety LiDAR Bus</a:t>
            </a:r>
          </a:p>
          <a:p/>
          <a:p>
            <a:r>
              <a:t>Layer 02: Deterministic Robotic Fabric</a:t>
            </a:r>
          </a:p>
          <a:p>
            <a:r>
              <a:t>Sub-5ms spatial point cloud filtering, real-time wheel odometry synchronization, and collision exclusion zone monitoring.</a:t>
            </a:r>
          </a:p>
          <a:p>
            <a:r>
              <a:t>Protocols: Deterministic DDS Bus, LiDAR Point-Cloud Stream, Sub-5ms Edge Fabric</a:t>
            </a:r>
          </a:p>
          <a:p/>
          <a:p>
            <a:r>
              <a:t>Layer 03: Spatial SLAM &amp; Fleet Planner</a:t>
            </a:r>
          </a:p>
          <a:p>
            <a:r>
              <a:t>Multi-agent cooperative SLAM, dynamic obstacle avoidance, warehouse traffic deadlock resolution, and robotic 6-axis inverse kinematics.</a:t>
            </a:r>
          </a:p>
          <a:p>
            <a:r>
              <a:t>Protocols: Dynamic SLAM AI, Fleet Path Planner, Inverse Kinematics</a:t>
            </a:r>
          </a:p>
          <a:p/>
          <a:p>
            <a:r>
              <a:t>Layer 04: Fleet Teleoperation Cockpit</a:t>
            </a:r>
          </a:p>
          <a:p>
            <a:r>
              <a:t>Closed-loop AMR velocity drive execution, 6-axis joint torque commands, automatic dock opportunity charging, and ANSI/ISA-101 fleet consoles.</a:t>
            </a:r>
          </a:p>
          <a:p>
            <a:r>
              <a:t>Protocols: Drive Velocity Dispatch, Servo Torque Control, ISA-101 Robot Cockpit</a:t>
            </a:r>
          </a:p>
          <a:p/>
          <a:p>
            <a:r>
              <a:t>Pipeline Flow:</a:t>
            </a:r>
          </a:p>
          <a:p>
            <a:r>
              <a:t>DATA PIPELINE FLOW: LiDAR &amp; Joint Encoder Telemetry ➔ Deterministic ROS2/DDS Fabric ➔ Multi-Agent Spatial SLAM &amp; Path Planning ➔ Closed-Loop Drive &amp; Servo Actuation (&lt; 5ms)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TerraEmbodiment - System Integrator Deployment Framework &amp; Commercial Model:</a:t>
            </a:r>
          </a:p>
          <a:p/>
          <a:p>
            <a:r>
              <a:t>Phase 1: Connectivity &amp; Audit</a:t>
            </a:r>
          </a:p>
          <a:p>
            <a:r>
              <a:t>Phase 2: Twin Calibration</a:t>
            </a:r>
          </a:p>
          <a:p>
            <a:r>
              <a:t>Phase 3: Autonomous Go-Live</a:t>
            </a:r>
          </a:p>
          <a:p/>
          <a:p>
            <a:r>
              <a:t>Commercial Enablement:</a:t>
            </a:r>
          </a:p>
          <a:p>
            <a:r>
              <a:t>- 25%-35% recurring SaaS margins</a:t>
            </a:r>
          </a:p>
          <a:p>
            <a:r>
              <a:t>- 7-14 day rapid commissioning</a:t>
            </a:r>
          </a:p>
          <a:p>
            <a:r>
              <a:t>- Co-selling and enterprise enablement support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TERRAEMBODIMENT  |  ENTERPRISE SPECIFICATION</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TerraEmbodiment: Autonomous Ground-Floor Physical AI Actuation &amp; OT Edge Execution</a:t>
            </a:r>
          </a:p>
          <a:p>
            <a:pPr>
              <a:spcBef>
                <a:spcPts val="300"/>
              </a:spcBef>
              <a:defRPr sz="1050">
                <a:solidFill>
                  <a:srgbClr val="94A3B8"/>
                </a:solidFill>
              </a:defRPr>
            </a:pPr>
            <a:r>
              <a:t>Autonomous Industrial Intelligence Suite · Tier-1 Plant Architecture</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6217920" cy="46634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19"/>
            <a:ext cx="5760720" cy="4297680"/>
          </a:xfrm>
          <a:prstGeom prst="rect">
            <a:avLst/>
          </a:prstGeom>
          <a:noFill/>
        </p:spPr>
        <p:txBody>
          <a:bodyPr wrap="square" lIns="0" rIns="0" tIns="0" bIns="0">
            <a:spAutoFit/>
          </a:bodyPr>
          <a:lstStyle/>
          <a:p>
            <a:pPr>
              <a:defRPr sz="1200" i="1" b="1">
                <a:solidFill>
                  <a:srgbClr val="38BDF8"/>
                </a:solidFill>
              </a:defRPr>
            </a:pPr>
            <a:r>
              <a:t>““Taking action on floor with AI: autonomous or human assisted — controlling PLCs, controllers, robotics, or UAVs directly with TerraAI.””</a:t>
            </a:r>
          </a:p>
          <a:p>
            <a:pPr>
              <a:spcBef>
                <a:spcPts val="400"/>
              </a:spcBef>
              <a:spcAft>
                <a:spcPts val="1200"/>
              </a:spcAft>
              <a:defRPr sz="950" b="1">
                <a:solidFill>
                  <a:srgbClr val="94A3B8"/>
                </a:solidFill>
              </a:defRPr>
            </a:pPr>
            <a:r>
              <a:t>— — THE OUTCOME-BASED REVOLUTION</a:t>
            </a:r>
          </a:p>
          <a:p>
            <a:pPr>
              <a:spcAft>
                <a:spcPts val="600"/>
              </a:spcAft>
              <a:defRPr sz="1050" b="1">
                <a:solidFill>
                  <a:srgbClr val="FFFFFF"/>
                </a:solidFill>
              </a:defRPr>
            </a:pPr>
            <a:r>
              <a:t>EXECUTIVE OPERATIONAL SYNOPSIS</a:t>
            </a:r>
          </a:p>
          <a:p>
            <a:pPr>
              <a:defRPr sz="1050">
                <a:solidFill>
                  <a:srgbClr val="F1F5F9"/>
                </a:solidFill>
              </a:defRPr>
            </a:pPr>
            <a:r>
              <a:t>TerraEmbodiment bridges cognitive AI decisions with physical reality on the industrial floor. Deploying hardened, containerized edge runtimes directly on industrial IPCs, it injects deterministic setpoints into PLCs, RTUs, robotic manipulators, and autonomous inspection drones, eliminating human risk in dangerous environments.</a:t>
            </a:r>
          </a:p>
        </p:txBody>
      </p:sp>
      <p:sp>
        <p:nvSpPr>
          <p:cNvPr id="9" name="Rounded Rectangle 8"/>
          <p:cNvSpPr/>
          <p:nvPr/>
        </p:nvSpPr>
        <p:spPr>
          <a:xfrm>
            <a:off x="7132320"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1828800"/>
            <a:ext cx="1810511" cy="914400"/>
          </a:xfrm>
          <a:prstGeom prst="rect">
            <a:avLst/>
          </a:prstGeom>
          <a:noFill/>
        </p:spPr>
        <p:txBody>
          <a:bodyPr wrap="square" lIns="0" rIns="0" tIns="0" bIns="0">
            <a:spAutoFit/>
          </a:bodyPr>
          <a:lstStyle/>
          <a:p>
            <a:pPr>
              <a:defRPr sz="850" b="1">
                <a:solidFill>
                  <a:srgbClr val="94A3B8"/>
                </a:solidFill>
              </a:defRPr>
            </a:pPr>
            <a:r>
              <a:t>SWARM DRONE LINK</a:t>
            </a:r>
          </a:p>
          <a:p>
            <a:pPr>
              <a:spcBef>
                <a:spcPts val="400"/>
              </a:spcBef>
              <a:defRPr sz="1400" b="1">
                <a:solidFill>
                  <a:srgbClr val="FFFFFF"/>
                </a:solidFill>
              </a:defRPr>
            </a:pPr>
            <a:r>
              <a:t>2.4/5.8 GHz Mesh</a:t>
            </a:r>
          </a:p>
        </p:txBody>
      </p:sp>
      <p:sp>
        <p:nvSpPr>
          <p:cNvPr id="11" name="Rounded Rectangle 10"/>
          <p:cNvSpPr/>
          <p:nvPr/>
        </p:nvSpPr>
        <p:spPr>
          <a:xfrm>
            <a:off x="9381743"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18903" y="1828800"/>
            <a:ext cx="1810511" cy="914400"/>
          </a:xfrm>
          <a:prstGeom prst="rect">
            <a:avLst/>
          </a:prstGeom>
          <a:noFill/>
        </p:spPr>
        <p:txBody>
          <a:bodyPr wrap="square" lIns="0" rIns="0" tIns="0" bIns="0">
            <a:spAutoFit/>
          </a:bodyPr>
          <a:lstStyle/>
          <a:p>
            <a:pPr>
              <a:defRPr sz="850" b="1">
                <a:solidFill>
                  <a:srgbClr val="94A3B8"/>
                </a:solidFill>
              </a:defRPr>
            </a:pPr>
            <a:r>
              <a:t>AGV LOCALIZATION</a:t>
            </a:r>
          </a:p>
          <a:p>
            <a:pPr>
              <a:spcBef>
                <a:spcPts val="400"/>
              </a:spcBef>
              <a:defRPr sz="1400" b="1">
                <a:solidFill>
                  <a:srgbClr val="FFFFFF"/>
                </a:solidFill>
              </a:defRPr>
            </a:pPr>
            <a:r>
              <a:t>SLAM ±2.5cm</a:t>
            </a:r>
          </a:p>
        </p:txBody>
      </p:sp>
      <p:sp>
        <p:nvSpPr>
          <p:cNvPr id="13" name="Rounded Rectangle 12"/>
          <p:cNvSpPr/>
          <p:nvPr/>
        </p:nvSpPr>
        <p:spPr>
          <a:xfrm>
            <a:off x="7132320"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3182112"/>
            <a:ext cx="1810511" cy="914400"/>
          </a:xfrm>
          <a:prstGeom prst="rect">
            <a:avLst/>
          </a:prstGeom>
          <a:noFill/>
        </p:spPr>
        <p:txBody>
          <a:bodyPr wrap="square" lIns="0" rIns="0" tIns="0" bIns="0">
            <a:spAutoFit/>
          </a:bodyPr>
          <a:lstStyle/>
          <a:p>
            <a:pPr>
              <a:defRPr sz="850" b="1">
                <a:solidFill>
                  <a:srgbClr val="94A3B8"/>
                </a:solidFill>
              </a:defRPr>
            </a:pPr>
            <a:r>
              <a:t>SAFETY RATING</a:t>
            </a:r>
          </a:p>
          <a:p>
            <a:pPr>
              <a:spcBef>
                <a:spcPts val="400"/>
              </a:spcBef>
              <a:defRPr sz="1400" b="1">
                <a:solidFill>
                  <a:srgbClr val="FFFFFF"/>
                </a:solidFill>
              </a:defRPr>
            </a:pPr>
            <a:r>
              <a:t>SIL 2 / PL d</a:t>
            </a:r>
          </a:p>
        </p:txBody>
      </p:sp>
      <p:sp>
        <p:nvSpPr>
          <p:cNvPr id="15" name="Rounded Rectangle 14"/>
          <p:cNvSpPr/>
          <p:nvPr/>
        </p:nvSpPr>
        <p:spPr>
          <a:xfrm>
            <a:off x="9381743"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3" y="3182112"/>
            <a:ext cx="1810511" cy="914400"/>
          </a:xfrm>
          <a:prstGeom prst="rect">
            <a:avLst/>
          </a:prstGeom>
          <a:noFill/>
        </p:spPr>
        <p:txBody>
          <a:bodyPr wrap="square" lIns="0" rIns="0" tIns="0" bIns="0">
            <a:spAutoFit/>
          </a:bodyPr>
          <a:lstStyle/>
          <a:p>
            <a:pPr>
              <a:defRPr sz="850" b="1">
                <a:solidFill>
                  <a:srgbClr val="94A3B8"/>
                </a:solidFill>
              </a:defRPr>
            </a:pPr>
            <a:r>
              <a:t>CONTROL LATENCY</a:t>
            </a:r>
          </a:p>
          <a:p>
            <a:pPr>
              <a:spcBef>
                <a:spcPts val="400"/>
              </a:spcBef>
              <a:defRPr sz="1400" b="1">
                <a:solidFill>
                  <a:srgbClr val="38BDF8"/>
                </a:solidFill>
              </a:defRPr>
            </a:pPr>
            <a:r>
              <a:t>8 ms Deterministic</a:t>
            </a:r>
          </a:p>
        </p:txBody>
      </p:sp>
      <p:sp>
        <p:nvSpPr>
          <p:cNvPr id="17" name="Rounded Rectangle 16"/>
          <p:cNvSpPr/>
          <p:nvPr/>
        </p:nvSpPr>
        <p:spPr>
          <a:xfrm>
            <a:off x="7132320" y="4434840"/>
            <a:ext cx="4334256" cy="19202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0920" y="4617720"/>
            <a:ext cx="3840480" cy="1554480"/>
          </a:xfrm>
          <a:prstGeom prst="rect">
            <a:avLst/>
          </a:prstGeom>
          <a:noFill/>
        </p:spPr>
        <p:txBody>
          <a:bodyPr wrap="square" lIns="0" rIns="0" tIns="0" bIns="0">
            <a:spAutoFit/>
          </a:bodyPr>
          <a:lstStyle/>
          <a:p>
            <a:pPr>
              <a:defRPr sz="950" b="1">
                <a:solidFill>
                  <a:srgbClr val="38BDF8"/>
                </a:solidFill>
              </a:defRPr>
            </a:pPr>
            <a:r>
              <a:t>TERRESTRIAL PLATFORM CORE</a:t>
            </a:r>
          </a:p>
          <a:p>
            <a:pPr>
              <a:spcBef>
                <a:spcPts val="200"/>
              </a:spcBef>
              <a:defRPr sz="1100" b="1">
                <a:solidFill>
                  <a:srgbClr val="FFFFFF"/>
                </a:solidFill>
              </a:defRPr>
            </a:pPr>
            <a:r>
              <a:t>Edge-to-Cloud Cognitive Nervous System</a:t>
            </a:r>
          </a:p>
          <a:p>
            <a:pPr>
              <a:spcBef>
                <a:spcPts val="400"/>
              </a:spcBef>
              <a:defRPr sz="900">
                <a:solidFill>
                  <a:srgbClr val="94A3B8"/>
                </a:solidFill>
              </a:defRPr>
            </a:pPr>
            <a:r>
              <a:t>Physics-informed mathematical twin running sub-25ms closed-loop supervisory control with full ISA-95/101 conformity.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TERRAEMBODIMENT  |  OPERATIONAL INTERFACE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TerraEmbodiment ANSI/ISA-101 Operational Interface &amp; Real-Time System Representation</a:t>
            </a:r>
          </a:p>
          <a:p>
            <a:pPr>
              <a:spcBef>
                <a:spcPts val="300"/>
              </a:spcBef>
              <a:defRPr sz="1050">
                <a:solidFill>
                  <a:srgbClr val="94A3B8"/>
                </a:solidFill>
              </a:defRPr>
            </a:pPr>
            <a:r>
              <a:t>ANSI/ISA-101 Ergonomic High-Performance HMI · Real-Time System Representation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45920"/>
            <a:ext cx="10728655" cy="470916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ra_embodiment_isa101_showcase.jpg"/>
          <p:cNvPicPr>
            <a:picLocks noChangeAspect="1"/>
          </p:cNvPicPr>
          <p:nvPr/>
        </p:nvPicPr>
        <p:blipFill>
          <a:blip r:embed="rId3"/>
          <a:stretch>
            <a:fillRect/>
          </a:stretch>
        </p:blipFill>
        <p:spPr>
          <a:xfrm>
            <a:off x="777240" y="1691640"/>
            <a:ext cx="10637215" cy="46177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TERRAEMBODIMENT  |  CORE CAPABILITIES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What TerraEmbodiment Will Do</a:t>
            </a:r>
          </a:p>
          <a:p>
            <a:pPr>
              <a:spcBef>
                <a:spcPts val="300"/>
              </a:spcBef>
              <a:defRPr sz="1050">
                <a:solidFill>
                  <a:srgbClr val="94A3B8"/>
                </a:solidFill>
              </a:defRPr>
            </a:pPr>
            <a:r>
              <a:t>Specific operational functions and engineering capabilities directly sourced from technical documentation.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20"/>
            <a:ext cx="4773168" cy="1828800"/>
          </a:xfrm>
          <a:prstGeom prst="rect">
            <a:avLst/>
          </a:prstGeom>
          <a:noFill/>
        </p:spPr>
        <p:txBody>
          <a:bodyPr wrap="square" lIns="0" rIns="0" tIns="0" bIns="0">
            <a:spAutoFit/>
          </a:bodyPr>
          <a:lstStyle/>
          <a:p>
            <a:pPr>
              <a:defRPr sz="850" b="1">
                <a:solidFill>
                  <a:srgbClr val="38BDF8"/>
                </a:solidFill>
              </a:defRPr>
            </a:pPr>
            <a:r>
              <a:t>PILLAR 01  |  ENGINEERING CAPABILITY</a:t>
            </a:r>
          </a:p>
          <a:p>
            <a:pPr>
              <a:spcBef>
                <a:spcPts val="300"/>
              </a:spcBef>
              <a:spcAft>
                <a:spcPts val="600"/>
              </a:spcAft>
              <a:defRPr sz="1300" b="1">
                <a:solidFill>
                  <a:srgbClr val="FFFFFF"/>
                </a:solidFill>
              </a:defRPr>
            </a:pPr>
            <a:r>
              <a:t>Direct OT Actuation</a:t>
            </a:r>
          </a:p>
          <a:p>
            <a:pPr>
              <a:defRPr sz="1000">
                <a:solidFill>
                  <a:srgbClr val="F1F5F9"/>
                </a:solidFill>
              </a:defRPr>
            </a:pPr>
            <a:r>
              <a:t>Sub-millisecond deterministic setpoint injection to industrial field controllers and PLCs.</a:t>
            </a:r>
          </a:p>
        </p:txBody>
      </p:sp>
      <p:sp>
        <p:nvSpPr>
          <p:cNvPr id="9" name="Rounded Rectangle 8"/>
          <p:cNvSpPr/>
          <p:nvPr/>
        </p:nvSpPr>
        <p:spPr>
          <a:xfrm>
            <a:off x="6227064"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874520"/>
            <a:ext cx="4773168" cy="1828800"/>
          </a:xfrm>
          <a:prstGeom prst="rect">
            <a:avLst/>
          </a:prstGeom>
          <a:noFill/>
        </p:spPr>
        <p:txBody>
          <a:bodyPr wrap="square" lIns="0" rIns="0" tIns="0" bIns="0">
            <a:spAutoFit/>
          </a:bodyPr>
          <a:lstStyle/>
          <a:p>
            <a:pPr>
              <a:defRPr sz="850" b="1">
                <a:solidFill>
                  <a:srgbClr val="38BDF8"/>
                </a:solidFill>
              </a:defRPr>
            </a:pPr>
            <a:r>
              <a:t>PILLAR 02  |  ENGINEERING CAPABILITY</a:t>
            </a:r>
          </a:p>
          <a:p>
            <a:pPr>
              <a:spcBef>
                <a:spcPts val="300"/>
              </a:spcBef>
              <a:spcAft>
                <a:spcPts val="600"/>
              </a:spcAft>
              <a:defRPr sz="1300" b="1">
                <a:solidFill>
                  <a:srgbClr val="FFFFFF"/>
                </a:solidFill>
              </a:defRPr>
            </a:pPr>
            <a:r>
              <a:t>Autonomous / Assisted Execution Modes</a:t>
            </a:r>
          </a:p>
          <a:p>
            <a:pPr>
              <a:defRPr sz="1000">
                <a:solidFill>
                  <a:srgbClr val="F1F5F9"/>
                </a:solidFill>
              </a:defRPr>
            </a:pPr>
            <a:r>
              <a:t>Configurable execution governance: from closed-loop autonomy to supervised operator sign-off.</a:t>
            </a:r>
          </a:p>
        </p:txBody>
      </p:sp>
      <p:sp>
        <p:nvSpPr>
          <p:cNvPr id="11" name="Rounded Rectangle 10"/>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773168" cy="1828800"/>
          </a:xfrm>
          <a:prstGeom prst="rect">
            <a:avLst/>
          </a:prstGeom>
          <a:noFill/>
        </p:spPr>
        <p:txBody>
          <a:bodyPr wrap="square" lIns="0" rIns="0" tIns="0" bIns="0">
            <a:spAutoFit/>
          </a:bodyPr>
          <a:lstStyle/>
          <a:p>
            <a:pPr>
              <a:defRPr sz="850" b="1">
                <a:solidFill>
                  <a:srgbClr val="38BDF8"/>
                </a:solidFill>
              </a:defRPr>
            </a:pPr>
            <a:r>
              <a:t>PILLAR 03  |  ENGINEERING CAPABILITY</a:t>
            </a:r>
          </a:p>
          <a:p>
            <a:pPr>
              <a:spcBef>
                <a:spcPts val="300"/>
              </a:spcBef>
              <a:spcAft>
                <a:spcPts val="600"/>
              </a:spcAft>
              <a:defRPr sz="1300" b="1">
                <a:solidFill>
                  <a:srgbClr val="FFFFFF"/>
                </a:solidFill>
              </a:defRPr>
            </a:pPr>
            <a:r>
              <a:t>Edge-Native Microservices</a:t>
            </a:r>
          </a:p>
          <a:p>
            <a:pPr>
              <a:defRPr sz="1000">
                <a:solidFill>
                  <a:srgbClr val="F1F5F9"/>
                </a:solidFill>
              </a:defRPr>
            </a:pPr>
            <a:r>
              <a:t>High-reliability containerized runtime deployed directly on industrial edge IPC hardware.</a:t>
            </a:r>
          </a:p>
        </p:txBody>
      </p:sp>
      <p:sp>
        <p:nvSpPr>
          <p:cNvPr id="13" name="Rounded Rectangle 12"/>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4297680"/>
            <a:ext cx="4773168" cy="1828800"/>
          </a:xfrm>
          <a:prstGeom prst="rect">
            <a:avLst/>
          </a:prstGeom>
          <a:noFill/>
        </p:spPr>
        <p:txBody>
          <a:bodyPr wrap="square" lIns="0" rIns="0" tIns="0" bIns="0">
            <a:spAutoFit/>
          </a:bodyPr>
          <a:lstStyle/>
          <a:p>
            <a:pPr>
              <a:defRPr sz="850" b="1">
                <a:solidFill>
                  <a:srgbClr val="38BDF8"/>
                </a:solidFill>
              </a:defRPr>
            </a:pPr>
            <a:r>
              <a:t>PILLAR 04  |  ENGINEERING CAPABILITY</a:t>
            </a:r>
          </a:p>
          <a:p>
            <a:pPr>
              <a:spcBef>
                <a:spcPts val="300"/>
              </a:spcBef>
              <a:spcAft>
                <a:spcPts val="600"/>
              </a:spcAft>
              <a:defRPr sz="1300" b="1">
                <a:solidFill>
                  <a:srgbClr val="FFFFFF"/>
                </a:solidFill>
              </a:defRPr>
            </a:pPr>
            <a:r>
              <a:t>Robotics &amp; UAV Control</a:t>
            </a:r>
          </a:p>
          <a:p>
            <a:pPr>
              <a:defRPr sz="1000">
                <a:solidFill>
                  <a:srgbClr val="F1F5F9"/>
                </a:solidFill>
              </a:defRPr>
            </a:pPr>
            <a:r>
              <a:t>Direct mission dispatch and waypoint navigation for inspection drones and robotic crawlers.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TERRAEMBODIMENT  |  FIELD USE CASES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Operational Use Cases &amp; Field Impact</a:t>
            </a:r>
          </a:p>
          <a:p>
            <a:pPr>
              <a:spcBef>
                <a:spcPts val="300"/>
              </a:spcBef>
              <a:defRPr sz="1050">
                <a:solidFill>
                  <a:srgbClr val="94A3B8"/>
                </a:solidFill>
              </a:defRPr>
            </a:pPr>
            <a:r>
              <a:t>Actual documented use cases across Quality Assurance, Reduced Manpower, Efficiency, and Asset Productivity.</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20"/>
            <a:ext cx="4773168" cy="1828800"/>
          </a:xfrm>
          <a:prstGeom prst="rect">
            <a:avLst/>
          </a:prstGeom>
          <a:noFill/>
        </p:spPr>
        <p:txBody>
          <a:bodyPr wrap="square" lIns="0" rIns="0" tIns="0" bIns="0">
            <a:spAutoFit/>
          </a:bodyPr>
          <a:lstStyle/>
          <a:p>
            <a:pPr>
              <a:defRPr sz="850" b="1">
                <a:solidFill>
                  <a:srgbClr val="34D399"/>
                </a:solidFill>
              </a:defRPr>
            </a:pPr>
            <a:r>
              <a:t>CASE 01  |  SAFETY &amp; REDUCED MANPOWER</a:t>
            </a:r>
          </a:p>
          <a:p>
            <a:pPr>
              <a:spcBef>
                <a:spcPts val="300"/>
              </a:spcBef>
              <a:spcAft>
                <a:spcPts val="600"/>
              </a:spcAft>
              <a:defRPr sz="1300" b="1">
                <a:solidFill>
                  <a:srgbClr val="FFFFFF"/>
                </a:solidFill>
              </a:defRPr>
            </a:pPr>
            <a:r>
              <a:t>Safety &amp; Reduced Manpower (Hazardous Switchgear Actuation)</a:t>
            </a:r>
          </a:p>
          <a:p>
            <a:pPr>
              <a:defRPr sz="1000">
                <a:solidFill>
                  <a:srgbClr val="F1F5F9"/>
                </a:solidFill>
              </a:defRPr>
            </a:pPr>
            <a:r>
              <a:t>Racks in/out 33kV circuit breakers and closes earth switches autonomously during arc flash hazard conditions without humans in the room.</a:t>
            </a:r>
          </a:p>
        </p:txBody>
      </p:sp>
      <p:sp>
        <p:nvSpPr>
          <p:cNvPr id="9" name="Rounded Rectangle 8"/>
          <p:cNvSpPr/>
          <p:nvPr/>
        </p:nvSpPr>
        <p:spPr>
          <a:xfrm>
            <a:off x="6227064"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874520"/>
            <a:ext cx="4773168" cy="1828800"/>
          </a:xfrm>
          <a:prstGeom prst="rect">
            <a:avLst/>
          </a:prstGeom>
          <a:noFill/>
        </p:spPr>
        <p:txBody>
          <a:bodyPr wrap="square" lIns="0" rIns="0" tIns="0" bIns="0">
            <a:spAutoFit/>
          </a:bodyPr>
          <a:lstStyle/>
          <a:p>
            <a:pPr>
              <a:defRPr sz="850" b="1">
                <a:solidFill>
                  <a:srgbClr val="34D399"/>
                </a:solidFill>
              </a:defRPr>
            </a:pPr>
            <a:r>
              <a:t>CASE 02  |  PRODUCTIVITY &amp; MACHINE SAFETY</a:t>
            </a:r>
          </a:p>
          <a:p>
            <a:pPr>
              <a:spcBef>
                <a:spcPts val="300"/>
              </a:spcBef>
              <a:spcAft>
                <a:spcPts val="600"/>
              </a:spcAft>
              <a:defRPr sz="1300" b="1">
                <a:solidFill>
                  <a:srgbClr val="FFFFFF"/>
                </a:solidFill>
              </a:defRPr>
            </a:pPr>
            <a:r>
              <a:t>Productivity &amp; Machine Safety (CNC Load Reduction)</a:t>
            </a:r>
          </a:p>
          <a:p>
            <a:pPr>
              <a:defRPr sz="1000">
                <a:solidFill>
                  <a:srgbClr val="F1F5F9"/>
                </a:solidFill>
              </a:defRPr>
            </a:pPr>
            <a:r>
              <a:t>When TerraAI detects high vibration on CNC machines, TerraEmbodiment automatically modulates PLC feed rates to prevent tool breakage.</a:t>
            </a:r>
          </a:p>
        </p:txBody>
      </p:sp>
      <p:sp>
        <p:nvSpPr>
          <p:cNvPr id="11" name="Rounded Rectangle 10"/>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773168" cy="1828800"/>
          </a:xfrm>
          <a:prstGeom prst="rect">
            <a:avLst/>
          </a:prstGeom>
          <a:noFill/>
        </p:spPr>
        <p:txBody>
          <a:bodyPr wrap="square" lIns="0" rIns="0" tIns="0" bIns="0">
            <a:spAutoFit/>
          </a:bodyPr>
          <a:lstStyle/>
          <a:p>
            <a:pPr>
              <a:defRPr sz="850" b="1">
                <a:solidFill>
                  <a:srgbClr val="34D399"/>
                </a:solidFill>
              </a:defRPr>
            </a:pPr>
            <a:r>
              <a:t>CASE 03  |  QA &amp; AUTONOMOUS ROBOTIC INSPECTION</a:t>
            </a:r>
          </a:p>
          <a:p>
            <a:pPr>
              <a:spcBef>
                <a:spcPts val="300"/>
              </a:spcBef>
              <a:spcAft>
                <a:spcPts val="600"/>
              </a:spcAft>
              <a:defRPr sz="1300" b="1">
                <a:solidFill>
                  <a:srgbClr val="FFFFFF"/>
                </a:solidFill>
              </a:defRPr>
            </a:pPr>
            <a:r>
              <a:t>QA &amp; Autonomous Robotic Inspection</a:t>
            </a:r>
          </a:p>
          <a:p>
            <a:pPr>
              <a:defRPr sz="1000">
                <a:solidFill>
                  <a:srgbClr val="F1F5F9"/>
                </a:solidFill>
              </a:defRPr>
            </a:pPr>
            <a:r>
              <a:t>Dispatches autonomous robotic crawlers and thermal drones to wash solar panels and locate hot spots without manual workers.</a:t>
            </a:r>
          </a:p>
        </p:txBody>
      </p:sp>
      <p:sp>
        <p:nvSpPr>
          <p:cNvPr id="13" name="Rounded Rectangle 12"/>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4297680"/>
            <a:ext cx="4773168" cy="1828800"/>
          </a:xfrm>
          <a:prstGeom prst="rect">
            <a:avLst/>
          </a:prstGeom>
          <a:noFill/>
        </p:spPr>
        <p:txBody>
          <a:bodyPr wrap="square" lIns="0" rIns="0" tIns="0" bIns="0">
            <a:spAutoFit/>
          </a:bodyPr>
          <a:lstStyle/>
          <a:p>
            <a:pPr>
              <a:defRPr sz="850" b="1">
                <a:solidFill>
                  <a:srgbClr val="34D399"/>
                </a:solidFill>
              </a:defRPr>
            </a:pPr>
            <a:r>
              <a:t>CASE 04  |  EFFICIENCY</a:t>
            </a:r>
          </a:p>
          <a:p>
            <a:pPr>
              <a:spcBef>
                <a:spcPts val="300"/>
              </a:spcBef>
              <a:spcAft>
                <a:spcPts val="600"/>
              </a:spcAft>
              <a:defRPr sz="1300" b="1">
                <a:solidFill>
                  <a:srgbClr val="FFFFFF"/>
                </a:solidFill>
              </a:defRPr>
            </a:pPr>
            <a:r>
              <a:t>Efficiency (High-Speed Valve Modulation)</a:t>
            </a:r>
          </a:p>
          <a:p>
            <a:pPr>
              <a:defRPr sz="1000">
                <a:solidFill>
                  <a:srgbClr val="F1F5F9"/>
                </a:solidFill>
              </a:defRPr>
            </a:pPr>
            <a:r>
              <a:t>Directly modulates thermal injection valves and high-pressure pumps to suppress water hammer transients.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TERRAEMBODIMENT  |  ARCHITECTURAL CONTRAST</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Comparison with Traditional SCADA / Legacy Systems</a:t>
            </a:r>
          </a:p>
          <a:p>
            <a:pPr>
              <a:spcBef>
                <a:spcPts val="300"/>
              </a:spcBef>
              <a:defRPr sz="1050">
                <a:solidFill>
                  <a:srgbClr val="94A3B8"/>
                </a:solidFill>
              </a:defRPr>
            </a:pPr>
            <a:r>
              <a:t>Point-by-point contrast demonstrating the technological shift from legacy industrial automation to the Terrestrial Platform.</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502920"/>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4937760" cy="320040"/>
          </a:xfrm>
          <a:prstGeom prst="rect">
            <a:avLst/>
          </a:prstGeom>
          <a:noFill/>
        </p:spPr>
        <p:txBody>
          <a:bodyPr wrap="none">
            <a:spAutoFit/>
          </a:bodyPr>
          <a:lstStyle/>
          <a:p>
            <a:pPr>
              <a:defRPr sz="1100" b="1">
                <a:solidFill>
                  <a:srgbClr val="EF4444"/>
                </a:solidFill>
              </a:defRPr>
            </a:pPr>
            <a:r>
              <a:t>TRADITIONAL LEGACY SYSTEMS / SILOED SCADA</a:t>
            </a:r>
          </a:p>
        </p:txBody>
      </p:sp>
      <p:sp>
        <p:nvSpPr>
          <p:cNvPr id="9" name="Rounded Rectangle 8"/>
          <p:cNvSpPr/>
          <p:nvPr/>
        </p:nvSpPr>
        <p:spPr>
          <a:xfrm>
            <a:off x="6227064" y="1691640"/>
            <a:ext cx="5230368" cy="502920"/>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83080"/>
            <a:ext cx="4937760" cy="320040"/>
          </a:xfrm>
          <a:prstGeom prst="rect">
            <a:avLst/>
          </a:prstGeom>
          <a:noFill/>
        </p:spPr>
        <p:txBody>
          <a:bodyPr wrap="none">
            <a:spAutoFit/>
          </a:bodyPr>
          <a:lstStyle/>
          <a:p>
            <a:pPr>
              <a:defRPr sz="1100" b="1">
                <a:solidFill>
                  <a:srgbClr val="38BDF8"/>
                </a:solidFill>
              </a:defRPr>
            </a:pPr>
            <a:r>
              <a:t>TERRAEMBODIMENT TERRESTRIAL PLATFORM ADVANTAGE</a:t>
            </a:r>
          </a:p>
        </p:txBody>
      </p:sp>
      <p:sp>
        <p:nvSpPr>
          <p:cNvPr id="11" name="Rounded Rectangle 10"/>
          <p:cNvSpPr/>
          <p:nvPr/>
        </p:nvSpPr>
        <p:spPr>
          <a:xfrm>
            <a:off x="731520" y="2286000"/>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359152"/>
            <a:ext cx="4956048" cy="1152144"/>
          </a:xfrm>
          <a:prstGeom prst="rect">
            <a:avLst/>
          </a:prstGeom>
          <a:noFill/>
        </p:spPr>
        <p:txBody>
          <a:bodyPr wrap="square" lIns="0" rIns="0" tIns="0" bIns="0">
            <a:spAutoFit/>
          </a:bodyPr>
          <a:lstStyle/>
          <a:p>
            <a:pPr>
              <a:defRPr sz="1000">
                <a:solidFill>
                  <a:srgbClr val="F1F5F9"/>
                </a:solidFill>
              </a:defRPr>
            </a:pPr>
            <a:r>
              <a:t>AI systems only provide advisory charts; human technicians must physically walk to switchgear to turn knobs or trip breakers.</a:t>
            </a:r>
          </a:p>
        </p:txBody>
      </p:sp>
      <p:sp>
        <p:nvSpPr>
          <p:cNvPr id="13" name="Rounded Rectangle 12"/>
          <p:cNvSpPr/>
          <p:nvPr/>
        </p:nvSpPr>
        <p:spPr>
          <a:xfrm>
            <a:off x="6227064" y="2286000"/>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2359152"/>
            <a:ext cx="4956048" cy="1152144"/>
          </a:xfrm>
          <a:prstGeom prst="rect">
            <a:avLst/>
          </a:prstGeom>
          <a:noFill/>
        </p:spPr>
        <p:txBody>
          <a:bodyPr wrap="square" lIns="0" rIns="0" tIns="0" bIns="0">
            <a:spAutoFit/>
          </a:bodyPr>
          <a:lstStyle/>
          <a:p>
            <a:pPr>
              <a:defRPr sz="1000" b="1">
                <a:solidFill>
                  <a:srgbClr val="34D399"/>
                </a:solidFill>
              </a:defRPr>
            </a:pPr>
            <a:r>
              <a:t>Closed-loop, deterministic execution straight to industrial bus controllers with microsecond safety boundaries.</a:t>
            </a:r>
          </a:p>
        </p:txBody>
      </p:sp>
      <p:sp>
        <p:nvSpPr>
          <p:cNvPr id="15" name="Rounded Rectangle 14"/>
          <p:cNvSpPr/>
          <p:nvPr/>
        </p:nvSpPr>
        <p:spPr>
          <a:xfrm>
            <a:off x="731520" y="3694176"/>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767328"/>
            <a:ext cx="4956048" cy="1152144"/>
          </a:xfrm>
          <a:prstGeom prst="rect">
            <a:avLst/>
          </a:prstGeom>
          <a:noFill/>
        </p:spPr>
        <p:txBody>
          <a:bodyPr wrap="square" lIns="0" rIns="0" tIns="0" bIns="0">
            <a:spAutoFit/>
          </a:bodyPr>
          <a:lstStyle/>
          <a:p>
            <a:pPr>
              <a:defRPr sz="1000">
                <a:solidFill>
                  <a:srgbClr val="F1F5F9"/>
                </a:solidFill>
              </a:defRPr>
            </a:pPr>
            <a:r>
              <a:t>Fragile cloud-dependent automation that fails whenever plant internet or WAN connectivity drops.</a:t>
            </a:r>
          </a:p>
        </p:txBody>
      </p:sp>
      <p:sp>
        <p:nvSpPr>
          <p:cNvPr id="17" name="Rounded Rectangle 16"/>
          <p:cNvSpPr/>
          <p:nvPr/>
        </p:nvSpPr>
        <p:spPr>
          <a:xfrm>
            <a:off x="6227064" y="3694176"/>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3767328"/>
            <a:ext cx="4956048" cy="1152144"/>
          </a:xfrm>
          <a:prstGeom prst="rect">
            <a:avLst/>
          </a:prstGeom>
          <a:noFill/>
        </p:spPr>
        <p:txBody>
          <a:bodyPr wrap="square" lIns="0" rIns="0" tIns="0" bIns="0">
            <a:spAutoFit/>
          </a:bodyPr>
          <a:lstStyle/>
          <a:p>
            <a:pPr>
              <a:defRPr sz="1000" b="1">
                <a:solidFill>
                  <a:srgbClr val="34D399"/>
                </a:solidFill>
              </a:defRPr>
            </a:pPr>
            <a:r>
              <a:t>Edge-native microservices that continue autonomous local execution even during total WAN blackout.</a:t>
            </a:r>
          </a:p>
        </p:txBody>
      </p:sp>
      <p:sp>
        <p:nvSpPr>
          <p:cNvPr id="19" name="Rounded Rectangle 18"/>
          <p:cNvSpPr/>
          <p:nvPr/>
        </p:nvSpPr>
        <p:spPr>
          <a:xfrm>
            <a:off x="731520" y="5102352"/>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175504"/>
            <a:ext cx="4956048" cy="1152144"/>
          </a:xfrm>
          <a:prstGeom prst="rect">
            <a:avLst/>
          </a:prstGeom>
          <a:noFill/>
        </p:spPr>
        <p:txBody>
          <a:bodyPr wrap="square" lIns="0" rIns="0" tIns="0" bIns="0">
            <a:spAutoFit/>
          </a:bodyPr>
          <a:lstStyle/>
          <a:p>
            <a:pPr>
              <a:defRPr sz="1000">
                <a:solidFill>
                  <a:srgbClr val="F1F5F9"/>
                </a:solidFill>
              </a:defRPr>
            </a:pPr>
            <a:r>
              <a:t>Manual visual inspections requiring staff to climb tall boilers, flare stacks, or live switchyards.</a:t>
            </a:r>
          </a:p>
        </p:txBody>
      </p:sp>
      <p:sp>
        <p:nvSpPr>
          <p:cNvPr id="21" name="Rounded Rectangle 20"/>
          <p:cNvSpPr/>
          <p:nvPr/>
        </p:nvSpPr>
        <p:spPr>
          <a:xfrm>
            <a:off x="6227064" y="5102352"/>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5175504"/>
            <a:ext cx="4956048" cy="1152144"/>
          </a:xfrm>
          <a:prstGeom prst="rect">
            <a:avLst/>
          </a:prstGeom>
          <a:noFill/>
        </p:spPr>
        <p:txBody>
          <a:bodyPr wrap="square" lIns="0" rIns="0" tIns="0" bIns="0">
            <a:spAutoFit/>
          </a:bodyPr>
          <a:lstStyle/>
          <a:p>
            <a:pPr>
              <a:defRPr sz="1000" b="1">
                <a:solidFill>
                  <a:srgbClr val="34D399"/>
                </a:solidFill>
              </a:defRPr>
            </a:pPr>
            <a:r>
              <a:t>Automated dispatch of autonomous UAVs and tracked robots with real-time waypoint guidance.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TERRAEMBODIMENT  |  SYSTEM ARCHITECTURE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End-to-End System Diagram &amp; Data Pipeline</a:t>
            </a:r>
          </a:p>
          <a:p>
            <a:pPr>
              <a:spcBef>
                <a:spcPts val="300"/>
              </a:spcBef>
              <a:defRPr sz="1050">
                <a:solidFill>
                  <a:srgbClr val="94A3B8"/>
                </a:solidFill>
              </a:defRPr>
            </a:pPr>
            <a:r>
              <a:t>Visual architecture diagram representing field telemetry ingestion, deterministic edge fabric, AI reasoning, and closed-loop actuation.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856232"/>
            <a:ext cx="2185416" cy="3282696"/>
          </a:xfrm>
          <a:prstGeom prst="rect">
            <a:avLst/>
          </a:prstGeom>
          <a:noFill/>
        </p:spPr>
        <p:txBody>
          <a:bodyPr wrap="square" lIns="0" rIns="0" tIns="0" bIns="0">
            <a:spAutoFit/>
          </a:bodyPr>
          <a:lstStyle/>
          <a:p>
            <a:pPr>
              <a:defRPr sz="850" b="1">
                <a:solidFill>
                  <a:srgbClr val="38BDF8"/>
                </a:solidFill>
              </a:defRPr>
            </a:pPr>
            <a:r>
              <a:t>LAYER 01</a:t>
            </a:r>
          </a:p>
          <a:p>
            <a:pPr>
              <a:spcBef>
                <a:spcPts val="300"/>
              </a:spcBef>
              <a:spcAft>
                <a:spcPts val="600"/>
              </a:spcAft>
              <a:defRPr sz="1200" b="1">
                <a:solidFill>
                  <a:srgbClr val="FFFFFF"/>
                </a:solidFill>
              </a:defRPr>
            </a:pPr>
            <a:r>
              <a:t>Spatial LiDAR &amp; Robot Ingestion</a:t>
            </a:r>
          </a:p>
          <a:p>
            <a:pPr>
              <a:spcAft>
                <a:spcPts val="800"/>
              </a:spcAft>
              <a:defRPr sz="900">
                <a:solidFill>
                  <a:srgbClr val="F1F5F9"/>
                </a:solidFill>
              </a:defRPr>
            </a:pPr>
            <a:r>
              <a:t>High-bandwidth sensory acquisition aggregating 2D/3D LiDAR point clouds, depth cameras, joint servo encoders, and IMU inertial sensors.</a:t>
            </a:r>
          </a:p>
          <a:p>
            <a:pPr>
              <a:spcBef>
                <a:spcPts val="400"/>
              </a:spcBef>
              <a:defRPr sz="800" b="1">
                <a:solidFill>
                  <a:srgbClr val="94A3B8"/>
                </a:solidFill>
              </a:defRPr>
            </a:pPr>
            <a:r>
              <a:t>PROTOCOLS &amp; STANDARDS:</a:t>
            </a:r>
          </a:p>
          <a:p>
            <a:pPr>
              <a:spcBef>
                <a:spcPts val="200"/>
              </a:spcBef>
              <a:defRPr sz="850">
                <a:solidFill>
                  <a:srgbClr val="34D399"/>
                </a:solidFill>
              </a:defRPr>
            </a:pPr>
            <a:r>
              <a:t> • ROS2 / DDS Protocol</a:t>
            </a:r>
            <a:br/>
            <a:r>
              <a:t> • CANopen / EtherCAT</a:t>
            </a:r>
            <a:br/>
            <a:r>
              <a:t> • Safety LiDAR Bus</a:t>
            </a:r>
          </a:p>
        </p:txBody>
      </p:sp>
      <p:sp>
        <p:nvSpPr>
          <p:cNvPr id="9" name="Rounded Rectangle 8"/>
          <p:cNvSpPr/>
          <p:nvPr/>
        </p:nvSpPr>
        <p:spPr>
          <a:xfrm>
            <a:off x="3465576"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1856232"/>
            <a:ext cx="2185416" cy="3282696"/>
          </a:xfrm>
          <a:prstGeom prst="rect">
            <a:avLst/>
          </a:prstGeom>
          <a:noFill/>
        </p:spPr>
        <p:txBody>
          <a:bodyPr wrap="square" lIns="0" rIns="0" tIns="0" bIns="0">
            <a:spAutoFit/>
          </a:bodyPr>
          <a:lstStyle/>
          <a:p>
            <a:pPr>
              <a:defRPr sz="850" b="1">
                <a:solidFill>
                  <a:srgbClr val="38BDF8"/>
                </a:solidFill>
              </a:defRPr>
            </a:pPr>
            <a:r>
              <a:t>LAYER 02</a:t>
            </a:r>
          </a:p>
          <a:p>
            <a:pPr>
              <a:spcBef>
                <a:spcPts val="300"/>
              </a:spcBef>
              <a:spcAft>
                <a:spcPts val="600"/>
              </a:spcAft>
              <a:defRPr sz="1200" b="1">
                <a:solidFill>
                  <a:srgbClr val="FFFFFF"/>
                </a:solidFill>
              </a:defRPr>
            </a:pPr>
            <a:r>
              <a:t>Deterministic Robotic Fabric</a:t>
            </a:r>
          </a:p>
          <a:p>
            <a:pPr>
              <a:spcAft>
                <a:spcPts val="800"/>
              </a:spcAft>
              <a:defRPr sz="900">
                <a:solidFill>
                  <a:srgbClr val="F1F5F9"/>
                </a:solidFill>
              </a:defRPr>
            </a:pPr>
            <a:r>
              <a:t>Sub-5ms spatial point cloud filtering, real-time wheel odometry synchronization, and collision exclusion zone monitoring.</a:t>
            </a:r>
          </a:p>
          <a:p>
            <a:pPr>
              <a:spcBef>
                <a:spcPts val="400"/>
              </a:spcBef>
              <a:defRPr sz="800" b="1">
                <a:solidFill>
                  <a:srgbClr val="94A3B8"/>
                </a:solidFill>
              </a:defRPr>
            </a:pPr>
            <a:r>
              <a:t>PROTOCOLS &amp; STANDARDS:</a:t>
            </a:r>
          </a:p>
          <a:p>
            <a:pPr>
              <a:spcBef>
                <a:spcPts val="200"/>
              </a:spcBef>
              <a:defRPr sz="850">
                <a:solidFill>
                  <a:srgbClr val="34D399"/>
                </a:solidFill>
              </a:defRPr>
            </a:pPr>
            <a:r>
              <a:t> • Deterministic DDS Bus</a:t>
            </a:r>
            <a:br/>
            <a:r>
              <a:t> • LiDAR Point-Cloud Stream</a:t>
            </a:r>
            <a:br/>
            <a:r>
              <a:t> • Sub-5ms Edge Fabric</a:t>
            </a:r>
          </a:p>
        </p:txBody>
      </p:sp>
      <p:sp>
        <p:nvSpPr>
          <p:cNvPr id="11" name="Rounded Rectangle 10"/>
          <p:cNvSpPr/>
          <p:nvPr/>
        </p:nvSpPr>
        <p:spPr>
          <a:xfrm>
            <a:off x="6199632"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856232"/>
            <a:ext cx="2185416" cy="3282696"/>
          </a:xfrm>
          <a:prstGeom prst="rect">
            <a:avLst/>
          </a:prstGeom>
          <a:noFill/>
        </p:spPr>
        <p:txBody>
          <a:bodyPr wrap="square" lIns="0" rIns="0" tIns="0" bIns="0">
            <a:spAutoFit/>
          </a:bodyPr>
          <a:lstStyle/>
          <a:p>
            <a:pPr>
              <a:defRPr sz="850" b="1">
                <a:solidFill>
                  <a:srgbClr val="38BDF8"/>
                </a:solidFill>
              </a:defRPr>
            </a:pPr>
            <a:r>
              <a:t>LAYER 03</a:t>
            </a:r>
          </a:p>
          <a:p>
            <a:pPr>
              <a:spcBef>
                <a:spcPts val="300"/>
              </a:spcBef>
              <a:spcAft>
                <a:spcPts val="600"/>
              </a:spcAft>
              <a:defRPr sz="1200" b="1">
                <a:solidFill>
                  <a:srgbClr val="FFFFFF"/>
                </a:solidFill>
              </a:defRPr>
            </a:pPr>
            <a:r>
              <a:t>Spatial SLAM &amp; Fleet Planner</a:t>
            </a:r>
          </a:p>
          <a:p>
            <a:pPr>
              <a:spcAft>
                <a:spcPts val="800"/>
              </a:spcAft>
              <a:defRPr sz="900">
                <a:solidFill>
                  <a:srgbClr val="F1F5F9"/>
                </a:solidFill>
              </a:defRPr>
            </a:pPr>
            <a:r>
              <a:t>Multi-agent cooperative SLAM, dynamic obstacle avoidance, warehouse traffic deadlock resolution, and robotic 6-axis inverse kinematics.</a:t>
            </a:r>
          </a:p>
          <a:p>
            <a:pPr>
              <a:spcBef>
                <a:spcPts val="400"/>
              </a:spcBef>
              <a:defRPr sz="800" b="1">
                <a:solidFill>
                  <a:srgbClr val="94A3B8"/>
                </a:solidFill>
              </a:defRPr>
            </a:pPr>
            <a:r>
              <a:t>PROTOCOLS &amp; STANDARDS:</a:t>
            </a:r>
          </a:p>
          <a:p>
            <a:pPr>
              <a:spcBef>
                <a:spcPts val="200"/>
              </a:spcBef>
              <a:defRPr sz="850">
                <a:solidFill>
                  <a:srgbClr val="34D399"/>
                </a:solidFill>
              </a:defRPr>
            </a:pPr>
            <a:r>
              <a:t> • Dynamic SLAM AI</a:t>
            </a:r>
            <a:br/>
            <a:r>
              <a:t> • Fleet Path Planner</a:t>
            </a:r>
            <a:br/>
            <a:r>
              <a:t> • Inverse Kinematics</a:t>
            </a:r>
          </a:p>
        </p:txBody>
      </p:sp>
      <p:sp>
        <p:nvSpPr>
          <p:cNvPr id="13" name="Rounded Rectangle 12"/>
          <p:cNvSpPr/>
          <p:nvPr/>
        </p:nvSpPr>
        <p:spPr>
          <a:xfrm>
            <a:off x="8933688"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856232"/>
            <a:ext cx="2185416" cy="3282696"/>
          </a:xfrm>
          <a:prstGeom prst="rect">
            <a:avLst/>
          </a:prstGeom>
          <a:noFill/>
        </p:spPr>
        <p:txBody>
          <a:bodyPr wrap="square" lIns="0" rIns="0" tIns="0" bIns="0">
            <a:spAutoFit/>
          </a:bodyPr>
          <a:lstStyle/>
          <a:p>
            <a:pPr>
              <a:defRPr sz="850" b="1">
                <a:solidFill>
                  <a:srgbClr val="38BDF8"/>
                </a:solidFill>
              </a:defRPr>
            </a:pPr>
            <a:r>
              <a:t>LAYER 04</a:t>
            </a:r>
          </a:p>
          <a:p>
            <a:pPr>
              <a:spcBef>
                <a:spcPts val="300"/>
              </a:spcBef>
              <a:spcAft>
                <a:spcPts val="600"/>
              </a:spcAft>
              <a:defRPr sz="1200" b="1">
                <a:solidFill>
                  <a:srgbClr val="FFFFFF"/>
                </a:solidFill>
              </a:defRPr>
            </a:pPr>
            <a:r>
              <a:t>Fleet Teleoperation Cockpit</a:t>
            </a:r>
          </a:p>
          <a:p>
            <a:pPr>
              <a:spcAft>
                <a:spcPts val="800"/>
              </a:spcAft>
              <a:defRPr sz="900">
                <a:solidFill>
                  <a:srgbClr val="F1F5F9"/>
                </a:solidFill>
              </a:defRPr>
            </a:pPr>
            <a:r>
              <a:t>Closed-loop AMR velocity drive execution, 6-axis joint torque commands, automatic dock opportunity charging, and ANSI/ISA-101 fleet consoles.</a:t>
            </a:r>
          </a:p>
          <a:p>
            <a:pPr>
              <a:spcBef>
                <a:spcPts val="400"/>
              </a:spcBef>
              <a:defRPr sz="800" b="1">
                <a:solidFill>
                  <a:srgbClr val="94A3B8"/>
                </a:solidFill>
              </a:defRPr>
            </a:pPr>
            <a:r>
              <a:t>PROTOCOLS &amp; STANDARDS:</a:t>
            </a:r>
          </a:p>
          <a:p>
            <a:pPr>
              <a:spcBef>
                <a:spcPts val="200"/>
              </a:spcBef>
              <a:defRPr sz="850">
                <a:solidFill>
                  <a:srgbClr val="34D399"/>
                </a:solidFill>
              </a:defRPr>
            </a:pPr>
            <a:r>
              <a:t> • Drive Velocity Dispatch</a:t>
            </a:r>
            <a:br/>
            <a:r>
              <a:t> • Servo Torque Control</a:t>
            </a:r>
            <a:br/>
            <a:r>
              <a:t> • ISA-101 Robot Cockpit</a:t>
            </a:r>
          </a:p>
        </p:txBody>
      </p:sp>
      <p:sp>
        <p:nvSpPr>
          <p:cNvPr id="15" name="Rounded Rectangle 14"/>
          <p:cNvSpPr/>
          <p:nvPr/>
        </p:nvSpPr>
        <p:spPr>
          <a:xfrm>
            <a:off x="731520" y="5486400"/>
            <a:ext cx="10728655" cy="8686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596128"/>
            <a:ext cx="10241280" cy="640080"/>
          </a:xfrm>
          <a:prstGeom prst="rect">
            <a:avLst/>
          </a:prstGeom>
          <a:noFill/>
        </p:spPr>
        <p:txBody>
          <a:bodyPr wrap="square" lIns="0" rIns="0" tIns="0" bIns="0">
            <a:spAutoFit/>
          </a:bodyPr>
          <a:lstStyle/>
          <a:p>
            <a:pPr>
              <a:defRPr sz="850" b="1">
                <a:solidFill>
                  <a:srgbClr val="38BDF8"/>
                </a:solidFill>
              </a:defRPr>
            </a:pPr>
            <a:r>
              <a:t>UNIFIED DATA PIPELINE FLOW</a:t>
            </a:r>
          </a:p>
          <a:p>
            <a:pPr>
              <a:spcBef>
                <a:spcPts val="200"/>
              </a:spcBef>
              <a:defRPr sz="950" b="1">
                <a:solidFill>
                  <a:srgbClr val="FFFFFF"/>
                </a:solidFill>
              </a:defRPr>
            </a:pPr>
            <a:r>
              <a:t>LiDAR &amp; Joint Encoder Telemetry ➔ Deterministic ROS2/DDS Fabric ➔ Multi-Agent Spatial SLAM &amp; Path Planning ➔ Closed-Loop Drive &amp; Servo Actuation (&lt; 5ms)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TERRAEMBODIMENT  |  DEPLOYMENT &amp; SI VALUE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System Integrator Deployment Framework &amp; Commercial Model</a:t>
            </a:r>
          </a:p>
          <a:p>
            <a:pPr>
              <a:spcBef>
                <a:spcPts val="300"/>
              </a:spcBef>
              <a:defRPr sz="1050">
                <a:solidFill>
                  <a:srgbClr val="94A3B8"/>
                </a:solidFill>
              </a:defRPr>
            </a:pPr>
            <a:r>
              <a:t>Zero rip-and-replace turnkey onboarding with recurring enterprise margins and co-selling enablement.</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56232"/>
            <a:ext cx="3063240" cy="2322576"/>
          </a:xfrm>
          <a:prstGeom prst="rect">
            <a:avLst/>
          </a:prstGeom>
          <a:noFill/>
        </p:spPr>
        <p:txBody>
          <a:bodyPr wrap="square" lIns="0" rIns="0" tIns="0" bIns="0">
            <a:spAutoFit/>
          </a:bodyPr>
          <a:lstStyle/>
          <a:p>
            <a:pPr>
              <a:defRPr sz="850" b="1">
                <a:solidFill>
                  <a:srgbClr val="38BDF8"/>
                </a:solidFill>
              </a:defRPr>
            </a:pPr>
            <a:r>
              <a:t>PHASE 01 | CONNECTIVITY &amp; AUDIT</a:t>
            </a:r>
          </a:p>
          <a:p>
            <a:pPr>
              <a:spcBef>
                <a:spcPts val="300"/>
              </a:spcBef>
              <a:spcAft>
                <a:spcPts val="600"/>
              </a:spcAft>
              <a:defRPr sz="1200" b="1">
                <a:solidFill>
                  <a:srgbClr val="FFFFFF"/>
                </a:solidFill>
              </a:defRPr>
            </a:pPr>
            <a:r>
              <a:t>Zero Rip-and-Replace Onboarding</a:t>
            </a:r>
          </a:p>
          <a:p>
            <a:pPr>
              <a:defRPr sz="950">
                <a:solidFill>
                  <a:srgbClr val="F1F5F9"/>
                </a:solidFill>
              </a:defRPr>
            </a:pPr>
            <a:r>
              <a:t>Non-intrusive protocol discovery across field PLCs, RTUs, and historians. Plug-and-play mapping of tags into the unified TPIM semantic namespace without stopping ongoing plant production.</a:t>
            </a:r>
          </a:p>
        </p:txBody>
      </p:sp>
      <p:sp>
        <p:nvSpPr>
          <p:cNvPr id="9" name="Rounded Rectangle 8"/>
          <p:cNvSpPr/>
          <p:nvPr/>
        </p:nvSpPr>
        <p:spPr>
          <a:xfrm>
            <a:off x="4379976"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56232"/>
            <a:ext cx="3063240" cy="2322576"/>
          </a:xfrm>
          <a:prstGeom prst="rect">
            <a:avLst/>
          </a:prstGeom>
          <a:noFill/>
        </p:spPr>
        <p:txBody>
          <a:bodyPr wrap="square" lIns="0" rIns="0" tIns="0" bIns="0">
            <a:spAutoFit/>
          </a:bodyPr>
          <a:lstStyle/>
          <a:p>
            <a:pPr>
              <a:defRPr sz="850" b="1">
                <a:solidFill>
                  <a:srgbClr val="38BDF8"/>
                </a:solidFill>
              </a:defRPr>
            </a:pPr>
            <a:r>
              <a:t>PHASE 02 | TWIN CALIBRATION</a:t>
            </a:r>
          </a:p>
          <a:p>
            <a:pPr>
              <a:spcBef>
                <a:spcPts val="300"/>
              </a:spcBef>
              <a:spcAft>
                <a:spcPts val="600"/>
              </a:spcAft>
              <a:defRPr sz="1200" b="1">
                <a:solidFill>
                  <a:srgbClr val="FFFFFF"/>
                </a:solidFill>
              </a:defRPr>
            </a:pPr>
            <a:r>
              <a:t>Physics-Model Synchronization</a:t>
            </a:r>
          </a:p>
          <a:p>
            <a:pPr>
              <a:defRPr sz="950">
                <a:solidFill>
                  <a:srgbClr val="F1F5F9"/>
                </a:solidFill>
              </a:defRPr>
            </a:pPr>
            <a:r>
              <a:t>Deploy high-frequency Edge Gateway on premise. Calibrate first-principles thermodynamic and kinematic models against historical telemetry to achieve 99.4%+ deterministic accuracy.</a:t>
            </a:r>
          </a:p>
        </p:txBody>
      </p:sp>
      <p:sp>
        <p:nvSpPr>
          <p:cNvPr id="11" name="Rounded Rectangle 10"/>
          <p:cNvSpPr/>
          <p:nvPr/>
        </p:nvSpPr>
        <p:spPr>
          <a:xfrm>
            <a:off x="8028432"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56232"/>
            <a:ext cx="3063240" cy="2322576"/>
          </a:xfrm>
          <a:prstGeom prst="rect">
            <a:avLst/>
          </a:prstGeom>
          <a:noFill/>
        </p:spPr>
        <p:txBody>
          <a:bodyPr wrap="square" lIns="0" rIns="0" tIns="0" bIns="0">
            <a:spAutoFit/>
          </a:bodyPr>
          <a:lstStyle/>
          <a:p>
            <a:pPr>
              <a:defRPr sz="850" b="1">
                <a:solidFill>
                  <a:srgbClr val="38BDF8"/>
                </a:solidFill>
              </a:defRPr>
            </a:pPr>
            <a:r>
              <a:t>PHASE 03 | AUTONOMOUS GO-LIVE</a:t>
            </a:r>
          </a:p>
          <a:p>
            <a:pPr>
              <a:spcBef>
                <a:spcPts val="300"/>
              </a:spcBef>
              <a:spcAft>
                <a:spcPts val="600"/>
              </a:spcAft>
              <a:defRPr sz="1200" b="1">
                <a:solidFill>
                  <a:srgbClr val="FFFFFF"/>
                </a:solidFill>
              </a:defRPr>
            </a:pPr>
            <a:r>
              <a:t>Closed-Loop Setpoint Actuation</a:t>
            </a:r>
          </a:p>
          <a:p>
            <a:pPr>
              <a:defRPr sz="950">
                <a:solidFill>
                  <a:srgbClr val="F1F5F9"/>
                </a:solidFill>
              </a:defRPr>
            </a:pPr>
            <a:r>
              <a:t>Supervisory closed-loop setpoint dispatch with bumpless transfer. Comprehensive ISA-101 verified cockpit handoff with continuous SI recurring monitoring and support tiers.</a:t>
            </a:r>
          </a:p>
        </p:txBody>
      </p:sp>
      <p:sp>
        <p:nvSpPr>
          <p:cNvPr id="13" name="Rounded Rectangle 12"/>
          <p:cNvSpPr/>
          <p:nvPr/>
        </p:nvSpPr>
        <p:spPr>
          <a:xfrm>
            <a:off x="731520" y="4526280"/>
            <a:ext cx="10728655" cy="182880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663440"/>
            <a:ext cx="10241280" cy="1554480"/>
          </a:xfrm>
          <a:prstGeom prst="rect">
            <a:avLst/>
          </a:prstGeom>
          <a:noFill/>
        </p:spPr>
        <p:txBody>
          <a:bodyPr wrap="square" lIns="0" rIns="0" tIns="0" bIns="0">
            <a:spAutoFit/>
          </a:bodyPr>
          <a:lstStyle/>
          <a:p>
            <a:pPr>
              <a:defRPr sz="1000" b="1">
                <a:solidFill>
                  <a:srgbClr val="38BDF8"/>
                </a:solidFill>
              </a:defRPr>
            </a:pPr>
            <a:r>
              <a:t>COMMERCIAL VALUE PROPOSITION FOR SYSTEM INTEGRATORS (TERRAEMBODIMENT)</a:t>
            </a:r>
          </a:p>
          <a:p>
            <a:pPr>
              <a:spcBef>
                <a:spcPts val="300"/>
              </a:spcBef>
              <a:defRPr sz="950">
                <a:solidFill>
                  <a:srgbClr val="F1F5F9"/>
                </a:solidFill>
              </a:defRPr>
            </a:pPr>
            <a:r>
              <a:t>• High-Margin Software Recurring Revenue: Earn 25%–35% continuous recurring margin on every TerraEmbodiment software deployment, maintenance tier, and AI compute instance.</a:t>
            </a:r>
          </a:p>
          <a:p>
            <a:pPr>
              <a:spcBef>
                <a:spcPts val="300"/>
              </a:spcBef>
              <a:defRPr sz="950">
                <a:solidFill>
                  <a:srgbClr val="F1F5F9"/>
                </a:solidFill>
              </a:defRPr>
            </a:pPr>
            <a:r>
              <a:t>• Turnkey Engineering Velocity: Deploy within 7 to 14 days leveraging pre-trained neural networks and automated semantic tag mapping, avoiding expensive months-long custom PLC code rewrites.</a:t>
            </a:r>
          </a:p>
          <a:p>
            <a:pPr>
              <a:spcBef>
                <a:spcPts val="300"/>
              </a:spcBef>
              <a:defRPr sz="950">
                <a:solidFill>
                  <a:srgbClr val="F1F5F9"/>
                </a:solidFill>
              </a:defRPr>
            </a:pPr>
            <a:r>
              <a:t>• Enterprise Co-Selling &amp; Ecosystem: Access joint executive pipeline opportunities, certified engineering documentation, and board-level C-Suite presentation toolkits.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