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TERRAEMBODIMENT CATALOGUE  |  CONFIDENTIAL - AUTHORISED SYSTEM INTEGRATORS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00D4FF"/>
                </a:solidFill>
              </a:defRPr>
            </a:pPr>
            <a:r>
              <a:t>ENTERPRISE PRODUCT SPECIFICATION  |  AUTONOMOUS AI &amp; SWARMS</a:t>
            </a:r>
          </a:p>
          <a:p>
            <a:pPr>
              <a:spcAft>
                <a:spcPts val="600"/>
              </a:spcAft>
              <a:defRPr sz="4600" b="1">
                <a:solidFill>
                  <a:srgbClr val="FFFFFF"/>
                </a:solidFill>
              </a:defRPr>
            </a:pPr>
            <a:r>
              <a:t>TerraEmbodiment</a:t>
            </a:r>
          </a:p>
          <a:p>
            <a:pPr>
              <a:spcAft>
                <a:spcPts val="1200"/>
              </a:spcAft>
              <a:defRPr sz="1900" b="1">
                <a:solidFill>
                  <a:srgbClr val="F5C842"/>
                </a:solidFill>
              </a:defRPr>
            </a:pPr>
            <a:r>
              <a:t>Autonomous Ground-Floor Physical AI Actuation &amp; OT Edge Execution</a:t>
            </a:r>
          </a:p>
          <a:p>
            <a:pPr>
              <a:spcAft>
                <a:spcPts val="1200"/>
              </a:spcAft>
              <a:defRPr sz="1400">
                <a:solidFill>
                  <a:srgbClr val="C8D8F0"/>
                </a:solidFill>
              </a:defRPr>
            </a:pPr>
            <a:r>
              <a:t>Industrial Protocol: IEC 61850 GOOSE    |    Domain Architecture: Terrestrial Deterministic Edge Core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Autonomous Ground-Floor Physical AI Actuation &amp; OT Edge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663440"/>
            <a:ext cx="2523744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94A3B8"/>
                </a:solidFill>
              </a:defRPr>
            </a:pPr>
            <a:r>
              <a:t>SWARM DRONE LINK</a:t>
            </a:r>
          </a:p>
          <a:p>
            <a:pPr algn="ctr">
              <a:defRPr sz="1650" b="1">
                <a:solidFill>
                  <a:srgbClr val="00D4FF"/>
                </a:solidFill>
              </a:defRPr>
            </a:pPr>
            <a:r>
              <a:t>2.4/5.8 GHz Mesh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4663440"/>
            <a:ext cx="2523744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94A3B8"/>
                </a:solidFill>
              </a:defRPr>
            </a:pPr>
            <a:r>
              <a:t>AGV LOCALIZATION</a:t>
            </a:r>
          </a:p>
          <a:p>
            <a:pPr algn="ctr">
              <a:defRPr sz="1650" b="1">
                <a:solidFill>
                  <a:srgbClr val="00D4FF"/>
                </a:solidFill>
              </a:defRPr>
            </a:pPr>
            <a:r>
              <a:t>SLAM ±2.5cm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4663440"/>
            <a:ext cx="2523744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94A3B8"/>
                </a:solidFill>
              </a:defRPr>
            </a:pPr>
            <a:r>
              <a:t>SAFETY RATING</a:t>
            </a:r>
          </a:p>
          <a:p>
            <a:pPr algn="ctr">
              <a:defRPr sz="1650" b="1">
                <a:solidFill>
                  <a:srgbClr val="00D4FF"/>
                </a:solidFill>
              </a:defRPr>
            </a:pPr>
            <a:r>
              <a:t>SIL 2 / PL 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4663440"/>
            <a:ext cx="2523744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94A3B8"/>
                </a:solidFill>
              </a:defRPr>
            </a:pPr>
            <a:r>
              <a:t>CONTROL LATENCY</a:t>
            </a:r>
          </a:p>
          <a:p>
            <a:pPr algn="ctr">
              <a:defRPr sz="1650" b="1">
                <a:solidFill>
                  <a:srgbClr val="00D4FF"/>
                </a:solidFill>
              </a:defRPr>
            </a:pPr>
            <a:r>
              <a:t>8 ms Deterministic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TERRAEMBODIMENT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Core Functional Deliverables &amp; Architectural Pillars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TERRAEMBODIMENT CATALOGUE  |  CONFIDENTIAL - AUTHORISED SYSTEM INTEGRATORS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0D4FF"/>
                </a:solidFill>
              </a:defRPr>
            </a:pPr>
            <a:r>
              <a:t>PILLAR 01</a:t>
            </a:r>
          </a:p>
          <a:p>
            <a:pPr>
              <a:spcAft>
                <a:spcPts val="600"/>
              </a:spcAft>
              <a:defRPr sz="1650" b="1">
                <a:solidFill>
                  <a:srgbClr val="FFFFFF"/>
                </a:solidFill>
              </a:defRPr>
            </a:pPr>
            <a:r>
              <a:t>Direct OT Actuation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Sub-millisecond deterministic setpoint injection to industrial field controllers and PLCs.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48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0D4FF"/>
                </a:solidFill>
              </a:defRPr>
            </a:pPr>
            <a:r>
              <a:t>PILLAR 02</a:t>
            </a:r>
          </a:p>
          <a:p>
            <a:pPr>
              <a:spcAft>
                <a:spcPts val="600"/>
              </a:spcAft>
              <a:defRPr sz="1650" b="1">
                <a:solidFill>
                  <a:srgbClr val="FFFFFF"/>
                </a:solidFill>
              </a:defRPr>
            </a:pPr>
            <a:r>
              <a:t>Autonomous / Assisted Execution Modes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Configurable execution governance: from closed-loop autonomy to supervised operator sign-off.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69080"/>
            <a:ext cx="5212080" cy="2148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0D4FF"/>
                </a:solidFill>
              </a:defRPr>
            </a:pPr>
            <a:r>
              <a:t>PILLAR 03</a:t>
            </a:r>
          </a:p>
          <a:p>
            <a:pPr>
              <a:spcAft>
                <a:spcPts val="600"/>
              </a:spcAft>
              <a:defRPr sz="1650" b="1">
                <a:solidFill>
                  <a:srgbClr val="FFFFFF"/>
                </a:solidFill>
              </a:defRPr>
            </a:pPr>
            <a:r>
              <a:t>Edge-Native Microservices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High-reliability containerized runtime deployed directly on industrial edge IPC hardware.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069080"/>
            <a:ext cx="5212080" cy="2148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0D4FF"/>
                </a:solidFill>
              </a:defRPr>
            </a:pPr>
            <a:r>
              <a:t>PILLAR 04</a:t>
            </a:r>
          </a:p>
          <a:p>
            <a:pPr>
              <a:spcAft>
                <a:spcPts val="600"/>
              </a:spcAft>
              <a:defRPr sz="1650" b="1">
                <a:solidFill>
                  <a:srgbClr val="FFFFFF"/>
                </a:solidFill>
              </a:defRPr>
            </a:pPr>
            <a:r>
              <a:t>Robotics &amp; UAV Control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Direct mission dispatch and waypoint navigation for inspection drones and robotic crawlers.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TERRAEMBODIMENT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Field-Validated Operational Use Cases &amp; Quantifiable 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TERRAEMBODIMENT CATALOGUE  |  CONFIDENTIAL - AUTHORISED SYSTEM INTEGRATORS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01568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SAFETY &amp; REDUCED MANPOWER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Safety &amp; Reduced Manpower (Hazardous Switchgear Actuation)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Racks in/out 33kV circuit breakers and closes earth switches autonomously during arc flash hazard conditions without humans in the room.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1645920"/>
            <a:ext cx="3401568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PRODUCTIVITY &amp; MACHINE SAFETY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Productivity &amp; Machine Safety (CNC Load Reduction)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When TerraAI detects high vibration on CNC machines, TerraEmbodiment automatically modulates PLC feed rates to prevent tool breakage.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645920"/>
            <a:ext cx="3401568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QA &amp; AUTONOMOUS ROBOTIC INSPECTION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QA &amp; Autonomous Robotic Inspection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Dispatches autonomous robotic crawlers and thermal drones to wash solar panels and locate hot spots without manual workers.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TERRAEMBODIMENT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Competitive Advantage: Terrestrial Platform vs. Legacy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TERRAEMBODIMENT CATALOGUE  |  CONFIDENTIAL - AUTHORISED SYSTEM INTEGRATORS ONLY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212080" cy="502920"/>
          </a:xfrm>
          <a:prstGeom prst="rect">
            <a:avLst/>
          </a:prstGeom>
          <a:solidFill>
            <a:srgbClr val="280F14"/>
          </a:solidFill>
          <a:ln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5555"/>
                </a:solidFill>
              </a:defRPr>
            </a:pPr>
            <a:r>
              <a:t>TRADITIONAL LEGACY SCADA / SILOED 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12080" cy="502920"/>
          </a:xfrm>
          <a:prstGeom prst="rect">
            <a:avLst/>
          </a:prstGeom>
          <a:solidFill>
            <a:srgbClr val="0A2D3C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0D4FF"/>
                </a:solidFill>
              </a:defRPr>
            </a:pPr>
            <a:r>
              <a:t>TERRAEMBODIMENT TERRESTRIAL PLATFORM ADVANTAGE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40280"/>
            <a:ext cx="521208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AI systems only provide advisory charts; human technicians must physically walk to switchgear to turn knobs or trip breakers.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240280"/>
            <a:ext cx="5212080" cy="960120"/>
          </a:xfrm>
          <a:prstGeom prst="roundRect">
            <a:avLst/>
          </a:prstGeom>
          <a:solidFill>
            <a:srgbClr val="141E37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Closed-loop, deterministic execution straight to industrial bus controllers with microsecond safety boundaries.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521208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Fragile cloud-dependent automation that fails whenever plant internet or WAN connectivity drops.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91840"/>
            <a:ext cx="5212080" cy="960120"/>
          </a:xfrm>
          <a:prstGeom prst="roundRect">
            <a:avLst/>
          </a:prstGeom>
          <a:solidFill>
            <a:srgbClr val="141E37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Edge-native microservices that continue autonomous local execution even during total WAN blackout.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43400"/>
            <a:ext cx="521208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Manual visual inspections requiring staff to climb tall boilers, flare stacks, or live switchyards.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343400"/>
            <a:ext cx="5212080" cy="960120"/>
          </a:xfrm>
          <a:prstGeom prst="roundRect">
            <a:avLst/>
          </a:prstGeom>
          <a:solidFill>
            <a:srgbClr val="141E37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Automated dispatch of autonomous UAVs and tracked robots with real-time waypoint guidance.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94960"/>
            <a:ext cx="521208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Static high/low threshold alarms trigger only after physical process degradation has occurred.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5394960"/>
            <a:ext cx="5212080" cy="960120"/>
          </a:xfrm>
          <a:prstGeom prst="roundRect">
            <a:avLst/>
          </a:prstGeom>
          <a:solidFill>
            <a:srgbClr val="141E37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TerraEmbodiment physics-informed models forecast multi-variable trajectories up to 72 hours in advance.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TERRAEMBODIMENT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End-to-End System Architecture &amp; Real-Time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TERRAEMBODIMENT CATALOGUE  |  CONFIDENTIAL - AUTHORISED SYSTEM INTEGRATORS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523744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00D4FF"/>
                </a:solidFill>
              </a:defRPr>
            </a:pPr>
            <a:r>
              <a:t>LAYER 01</a:t>
            </a:r>
          </a:p>
          <a:p>
            <a:pPr>
              <a:spcAft>
                <a:spcPts val="1200"/>
              </a:spcAft>
              <a:defRPr sz="1550" b="1">
                <a:solidFill>
                  <a:srgbClr val="FFFFFF"/>
                </a:solidFill>
              </a:defRPr>
            </a:pPr>
            <a:r>
              <a:t>Spatial LiDAR &amp; Robot Ingestion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High-bandwidth sensory acquisition aggregating 2D/3D LiDAR point clouds, depth cameras, joint servo encoders, and IMU inertial sensors.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645920"/>
            <a:ext cx="2523744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00D4FF"/>
                </a:solidFill>
              </a:defRPr>
            </a:pPr>
            <a:r>
              <a:t>LAYER 02</a:t>
            </a:r>
          </a:p>
          <a:p>
            <a:pPr>
              <a:spcAft>
                <a:spcPts val="1200"/>
              </a:spcAft>
              <a:defRPr sz="1550" b="1">
                <a:solidFill>
                  <a:srgbClr val="FFFFFF"/>
                </a:solidFill>
              </a:defRPr>
            </a:pPr>
            <a:r>
              <a:t>Deterministic Robotic Fabric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Sub-5ms spatial point cloud filtering, real-time wheel odometry synchronization, and collision exclusion zone monitoring.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45920"/>
            <a:ext cx="2523744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00D4FF"/>
                </a:solidFill>
              </a:defRPr>
            </a:pPr>
            <a:r>
              <a:t>LAYER 03</a:t>
            </a:r>
          </a:p>
          <a:p>
            <a:pPr>
              <a:spcAft>
                <a:spcPts val="1200"/>
              </a:spcAft>
              <a:defRPr sz="1550" b="1">
                <a:solidFill>
                  <a:srgbClr val="FFFFFF"/>
                </a:solidFill>
              </a:defRPr>
            </a:pPr>
            <a:r>
              <a:t>Spatial SLAM &amp; Fleet Planner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Multi-agent cooperative SLAM, dynamic obstacle avoidance, warehouse traffic deadlock resolution, and robotic 6-axis inverse kinematics.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645920"/>
            <a:ext cx="2523744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00D4FF"/>
                </a:solidFill>
              </a:defRPr>
            </a:pPr>
            <a:r>
              <a:t>LAYER 04</a:t>
            </a:r>
          </a:p>
          <a:p>
            <a:pPr>
              <a:spcAft>
                <a:spcPts val="1200"/>
              </a:spcAft>
              <a:defRPr sz="1550" b="1">
                <a:solidFill>
                  <a:srgbClr val="FFFFFF"/>
                </a:solidFill>
              </a:defRPr>
            </a:pPr>
            <a:r>
              <a:t>Fleet Teleoperation Cockpit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Closed-loop AMR velocity drive execution, 6-axis joint torque commands, automatic dock opportunity charging, and ANSI/ISA-101 fleet consoles.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TERRAEMBODIMENT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System Integrator Deployment Playbook &amp; Commercial Enablement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TERRAEMBODIMENT CATALOGUE  |  CONFIDENTIAL - AUTHORISED SYSTEM INTEGRATORS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01568" cy="32004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PHASE 01 | CONNECTIVITY &amp; AUDIT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Zero Rip-and-Replace Onboarding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Deploy edge container onto existing industrial PC or VM. Connect to plant DCS/PLCs via IEC 61850 GOOSE. Ingest and normalize all telemetry in under 48 hours without halting production.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1645920"/>
            <a:ext cx="3401568" cy="32004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PHASE 02 | TWIN CALIBRATION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Physics-Model Synchronization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Feed historical historian data into TerraEmbodiment models. Automatically build directed causal relationship graphs, calibrate thermodynamics/kinematics, and train edge neural operators.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645920"/>
            <a:ext cx="3401568" cy="32004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PHASE 03 | AUTONOMOUS GO-LIVE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Closed-Loop Setpoint Actuation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Transition from advisory warnings to sub-25ms supervisory actuation. Sync alarm suppressions with plant operators and link work orders into SAP/ERP for verifiable recurring ROI.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29200"/>
            <a:ext cx="10698480" cy="1188720"/>
          </a:xfrm>
          <a:prstGeom prst="roundRect">
            <a:avLst/>
          </a:prstGeom>
          <a:solidFill>
            <a:srgbClr val="0C1C34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COMMERCIAL VALUE PROPOSITION FOR SYSTEM INTEGRATORS (TERRAEMBODIMENT)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High recurring annual software margins (ARR)  |  Turnkey deployment in days, not months  |  Full co-selling &amp; pre-sales engineering support  |  Certified partner portal at platform.tpcloud.tech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