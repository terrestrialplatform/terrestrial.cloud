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TerraBMS - Enterprise Product Specification</a:t>
            </a:r>
          </a:p>
          <a:p>
            <a:r>
              <a:t>Tagline: Centralized Enterprise Building Management System &amp; BMS-Intel</a:t>
            </a:r>
          </a:p>
          <a:p/>
          <a:p>
            <a:r>
              <a:t>Outcome Quote:</a:t>
            </a:r>
          </a:p>
          <a:p>
            <a:r>
              <a:t>“Increase building efficiency by integrating HVAC, lighting, fire alarms, and energy into an autonomous enterprise management system.” (— THE OUTCOME-BASED REVOLUTION)</a:t>
            </a:r>
          </a:p>
          <a:p/>
          <a:p>
            <a:r>
              <a:t>Executive Overview:</a:t>
            </a:r>
          </a:p>
          <a:p>
            <a:r>
              <a:t>Terra BMS provides a centralized enterprise-level system offering remote monitoring, data analytics, and increased accessibility from anywhere. By integrating Chiller System Managers (CSM), Air Handling Unit (AHU) Managers, lighting, energy, and fire alarm systems, it reduces energy consumption, minimizes downtime, and slashes running costs.</a:t>
            </a:r>
          </a:p>
          <a:p/>
          <a:p>
            <a:r>
              <a:t>Key Telemetry Metrics:</a:t>
            </a:r>
          </a:p>
          <a:p>
            <a:r>
              <a:t>- CHILLER EFFICIENCY:: 0.52 kW/TR</a:t>
            </a:r>
          </a:p>
          <a:p>
            <a:r>
              <a:t>- CSM PROTOCOL:: BACnet IP / MSTP</a:t>
            </a:r>
          </a:p>
          <a:p>
            <a:r>
              <a:t>- TEMP REGULATION:: ±0.2°C Tight</a:t>
            </a:r>
          </a:p>
          <a:p>
            <a:r>
              <a:t>- HVAC SAVINGS:: 18-24% Net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TerraBMS - ANSI/ISA-101 Verified Operational Interface</a:t>
            </a:r>
          </a:p>
          <a:p>
            <a:r>
              <a:t>Representation: TerraBMS ANSI/ISA-101 Operational Interface &amp; Real-Time System Representation</a:t>
            </a:r>
          </a:p>
          <a:p>
            <a:r>
              <a:t>Compliance: ANSI/ISA-101 Verified HMI</a:t>
            </a:r>
          </a:p>
          <a:p>
            <a:r>
              <a:t>Asset File: terra_bms_isa101_showcase.jpg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TerraBMS Will Do:</a:t>
            </a:r>
          </a:p>
          <a:p>
            <a:r>
              <a:t>[1] Chiller System Manager (CSM):</a:t>
            </a:r>
          </a:p>
          <a:p>
            <a:r>
              <a:t>Coordinates chillers, cooling towers, and pumps to operate at optimal thermodynamic performance coefficients.</a:t>
            </a:r>
          </a:p>
          <a:p/>
          <a:p>
            <a:r>
              <a:t>[2] Air Handling Unit (AHU) Manager:</a:t>
            </a:r>
          </a:p>
          <a:p>
            <a:r>
              <a:t>Regulates variable air volume (VAV) dampers, static duct pressure, and fresh air mix for occupant comfort and efficiency.</a:t>
            </a:r>
          </a:p>
          <a:p/>
          <a:p>
            <a:r>
              <a:t>[3] Approach Optimizer:</a:t>
            </a:r>
          </a:p>
          <a:p>
            <a:r>
              <a:t>Implements strategies to optimize the temperature approach in chillers and cooling towers, preventing energy penalties.</a:t>
            </a:r>
          </a:p>
          <a:p/>
          <a:p>
            <a:r>
              <a:t>[4] Intelligent Multi-Mode Scheduler:</a:t>
            </a:r>
          </a:p>
          <a:p>
            <a:r>
              <a:t>Automates modes of operation for energy efficiencies such as Free Cooling, Economizer, and Boost Cooling.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TerraBMS - Operational Use Cases &amp; Field Impact:</a:t>
            </a:r>
          </a:p>
          <a:p>
            <a:r>
              <a:t>[Efficiency] Efficiency (Primary &amp; Secondary Circuit Optimization):</a:t>
            </a:r>
          </a:p>
          <a:p>
            <a:r>
              <a:t>Enhances the efficiency of primary cooling circuits and optimizes secondary cooling circuits for maximum energy savings and thermal performance.</a:t>
            </a:r>
          </a:p>
          <a:p/>
          <a:p>
            <a:r>
              <a:t>[Productivity &amp; Health] Productivity &amp; Health (AI in HVAC Systems &amp; IAQ):</a:t>
            </a:r>
          </a:p>
          <a:p>
            <a:r>
              <a:t>BMS-intel integrates with HVAC systems to optimize temperature control, improve indoor air quality (IAQ), and lower maintenance costs.</a:t>
            </a:r>
          </a:p>
          <a:p/>
          <a:p>
            <a:r>
              <a:t>[Reduced Manpower] Reduced Manpower (Intelligent Multi-Mode Scheduling):</a:t>
            </a:r>
          </a:p>
          <a:p>
            <a:r>
              <a:t>Intelligently schedules automated operational modes including Free Cooling, Economizer, and Boost Cooling based on ambient conditions.</a:t>
            </a:r>
          </a:p>
          <a:p/>
          <a:p>
            <a:r>
              <a:t>[Safety] Safety (Life-Safety &amp; Fire Alarm Coordination):</a:t>
            </a:r>
          </a:p>
          <a:p>
            <a:r>
              <a:t>Interfaces with addressable fire alarm panels to automatically isolate ventilation dampers, unlock egress paths, and recall elevators during emergencies.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TerraBMS - Architectural Contrast (Legacy SCADA vs Terrestrial Platform):</a:t>
            </a:r>
          </a:p>
          <a:p>
            <a:r>
              <a:t>LEGACY:</a:t>
            </a:r>
          </a:p>
          <a:p>
            <a:r>
              <a:t>Fragmented vendor silos: HVAC, lighting, fire alarms, and access control operate on separate closed hardware platforms.</a:t>
            </a:r>
          </a:p>
          <a:p/>
          <a:p>
            <a:r>
              <a:t>TERRESTRIAL ADVANTAGE:</a:t>
            </a:r>
          </a:p>
          <a:p>
            <a:r>
              <a:t>Centralized enterprise BMS unifying BACnet/IP, Modbus, LonWorks, and MQTT devices into a single accessible web console.</a:t>
            </a:r>
          </a:p>
          <a:p/>
          <a:p>
            <a:r>
              <a:t>LEGACY:</a:t>
            </a:r>
          </a:p>
          <a:p>
            <a:r>
              <a:t>Fixed static timers running cooling and ventilation at full capacity in empty conference rooms and deserted halls.</a:t>
            </a:r>
          </a:p>
          <a:p/>
          <a:p>
            <a:r>
              <a:t>TERRESTRIAL ADVANTAGE:</a:t>
            </a:r>
          </a:p>
          <a:p>
            <a:r>
              <a:t>AI models optimize temperature control, improve indoor air quality (IAQ), and adjust setpoints dynamically based on load.</a:t>
            </a:r>
          </a:p>
          <a:p/>
          <a:p>
            <a:r>
              <a:t>LEGACY:</a:t>
            </a:r>
          </a:p>
          <a:p>
            <a:r>
              <a:t>Chiller plants operate with uncoordinated primary and secondary circuits, wasting massive electrical power.</a:t>
            </a:r>
          </a:p>
          <a:p/>
          <a:p>
            <a:r>
              <a:t>TERRESTRIAL ADVANTAGE:</a:t>
            </a:r>
          </a:p>
          <a:p>
            <a:r>
              <a:t>Deep thermodynamic Primary Circuit Optimizer, Secondary Circuit Optimizer, and Approach Optimizer.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TerraBMS - End-to-End System Diagram &amp; Data Pipeline:</a:t>
            </a:r>
          </a:p>
          <a:p/>
          <a:p>
            <a:r>
              <a:t>Layer 01: BACnet &amp; Field Ingestion</a:t>
            </a:r>
          </a:p>
          <a:p>
            <a:r>
              <a:t>Native multi-protocol telemetry acquisition from AHU controllers, VAV boxes, chilled water BTU meters, and indoor air quality sensors.</a:t>
            </a:r>
          </a:p>
          <a:p>
            <a:r>
              <a:t>Protocols: BACnet/IP &amp; MS/TP, Modbus TCP, LonWorks</a:t>
            </a:r>
          </a:p>
          <a:p/>
          <a:p>
            <a:r>
              <a:t>Layer 02: Smart Campus Edge Gateway</a:t>
            </a:r>
          </a:p>
          <a:p>
            <a:r>
              <a:t>Continuous environmental data aggregation, room thermal gradient normalization, and deterministic HVAC controller polling.</a:t>
            </a:r>
          </a:p>
          <a:p>
            <a:r>
              <a:t>Protocols: BACnet Edge Bus, Thermal Sensor Fabric, Deterministic Polling</a:t>
            </a:r>
          </a:p>
          <a:p/>
          <a:p>
            <a:r>
              <a:t>Layer 03: IAQ &amp; Chiller Optimizer</a:t>
            </a:r>
          </a:p>
          <a:p>
            <a:r>
              <a:t>Dynamic indoor air quality (IAQ) and thermal comfort predictive modeling, central chiller COP optimization, and Delta-T syndrome mitigation.</a:t>
            </a:r>
          </a:p>
          <a:p>
            <a:r>
              <a:t>Protocols: Predictive Comfort AI, Chiller COP Optimizer, Delta-T Mitigation</a:t>
            </a:r>
          </a:p>
          <a:p/>
          <a:p>
            <a:r>
              <a:t>Layer 04: VAV &amp; Valve Actuation Cockpit</a:t>
            </a:r>
          </a:p>
          <a:p>
            <a:r>
              <a:t>Closed-loop VAV damper setpoint adjustment, variable chilled water valve modulation, and ANSI/ISA-101 building supervisory consoles.</a:t>
            </a:r>
          </a:p>
          <a:p>
            <a:r>
              <a:t>Protocols: VAV Damper Actuation, Modulating Valves, ISA-101 BMS HMI</a:t>
            </a:r>
          </a:p>
          <a:p/>
          <a:p>
            <a:r>
              <a:t>Pipeline Flow:</a:t>
            </a:r>
          </a:p>
          <a:p>
            <a:r>
              <a:t>DATA PIPELINE FLOW: BACnet Sensor Telemetry ➔ Campus Edge Ingestion Stream ➔ Predictive IAQ &amp; Chiller Optimization ➔ Closed-Loop Damper &amp; Valve Actuation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TerraBMS - System Integrator Deployment Framework &amp; Commercial Model:</a:t>
            </a:r>
          </a:p>
          <a:p/>
          <a:p>
            <a:r>
              <a:t>Phase 1: Connectivity &amp; Audit</a:t>
            </a:r>
          </a:p>
          <a:p>
            <a:r>
              <a:t>Phase 2: Twin Calibration</a:t>
            </a:r>
          </a:p>
          <a:p>
            <a:r>
              <a:t>Phase 3: Autonomous Go-Live</a:t>
            </a:r>
          </a:p>
          <a:p/>
          <a:p>
            <a:r>
              <a:t>Commercial Enablement:</a:t>
            </a:r>
          </a:p>
          <a:p>
            <a:r>
              <a:t>- 25%-35% recurring SaaS margins</a:t>
            </a:r>
          </a:p>
          <a:p>
            <a:r>
              <a:t>- 7-14 day rapid commissioning</a:t>
            </a:r>
          </a:p>
          <a:p>
            <a:r>
              <a:t>- Co-selling and enterprise enablement support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18288"/>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229600" cy="274320"/>
          </a:xfrm>
          <a:prstGeom prst="rect">
            <a:avLst/>
          </a:prstGeom>
          <a:noFill/>
        </p:spPr>
        <p:txBody>
          <a:bodyPr wrap="square" lIns="0" rIns="0" tIns="0" bIns="0">
            <a:spAutoFit/>
          </a:bodyPr>
          <a:lstStyle/>
          <a:p>
            <a:pPr>
              <a:defRPr sz="950" b="1">
                <a:solidFill>
                  <a:srgbClr val="38BDF8"/>
                </a:solidFill>
              </a:defRPr>
            </a:pPr>
            <a:r>
              <a:t>TERRESTRIAL PLATFORM  |  TERRABMS  |  ENTERPRISE SPECIFICATION</a:t>
            </a:r>
          </a:p>
        </p:txBody>
      </p:sp>
      <p:sp>
        <p:nvSpPr>
          <p:cNvPr id="5" name="TextBox 4"/>
          <p:cNvSpPr txBox="1"/>
          <p:nvPr/>
        </p:nvSpPr>
        <p:spPr>
          <a:xfrm>
            <a:off x="731520" y="731520"/>
            <a:ext cx="9601200" cy="777240"/>
          </a:xfrm>
          <a:prstGeom prst="rect">
            <a:avLst/>
          </a:prstGeom>
          <a:noFill/>
        </p:spPr>
        <p:txBody>
          <a:bodyPr wrap="square" lIns="0" rIns="0" tIns="0" bIns="0">
            <a:spAutoFit/>
          </a:bodyPr>
          <a:lstStyle/>
          <a:p>
            <a:pPr>
              <a:defRPr sz="1900" b="1">
                <a:solidFill>
                  <a:srgbClr val="FFFFFF"/>
                </a:solidFill>
              </a:defRPr>
            </a:pPr>
            <a:r>
              <a:t>TerraBMS: Centralized Enterprise Building Management System &amp; BMS-Intel</a:t>
            </a:r>
          </a:p>
          <a:p>
            <a:pPr>
              <a:spcBef>
                <a:spcPts val="300"/>
              </a:spcBef>
              <a:defRPr sz="1050">
                <a:solidFill>
                  <a:srgbClr val="94A3B8"/>
                </a:solidFill>
              </a:defRPr>
            </a:pPr>
            <a:r>
              <a:t>Autonomous Industrial Intelligence Suite · Tier-1 Plant Architecture</a:t>
            </a:r>
          </a:p>
        </p:txBody>
      </p:sp>
      <p:pic>
        <p:nvPicPr>
          <p:cNvPr id="6" name="Picture 5" descr="tp_logo_white.png"/>
          <p:cNvPicPr>
            <a:picLocks noChangeAspect="1"/>
          </p:cNvPicPr>
          <p:nvPr/>
        </p:nvPicPr>
        <p:blipFill>
          <a:blip r:embed="rId2"/>
          <a:stretch>
            <a:fillRect/>
          </a:stretch>
        </p:blipFill>
        <p:spPr>
          <a:xfrm>
            <a:off x="10469880" y="411480"/>
            <a:ext cx="987552" cy="384048"/>
          </a:xfrm>
          <a:prstGeom prst="rect">
            <a:avLst/>
          </a:prstGeom>
        </p:spPr>
      </p:pic>
      <p:sp>
        <p:nvSpPr>
          <p:cNvPr id="7" name="Rounded Rectangle 6"/>
          <p:cNvSpPr/>
          <p:nvPr/>
        </p:nvSpPr>
        <p:spPr>
          <a:xfrm>
            <a:off x="731520" y="1691640"/>
            <a:ext cx="6217920" cy="4663440"/>
          </a:xfrm>
          <a:prstGeom prst="roundRect">
            <a:avLst/>
          </a:prstGeom>
          <a:solidFill>
            <a:srgbClr val="131926"/>
          </a:solidFill>
          <a:ln w="12700">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74519"/>
            <a:ext cx="5760720" cy="4297680"/>
          </a:xfrm>
          <a:prstGeom prst="rect">
            <a:avLst/>
          </a:prstGeom>
          <a:noFill/>
        </p:spPr>
        <p:txBody>
          <a:bodyPr wrap="square" lIns="0" rIns="0" tIns="0" bIns="0">
            <a:spAutoFit/>
          </a:bodyPr>
          <a:lstStyle/>
          <a:p>
            <a:pPr>
              <a:defRPr sz="1200" i="1" b="1">
                <a:solidFill>
                  <a:srgbClr val="38BDF8"/>
                </a:solidFill>
              </a:defRPr>
            </a:pPr>
            <a:r>
              <a:t>““Increase building efficiency by integrating HVAC, lighting, fire alarms, and energy into an autonomous enterprise management system.””</a:t>
            </a:r>
          </a:p>
          <a:p>
            <a:pPr>
              <a:spcBef>
                <a:spcPts val="400"/>
              </a:spcBef>
              <a:spcAft>
                <a:spcPts val="1200"/>
              </a:spcAft>
              <a:defRPr sz="950" b="1">
                <a:solidFill>
                  <a:srgbClr val="94A3B8"/>
                </a:solidFill>
              </a:defRPr>
            </a:pPr>
            <a:r>
              <a:t>— — THE OUTCOME-BASED REVOLUTION</a:t>
            </a:r>
          </a:p>
          <a:p>
            <a:pPr>
              <a:spcAft>
                <a:spcPts val="600"/>
              </a:spcAft>
              <a:defRPr sz="1050" b="1">
                <a:solidFill>
                  <a:srgbClr val="FFFFFF"/>
                </a:solidFill>
              </a:defRPr>
            </a:pPr>
            <a:r>
              <a:t>EXECUTIVE OPERATIONAL SYNOPSIS</a:t>
            </a:r>
          </a:p>
          <a:p>
            <a:pPr>
              <a:defRPr sz="1050">
                <a:solidFill>
                  <a:srgbClr val="F1F5F9"/>
                </a:solidFill>
              </a:defRPr>
            </a:pPr>
            <a:r>
              <a:t>Terra BMS provides a centralized enterprise-level system offering remote monitoring, data analytics, and increased accessibility from anywhere. By integrating Chiller System Managers (CSM), Air Handling Unit (AHU) Managers, lighting, energy, and fire alarm systems, it reduces energy consumption, minimizes downtime, and slashes running costs.</a:t>
            </a:r>
          </a:p>
        </p:txBody>
      </p:sp>
      <p:sp>
        <p:nvSpPr>
          <p:cNvPr id="9" name="Rounded Rectangle 8"/>
          <p:cNvSpPr/>
          <p:nvPr/>
        </p:nvSpPr>
        <p:spPr>
          <a:xfrm>
            <a:off x="7132320" y="1691640"/>
            <a:ext cx="2084831" cy="1188720"/>
          </a:xfrm>
          <a:prstGeom prst="roundRect">
            <a:avLst/>
          </a:prstGeom>
          <a:solidFill>
            <a:srgbClr val="13192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69480" y="1828800"/>
            <a:ext cx="1810511" cy="914400"/>
          </a:xfrm>
          <a:prstGeom prst="rect">
            <a:avLst/>
          </a:prstGeom>
          <a:noFill/>
        </p:spPr>
        <p:txBody>
          <a:bodyPr wrap="square" lIns="0" rIns="0" tIns="0" bIns="0">
            <a:spAutoFit/>
          </a:bodyPr>
          <a:lstStyle/>
          <a:p>
            <a:pPr>
              <a:defRPr sz="850" b="1">
                <a:solidFill>
                  <a:srgbClr val="94A3B8"/>
                </a:solidFill>
              </a:defRPr>
            </a:pPr>
            <a:r>
              <a:t>CHILLER EFFICIENCY</a:t>
            </a:r>
          </a:p>
          <a:p>
            <a:pPr>
              <a:spcBef>
                <a:spcPts val="400"/>
              </a:spcBef>
              <a:defRPr sz="1400" b="1">
                <a:solidFill>
                  <a:srgbClr val="FFFFFF"/>
                </a:solidFill>
              </a:defRPr>
            </a:pPr>
            <a:r>
              <a:t>0.52 kW/TR</a:t>
            </a:r>
          </a:p>
        </p:txBody>
      </p:sp>
      <p:sp>
        <p:nvSpPr>
          <p:cNvPr id="11" name="Rounded Rectangle 10"/>
          <p:cNvSpPr/>
          <p:nvPr/>
        </p:nvSpPr>
        <p:spPr>
          <a:xfrm>
            <a:off x="9381743" y="1691640"/>
            <a:ext cx="2084831" cy="1188720"/>
          </a:xfrm>
          <a:prstGeom prst="roundRect">
            <a:avLst/>
          </a:prstGeom>
          <a:solidFill>
            <a:srgbClr val="13192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18903" y="1828800"/>
            <a:ext cx="1810511" cy="914400"/>
          </a:xfrm>
          <a:prstGeom prst="rect">
            <a:avLst/>
          </a:prstGeom>
          <a:noFill/>
        </p:spPr>
        <p:txBody>
          <a:bodyPr wrap="square" lIns="0" rIns="0" tIns="0" bIns="0">
            <a:spAutoFit/>
          </a:bodyPr>
          <a:lstStyle/>
          <a:p>
            <a:pPr>
              <a:defRPr sz="850" b="1">
                <a:solidFill>
                  <a:srgbClr val="94A3B8"/>
                </a:solidFill>
              </a:defRPr>
            </a:pPr>
            <a:r>
              <a:t>CSM PROTOCOL</a:t>
            </a:r>
          </a:p>
          <a:p>
            <a:pPr>
              <a:spcBef>
                <a:spcPts val="400"/>
              </a:spcBef>
              <a:defRPr sz="1400" b="1">
                <a:solidFill>
                  <a:srgbClr val="FFFFFF"/>
                </a:solidFill>
              </a:defRPr>
            </a:pPr>
            <a:r>
              <a:t>BACnet IP / MSTP</a:t>
            </a:r>
          </a:p>
        </p:txBody>
      </p:sp>
      <p:sp>
        <p:nvSpPr>
          <p:cNvPr id="13" name="Rounded Rectangle 12"/>
          <p:cNvSpPr/>
          <p:nvPr/>
        </p:nvSpPr>
        <p:spPr>
          <a:xfrm>
            <a:off x="7132320" y="3044952"/>
            <a:ext cx="2084831" cy="1188720"/>
          </a:xfrm>
          <a:prstGeom prst="roundRect">
            <a:avLst/>
          </a:prstGeom>
          <a:solidFill>
            <a:srgbClr val="13192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9480" y="3182112"/>
            <a:ext cx="1810511" cy="914400"/>
          </a:xfrm>
          <a:prstGeom prst="rect">
            <a:avLst/>
          </a:prstGeom>
          <a:noFill/>
        </p:spPr>
        <p:txBody>
          <a:bodyPr wrap="square" lIns="0" rIns="0" tIns="0" bIns="0">
            <a:spAutoFit/>
          </a:bodyPr>
          <a:lstStyle/>
          <a:p>
            <a:pPr>
              <a:defRPr sz="850" b="1">
                <a:solidFill>
                  <a:srgbClr val="94A3B8"/>
                </a:solidFill>
              </a:defRPr>
            </a:pPr>
            <a:r>
              <a:t>TEMP REGULATION</a:t>
            </a:r>
          </a:p>
          <a:p>
            <a:pPr>
              <a:spcBef>
                <a:spcPts val="400"/>
              </a:spcBef>
              <a:defRPr sz="1400" b="1">
                <a:solidFill>
                  <a:srgbClr val="FFFFFF"/>
                </a:solidFill>
              </a:defRPr>
            </a:pPr>
            <a:r>
              <a:t>±0.2°C Tight</a:t>
            </a:r>
          </a:p>
        </p:txBody>
      </p:sp>
      <p:sp>
        <p:nvSpPr>
          <p:cNvPr id="15" name="Rounded Rectangle 14"/>
          <p:cNvSpPr/>
          <p:nvPr/>
        </p:nvSpPr>
        <p:spPr>
          <a:xfrm>
            <a:off x="9381743" y="3044952"/>
            <a:ext cx="2084831" cy="1188720"/>
          </a:xfrm>
          <a:prstGeom prst="roundRect">
            <a:avLst/>
          </a:prstGeom>
          <a:solidFill>
            <a:srgbClr val="13192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18903" y="3182112"/>
            <a:ext cx="1810511" cy="914400"/>
          </a:xfrm>
          <a:prstGeom prst="rect">
            <a:avLst/>
          </a:prstGeom>
          <a:noFill/>
        </p:spPr>
        <p:txBody>
          <a:bodyPr wrap="square" lIns="0" rIns="0" tIns="0" bIns="0">
            <a:spAutoFit/>
          </a:bodyPr>
          <a:lstStyle/>
          <a:p>
            <a:pPr>
              <a:defRPr sz="850" b="1">
                <a:solidFill>
                  <a:srgbClr val="94A3B8"/>
                </a:solidFill>
              </a:defRPr>
            </a:pPr>
            <a:r>
              <a:t>HVAC SAVINGS</a:t>
            </a:r>
          </a:p>
          <a:p>
            <a:pPr>
              <a:spcBef>
                <a:spcPts val="400"/>
              </a:spcBef>
              <a:defRPr sz="1400" b="1">
                <a:solidFill>
                  <a:srgbClr val="34D399"/>
                </a:solidFill>
              </a:defRPr>
            </a:pPr>
            <a:r>
              <a:t>18-24% Net</a:t>
            </a:r>
          </a:p>
        </p:txBody>
      </p:sp>
      <p:sp>
        <p:nvSpPr>
          <p:cNvPr id="17" name="Rounded Rectangle 16"/>
          <p:cNvSpPr/>
          <p:nvPr/>
        </p:nvSpPr>
        <p:spPr>
          <a:xfrm>
            <a:off x="7132320" y="4434840"/>
            <a:ext cx="4334256" cy="1920240"/>
          </a:xfrm>
          <a:prstGeom prst="roundRect">
            <a:avLst/>
          </a:prstGeom>
          <a:solidFill>
            <a:srgbClr val="131926"/>
          </a:solidFill>
          <a:ln w="12700">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60920" y="4617720"/>
            <a:ext cx="3840480" cy="1554480"/>
          </a:xfrm>
          <a:prstGeom prst="rect">
            <a:avLst/>
          </a:prstGeom>
          <a:noFill/>
        </p:spPr>
        <p:txBody>
          <a:bodyPr wrap="square" lIns="0" rIns="0" tIns="0" bIns="0">
            <a:spAutoFit/>
          </a:bodyPr>
          <a:lstStyle/>
          <a:p>
            <a:pPr>
              <a:defRPr sz="950" b="1">
                <a:solidFill>
                  <a:srgbClr val="38BDF8"/>
                </a:solidFill>
              </a:defRPr>
            </a:pPr>
            <a:r>
              <a:t>TERRESTRIAL PLATFORM CORE</a:t>
            </a:r>
          </a:p>
          <a:p>
            <a:pPr>
              <a:spcBef>
                <a:spcPts val="200"/>
              </a:spcBef>
              <a:defRPr sz="1100" b="1">
                <a:solidFill>
                  <a:srgbClr val="FFFFFF"/>
                </a:solidFill>
              </a:defRPr>
            </a:pPr>
            <a:r>
              <a:t>Edge-to-Cloud Cognitive Nervous System</a:t>
            </a:r>
          </a:p>
          <a:p>
            <a:pPr>
              <a:spcBef>
                <a:spcPts val="400"/>
              </a:spcBef>
              <a:defRPr sz="900">
                <a:solidFill>
                  <a:srgbClr val="94A3B8"/>
                </a:solidFill>
              </a:defRPr>
            </a:pPr>
            <a:r>
              <a:t>Physics-informed mathematical twin running sub-25ms closed-loop supervisory control with full ISA-95/101 conformity.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18288"/>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229600" cy="274320"/>
          </a:xfrm>
          <a:prstGeom prst="rect">
            <a:avLst/>
          </a:prstGeom>
          <a:noFill/>
        </p:spPr>
        <p:txBody>
          <a:bodyPr wrap="square" lIns="0" rIns="0" tIns="0" bIns="0">
            <a:spAutoFit/>
          </a:bodyPr>
          <a:lstStyle/>
          <a:p>
            <a:pPr>
              <a:defRPr sz="950" b="1">
                <a:solidFill>
                  <a:srgbClr val="38BDF8"/>
                </a:solidFill>
              </a:defRPr>
            </a:pPr>
            <a:r>
              <a:t>TERRESTRIAL PLATFORM  |  TERRABMS  |  OPERATIONAL INTERFACE</a:t>
            </a:r>
          </a:p>
        </p:txBody>
      </p:sp>
      <p:sp>
        <p:nvSpPr>
          <p:cNvPr id="5" name="TextBox 4"/>
          <p:cNvSpPr txBox="1"/>
          <p:nvPr/>
        </p:nvSpPr>
        <p:spPr>
          <a:xfrm>
            <a:off x="731520" y="731520"/>
            <a:ext cx="9601200" cy="777240"/>
          </a:xfrm>
          <a:prstGeom prst="rect">
            <a:avLst/>
          </a:prstGeom>
          <a:noFill/>
        </p:spPr>
        <p:txBody>
          <a:bodyPr wrap="square" lIns="0" rIns="0" tIns="0" bIns="0">
            <a:spAutoFit/>
          </a:bodyPr>
          <a:lstStyle/>
          <a:p>
            <a:pPr>
              <a:defRPr sz="1900" b="1">
                <a:solidFill>
                  <a:srgbClr val="FFFFFF"/>
                </a:solidFill>
              </a:defRPr>
            </a:pPr>
            <a:r>
              <a:t>TerraBMS ANSI/ISA-101 Operational Interface &amp; Real-Time System Representation</a:t>
            </a:r>
          </a:p>
          <a:p>
            <a:pPr>
              <a:spcBef>
                <a:spcPts val="300"/>
              </a:spcBef>
              <a:defRPr sz="1050">
                <a:solidFill>
                  <a:srgbClr val="94A3B8"/>
                </a:solidFill>
              </a:defRPr>
            </a:pPr>
            <a:r>
              <a:t>ANSI/ISA-101 Ergonomic High-Performance HMI · Real-Time System Representation</a:t>
            </a:r>
          </a:p>
        </p:txBody>
      </p:sp>
      <p:pic>
        <p:nvPicPr>
          <p:cNvPr id="6" name="Picture 5" descr="tp_logo_white.png"/>
          <p:cNvPicPr>
            <a:picLocks noChangeAspect="1"/>
          </p:cNvPicPr>
          <p:nvPr/>
        </p:nvPicPr>
        <p:blipFill>
          <a:blip r:embed="rId2"/>
          <a:stretch>
            <a:fillRect/>
          </a:stretch>
        </p:blipFill>
        <p:spPr>
          <a:xfrm>
            <a:off x="10469880" y="411480"/>
            <a:ext cx="987552" cy="384048"/>
          </a:xfrm>
          <a:prstGeom prst="rect">
            <a:avLst/>
          </a:prstGeom>
        </p:spPr>
      </p:pic>
      <p:sp>
        <p:nvSpPr>
          <p:cNvPr id="7" name="Rounded Rectangle 6"/>
          <p:cNvSpPr/>
          <p:nvPr/>
        </p:nvSpPr>
        <p:spPr>
          <a:xfrm>
            <a:off x="731520" y="1645920"/>
            <a:ext cx="10728655" cy="4709160"/>
          </a:xfrm>
          <a:prstGeom prst="roundRect">
            <a:avLst/>
          </a:prstGeom>
          <a:solidFill>
            <a:srgbClr val="13192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erra_bms_isa101_showcase.jpg"/>
          <p:cNvPicPr>
            <a:picLocks noChangeAspect="1"/>
          </p:cNvPicPr>
          <p:nvPr/>
        </p:nvPicPr>
        <p:blipFill>
          <a:blip r:embed="rId3"/>
          <a:stretch>
            <a:fillRect/>
          </a:stretch>
        </p:blipFill>
        <p:spPr>
          <a:xfrm>
            <a:off x="777240" y="1691640"/>
            <a:ext cx="10637215" cy="461772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18288"/>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229600" cy="274320"/>
          </a:xfrm>
          <a:prstGeom prst="rect">
            <a:avLst/>
          </a:prstGeom>
          <a:noFill/>
        </p:spPr>
        <p:txBody>
          <a:bodyPr wrap="square" lIns="0" rIns="0" tIns="0" bIns="0">
            <a:spAutoFit/>
          </a:bodyPr>
          <a:lstStyle/>
          <a:p>
            <a:pPr>
              <a:defRPr sz="950" b="1">
                <a:solidFill>
                  <a:srgbClr val="38BDF8"/>
                </a:solidFill>
              </a:defRPr>
            </a:pPr>
            <a:r>
              <a:t>TERRESTRIAL PLATFORM  |  TERRABMS  |  CORE CAPABILITIES</a:t>
            </a:r>
          </a:p>
        </p:txBody>
      </p:sp>
      <p:sp>
        <p:nvSpPr>
          <p:cNvPr id="5" name="TextBox 4"/>
          <p:cNvSpPr txBox="1"/>
          <p:nvPr/>
        </p:nvSpPr>
        <p:spPr>
          <a:xfrm>
            <a:off x="731520" y="731520"/>
            <a:ext cx="9601200" cy="777240"/>
          </a:xfrm>
          <a:prstGeom prst="rect">
            <a:avLst/>
          </a:prstGeom>
          <a:noFill/>
        </p:spPr>
        <p:txBody>
          <a:bodyPr wrap="square" lIns="0" rIns="0" tIns="0" bIns="0">
            <a:spAutoFit/>
          </a:bodyPr>
          <a:lstStyle/>
          <a:p>
            <a:pPr>
              <a:defRPr sz="1900" b="1">
                <a:solidFill>
                  <a:srgbClr val="FFFFFF"/>
                </a:solidFill>
              </a:defRPr>
            </a:pPr>
            <a:r>
              <a:t>What TerraBMS Will Do</a:t>
            </a:r>
          </a:p>
          <a:p>
            <a:pPr>
              <a:spcBef>
                <a:spcPts val="300"/>
              </a:spcBef>
              <a:defRPr sz="1050">
                <a:solidFill>
                  <a:srgbClr val="94A3B8"/>
                </a:solidFill>
              </a:defRPr>
            </a:pPr>
            <a:r>
              <a:t>Specific operational functions and engineering capabilities directly sourced from technical documentation.</a:t>
            </a:r>
          </a:p>
        </p:txBody>
      </p:sp>
      <p:pic>
        <p:nvPicPr>
          <p:cNvPr id="6" name="Picture 5" descr="tp_logo_white.png"/>
          <p:cNvPicPr>
            <a:picLocks noChangeAspect="1"/>
          </p:cNvPicPr>
          <p:nvPr/>
        </p:nvPicPr>
        <p:blipFill>
          <a:blip r:embed="rId2"/>
          <a:stretch>
            <a:fillRect/>
          </a:stretch>
        </p:blipFill>
        <p:spPr>
          <a:xfrm>
            <a:off x="10469880" y="411480"/>
            <a:ext cx="987552" cy="384048"/>
          </a:xfrm>
          <a:prstGeom prst="rect">
            <a:avLst/>
          </a:prstGeom>
        </p:spPr>
      </p:pic>
      <p:sp>
        <p:nvSpPr>
          <p:cNvPr id="7" name="Rounded Rectangle 6"/>
          <p:cNvSpPr/>
          <p:nvPr/>
        </p:nvSpPr>
        <p:spPr>
          <a:xfrm>
            <a:off x="731520" y="1691640"/>
            <a:ext cx="5230368" cy="2194560"/>
          </a:xfrm>
          <a:prstGeom prst="roundRect">
            <a:avLst/>
          </a:prstGeom>
          <a:solidFill>
            <a:srgbClr val="131926"/>
          </a:solidFill>
          <a:ln w="12700">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74520"/>
            <a:ext cx="4773168" cy="1828800"/>
          </a:xfrm>
          <a:prstGeom prst="rect">
            <a:avLst/>
          </a:prstGeom>
          <a:noFill/>
        </p:spPr>
        <p:txBody>
          <a:bodyPr wrap="square" lIns="0" rIns="0" tIns="0" bIns="0">
            <a:spAutoFit/>
          </a:bodyPr>
          <a:lstStyle/>
          <a:p>
            <a:pPr>
              <a:defRPr sz="850" b="1">
                <a:solidFill>
                  <a:srgbClr val="38BDF8"/>
                </a:solidFill>
              </a:defRPr>
            </a:pPr>
            <a:r>
              <a:t>PILLAR 01  |  ENGINEERING CAPABILITY</a:t>
            </a:r>
          </a:p>
          <a:p>
            <a:pPr>
              <a:spcBef>
                <a:spcPts val="300"/>
              </a:spcBef>
              <a:spcAft>
                <a:spcPts val="600"/>
              </a:spcAft>
              <a:defRPr sz="1300" b="1">
                <a:solidFill>
                  <a:srgbClr val="FFFFFF"/>
                </a:solidFill>
              </a:defRPr>
            </a:pPr>
            <a:r>
              <a:t>Chiller System Manager (CSM)</a:t>
            </a:r>
          </a:p>
          <a:p>
            <a:pPr>
              <a:defRPr sz="1000">
                <a:solidFill>
                  <a:srgbClr val="F1F5F9"/>
                </a:solidFill>
              </a:defRPr>
            </a:pPr>
            <a:r>
              <a:t>Coordinates chillers, cooling towers, and pumps to operate at optimal thermodynamic performance coefficients.</a:t>
            </a:r>
          </a:p>
        </p:txBody>
      </p:sp>
      <p:sp>
        <p:nvSpPr>
          <p:cNvPr id="9" name="Rounded Rectangle 8"/>
          <p:cNvSpPr/>
          <p:nvPr/>
        </p:nvSpPr>
        <p:spPr>
          <a:xfrm>
            <a:off x="6227064" y="1691640"/>
            <a:ext cx="5230368" cy="2194560"/>
          </a:xfrm>
          <a:prstGeom prst="roundRect">
            <a:avLst/>
          </a:prstGeom>
          <a:solidFill>
            <a:srgbClr val="131926"/>
          </a:solidFill>
          <a:ln w="12700">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55664" y="1874520"/>
            <a:ext cx="4773168" cy="1828800"/>
          </a:xfrm>
          <a:prstGeom prst="rect">
            <a:avLst/>
          </a:prstGeom>
          <a:noFill/>
        </p:spPr>
        <p:txBody>
          <a:bodyPr wrap="square" lIns="0" rIns="0" tIns="0" bIns="0">
            <a:spAutoFit/>
          </a:bodyPr>
          <a:lstStyle/>
          <a:p>
            <a:pPr>
              <a:defRPr sz="850" b="1">
                <a:solidFill>
                  <a:srgbClr val="38BDF8"/>
                </a:solidFill>
              </a:defRPr>
            </a:pPr>
            <a:r>
              <a:t>PILLAR 02  |  ENGINEERING CAPABILITY</a:t>
            </a:r>
          </a:p>
          <a:p>
            <a:pPr>
              <a:spcBef>
                <a:spcPts val="300"/>
              </a:spcBef>
              <a:spcAft>
                <a:spcPts val="600"/>
              </a:spcAft>
              <a:defRPr sz="1300" b="1">
                <a:solidFill>
                  <a:srgbClr val="FFFFFF"/>
                </a:solidFill>
              </a:defRPr>
            </a:pPr>
            <a:r>
              <a:t>Air Handling Unit (AHU) Manager</a:t>
            </a:r>
          </a:p>
          <a:p>
            <a:pPr>
              <a:defRPr sz="1000">
                <a:solidFill>
                  <a:srgbClr val="F1F5F9"/>
                </a:solidFill>
              </a:defRPr>
            </a:pPr>
            <a:r>
              <a:t>Regulates variable air volume (VAV) dampers, static duct pressure, and fresh air mix for occupant comfort and efficiency.</a:t>
            </a:r>
          </a:p>
        </p:txBody>
      </p:sp>
      <p:sp>
        <p:nvSpPr>
          <p:cNvPr id="11" name="Rounded Rectangle 10"/>
          <p:cNvSpPr/>
          <p:nvPr/>
        </p:nvSpPr>
        <p:spPr>
          <a:xfrm>
            <a:off x="731520" y="4114800"/>
            <a:ext cx="5230368" cy="2194560"/>
          </a:xfrm>
          <a:prstGeom prst="roundRect">
            <a:avLst/>
          </a:prstGeom>
          <a:solidFill>
            <a:srgbClr val="131926"/>
          </a:solidFill>
          <a:ln w="12700">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97680"/>
            <a:ext cx="4773168" cy="1828800"/>
          </a:xfrm>
          <a:prstGeom prst="rect">
            <a:avLst/>
          </a:prstGeom>
          <a:noFill/>
        </p:spPr>
        <p:txBody>
          <a:bodyPr wrap="square" lIns="0" rIns="0" tIns="0" bIns="0">
            <a:spAutoFit/>
          </a:bodyPr>
          <a:lstStyle/>
          <a:p>
            <a:pPr>
              <a:defRPr sz="850" b="1">
                <a:solidFill>
                  <a:srgbClr val="38BDF8"/>
                </a:solidFill>
              </a:defRPr>
            </a:pPr>
            <a:r>
              <a:t>PILLAR 03  |  ENGINEERING CAPABILITY</a:t>
            </a:r>
          </a:p>
          <a:p>
            <a:pPr>
              <a:spcBef>
                <a:spcPts val="300"/>
              </a:spcBef>
              <a:spcAft>
                <a:spcPts val="600"/>
              </a:spcAft>
              <a:defRPr sz="1300" b="1">
                <a:solidFill>
                  <a:srgbClr val="FFFFFF"/>
                </a:solidFill>
              </a:defRPr>
            </a:pPr>
            <a:r>
              <a:t>Approach Optimizer</a:t>
            </a:r>
          </a:p>
          <a:p>
            <a:pPr>
              <a:defRPr sz="1000">
                <a:solidFill>
                  <a:srgbClr val="F1F5F9"/>
                </a:solidFill>
              </a:defRPr>
            </a:pPr>
            <a:r>
              <a:t>Implements strategies to optimize the temperature approach in chillers and cooling towers, preventing energy penalties.</a:t>
            </a:r>
          </a:p>
        </p:txBody>
      </p:sp>
      <p:sp>
        <p:nvSpPr>
          <p:cNvPr id="13" name="Rounded Rectangle 12"/>
          <p:cNvSpPr/>
          <p:nvPr/>
        </p:nvSpPr>
        <p:spPr>
          <a:xfrm>
            <a:off x="6227064" y="4114800"/>
            <a:ext cx="5230368" cy="2194560"/>
          </a:xfrm>
          <a:prstGeom prst="roundRect">
            <a:avLst/>
          </a:prstGeom>
          <a:solidFill>
            <a:srgbClr val="131926"/>
          </a:solidFill>
          <a:ln w="12700">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55664" y="4297680"/>
            <a:ext cx="4773168" cy="1828800"/>
          </a:xfrm>
          <a:prstGeom prst="rect">
            <a:avLst/>
          </a:prstGeom>
          <a:noFill/>
        </p:spPr>
        <p:txBody>
          <a:bodyPr wrap="square" lIns="0" rIns="0" tIns="0" bIns="0">
            <a:spAutoFit/>
          </a:bodyPr>
          <a:lstStyle/>
          <a:p>
            <a:pPr>
              <a:defRPr sz="850" b="1">
                <a:solidFill>
                  <a:srgbClr val="38BDF8"/>
                </a:solidFill>
              </a:defRPr>
            </a:pPr>
            <a:r>
              <a:t>PILLAR 04  |  ENGINEERING CAPABILITY</a:t>
            </a:r>
          </a:p>
          <a:p>
            <a:pPr>
              <a:spcBef>
                <a:spcPts val="300"/>
              </a:spcBef>
              <a:spcAft>
                <a:spcPts val="600"/>
              </a:spcAft>
              <a:defRPr sz="1300" b="1">
                <a:solidFill>
                  <a:srgbClr val="FFFFFF"/>
                </a:solidFill>
              </a:defRPr>
            </a:pPr>
            <a:r>
              <a:t>Intelligent Multi-Mode Scheduler</a:t>
            </a:r>
          </a:p>
          <a:p>
            <a:pPr>
              <a:defRPr sz="1000">
                <a:solidFill>
                  <a:srgbClr val="F1F5F9"/>
                </a:solidFill>
              </a:defRPr>
            </a:pPr>
            <a:r>
              <a:t>Automates modes of operation for energy efficiencies such as Free Cooling, Economizer, and Boost Cooling.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18288"/>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229600" cy="274320"/>
          </a:xfrm>
          <a:prstGeom prst="rect">
            <a:avLst/>
          </a:prstGeom>
          <a:noFill/>
        </p:spPr>
        <p:txBody>
          <a:bodyPr wrap="square" lIns="0" rIns="0" tIns="0" bIns="0">
            <a:spAutoFit/>
          </a:bodyPr>
          <a:lstStyle/>
          <a:p>
            <a:pPr>
              <a:defRPr sz="950" b="1">
                <a:solidFill>
                  <a:srgbClr val="38BDF8"/>
                </a:solidFill>
              </a:defRPr>
            </a:pPr>
            <a:r>
              <a:t>TERRESTRIAL PLATFORM  |  TERRABMS  |  FIELD USE CASES</a:t>
            </a:r>
          </a:p>
        </p:txBody>
      </p:sp>
      <p:sp>
        <p:nvSpPr>
          <p:cNvPr id="5" name="TextBox 4"/>
          <p:cNvSpPr txBox="1"/>
          <p:nvPr/>
        </p:nvSpPr>
        <p:spPr>
          <a:xfrm>
            <a:off x="731520" y="731520"/>
            <a:ext cx="9601200" cy="777240"/>
          </a:xfrm>
          <a:prstGeom prst="rect">
            <a:avLst/>
          </a:prstGeom>
          <a:noFill/>
        </p:spPr>
        <p:txBody>
          <a:bodyPr wrap="square" lIns="0" rIns="0" tIns="0" bIns="0">
            <a:spAutoFit/>
          </a:bodyPr>
          <a:lstStyle/>
          <a:p>
            <a:pPr>
              <a:defRPr sz="1900" b="1">
                <a:solidFill>
                  <a:srgbClr val="FFFFFF"/>
                </a:solidFill>
              </a:defRPr>
            </a:pPr>
            <a:r>
              <a:t>Operational Use Cases &amp; Field Impact</a:t>
            </a:r>
          </a:p>
          <a:p>
            <a:pPr>
              <a:spcBef>
                <a:spcPts val="300"/>
              </a:spcBef>
              <a:defRPr sz="1050">
                <a:solidFill>
                  <a:srgbClr val="94A3B8"/>
                </a:solidFill>
              </a:defRPr>
            </a:pPr>
            <a:r>
              <a:t>Actual documented use cases across Quality Assurance, Reduced Manpower, Efficiency, and Asset Productivity.</a:t>
            </a:r>
          </a:p>
        </p:txBody>
      </p:sp>
      <p:pic>
        <p:nvPicPr>
          <p:cNvPr id="6" name="Picture 5" descr="tp_logo_white.png"/>
          <p:cNvPicPr>
            <a:picLocks noChangeAspect="1"/>
          </p:cNvPicPr>
          <p:nvPr/>
        </p:nvPicPr>
        <p:blipFill>
          <a:blip r:embed="rId2"/>
          <a:stretch>
            <a:fillRect/>
          </a:stretch>
        </p:blipFill>
        <p:spPr>
          <a:xfrm>
            <a:off x="10469880" y="411480"/>
            <a:ext cx="987552" cy="384048"/>
          </a:xfrm>
          <a:prstGeom prst="rect">
            <a:avLst/>
          </a:prstGeom>
        </p:spPr>
      </p:pic>
      <p:sp>
        <p:nvSpPr>
          <p:cNvPr id="7" name="Rounded Rectangle 6"/>
          <p:cNvSpPr/>
          <p:nvPr/>
        </p:nvSpPr>
        <p:spPr>
          <a:xfrm>
            <a:off x="731520" y="1691640"/>
            <a:ext cx="5230368" cy="2194560"/>
          </a:xfrm>
          <a:prstGeom prst="roundRect">
            <a:avLst/>
          </a:prstGeom>
          <a:solidFill>
            <a:srgbClr val="131926"/>
          </a:solidFill>
          <a:ln w="12700">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74520"/>
            <a:ext cx="4773168" cy="1828800"/>
          </a:xfrm>
          <a:prstGeom prst="rect">
            <a:avLst/>
          </a:prstGeom>
          <a:noFill/>
        </p:spPr>
        <p:txBody>
          <a:bodyPr wrap="square" lIns="0" rIns="0" tIns="0" bIns="0">
            <a:spAutoFit/>
          </a:bodyPr>
          <a:lstStyle/>
          <a:p>
            <a:pPr>
              <a:defRPr sz="850" b="1">
                <a:solidFill>
                  <a:srgbClr val="34D399"/>
                </a:solidFill>
              </a:defRPr>
            </a:pPr>
            <a:r>
              <a:t>CASE 01  |  EFFICIENCY</a:t>
            </a:r>
          </a:p>
          <a:p>
            <a:pPr>
              <a:spcBef>
                <a:spcPts val="300"/>
              </a:spcBef>
              <a:spcAft>
                <a:spcPts val="600"/>
              </a:spcAft>
              <a:defRPr sz="1300" b="1">
                <a:solidFill>
                  <a:srgbClr val="FFFFFF"/>
                </a:solidFill>
              </a:defRPr>
            </a:pPr>
            <a:r>
              <a:t>Efficiency (Primary &amp; Secondary Circuit Optimization)</a:t>
            </a:r>
          </a:p>
          <a:p>
            <a:pPr>
              <a:defRPr sz="1000">
                <a:solidFill>
                  <a:srgbClr val="F1F5F9"/>
                </a:solidFill>
              </a:defRPr>
            </a:pPr>
            <a:r>
              <a:t>Enhances the efficiency of primary cooling circuits and optimizes secondary cooling circuits for maximum energy savings and thermal performance.</a:t>
            </a:r>
          </a:p>
        </p:txBody>
      </p:sp>
      <p:sp>
        <p:nvSpPr>
          <p:cNvPr id="9" name="Rounded Rectangle 8"/>
          <p:cNvSpPr/>
          <p:nvPr/>
        </p:nvSpPr>
        <p:spPr>
          <a:xfrm>
            <a:off x="6227064" y="1691640"/>
            <a:ext cx="5230368" cy="2194560"/>
          </a:xfrm>
          <a:prstGeom prst="roundRect">
            <a:avLst/>
          </a:prstGeom>
          <a:solidFill>
            <a:srgbClr val="131926"/>
          </a:solidFill>
          <a:ln w="12700">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55664" y="1874520"/>
            <a:ext cx="4773168" cy="1828800"/>
          </a:xfrm>
          <a:prstGeom prst="rect">
            <a:avLst/>
          </a:prstGeom>
          <a:noFill/>
        </p:spPr>
        <p:txBody>
          <a:bodyPr wrap="square" lIns="0" rIns="0" tIns="0" bIns="0">
            <a:spAutoFit/>
          </a:bodyPr>
          <a:lstStyle/>
          <a:p>
            <a:pPr>
              <a:defRPr sz="850" b="1">
                <a:solidFill>
                  <a:srgbClr val="34D399"/>
                </a:solidFill>
              </a:defRPr>
            </a:pPr>
            <a:r>
              <a:t>CASE 02  |  PRODUCTIVITY &amp; HEALTH</a:t>
            </a:r>
          </a:p>
          <a:p>
            <a:pPr>
              <a:spcBef>
                <a:spcPts val="300"/>
              </a:spcBef>
              <a:spcAft>
                <a:spcPts val="600"/>
              </a:spcAft>
              <a:defRPr sz="1300" b="1">
                <a:solidFill>
                  <a:srgbClr val="FFFFFF"/>
                </a:solidFill>
              </a:defRPr>
            </a:pPr>
            <a:r>
              <a:t>Productivity &amp; Health (AI in HVAC Systems &amp; IAQ)</a:t>
            </a:r>
          </a:p>
          <a:p>
            <a:pPr>
              <a:defRPr sz="1000">
                <a:solidFill>
                  <a:srgbClr val="F1F5F9"/>
                </a:solidFill>
              </a:defRPr>
            </a:pPr>
            <a:r>
              <a:t>BMS-intel integrates with HVAC systems to optimize temperature control, improve indoor air quality (IAQ), and lower maintenance costs.</a:t>
            </a:r>
          </a:p>
        </p:txBody>
      </p:sp>
      <p:sp>
        <p:nvSpPr>
          <p:cNvPr id="11" name="Rounded Rectangle 10"/>
          <p:cNvSpPr/>
          <p:nvPr/>
        </p:nvSpPr>
        <p:spPr>
          <a:xfrm>
            <a:off x="731520" y="4114800"/>
            <a:ext cx="5230368" cy="2194560"/>
          </a:xfrm>
          <a:prstGeom prst="roundRect">
            <a:avLst/>
          </a:prstGeom>
          <a:solidFill>
            <a:srgbClr val="131926"/>
          </a:solidFill>
          <a:ln w="12700">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97680"/>
            <a:ext cx="4773168" cy="1828800"/>
          </a:xfrm>
          <a:prstGeom prst="rect">
            <a:avLst/>
          </a:prstGeom>
          <a:noFill/>
        </p:spPr>
        <p:txBody>
          <a:bodyPr wrap="square" lIns="0" rIns="0" tIns="0" bIns="0">
            <a:spAutoFit/>
          </a:bodyPr>
          <a:lstStyle/>
          <a:p>
            <a:pPr>
              <a:defRPr sz="850" b="1">
                <a:solidFill>
                  <a:srgbClr val="34D399"/>
                </a:solidFill>
              </a:defRPr>
            </a:pPr>
            <a:r>
              <a:t>CASE 03  |  REDUCED MANPOWER</a:t>
            </a:r>
          </a:p>
          <a:p>
            <a:pPr>
              <a:spcBef>
                <a:spcPts val="300"/>
              </a:spcBef>
              <a:spcAft>
                <a:spcPts val="600"/>
              </a:spcAft>
              <a:defRPr sz="1300" b="1">
                <a:solidFill>
                  <a:srgbClr val="FFFFFF"/>
                </a:solidFill>
              </a:defRPr>
            </a:pPr>
            <a:r>
              <a:t>Reduced Manpower (Intelligent Multi-Mode Scheduling)</a:t>
            </a:r>
          </a:p>
          <a:p>
            <a:pPr>
              <a:defRPr sz="1000">
                <a:solidFill>
                  <a:srgbClr val="F1F5F9"/>
                </a:solidFill>
              </a:defRPr>
            </a:pPr>
            <a:r>
              <a:t>Intelligently schedules automated operational modes including Free Cooling, Economizer, and Boost Cooling based on ambient conditions.</a:t>
            </a:r>
          </a:p>
        </p:txBody>
      </p:sp>
      <p:sp>
        <p:nvSpPr>
          <p:cNvPr id="13" name="Rounded Rectangle 12"/>
          <p:cNvSpPr/>
          <p:nvPr/>
        </p:nvSpPr>
        <p:spPr>
          <a:xfrm>
            <a:off x="6227064" y="4114800"/>
            <a:ext cx="5230368" cy="2194560"/>
          </a:xfrm>
          <a:prstGeom prst="roundRect">
            <a:avLst/>
          </a:prstGeom>
          <a:solidFill>
            <a:srgbClr val="131926"/>
          </a:solidFill>
          <a:ln w="12700">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55664" y="4297680"/>
            <a:ext cx="4773168" cy="1828800"/>
          </a:xfrm>
          <a:prstGeom prst="rect">
            <a:avLst/>
          </a:prstGeom>
          <a:noFill/>
        </p:spPr>
        <p:txBody>
          <a:bodyPr wrap="square" lIns="0" rIns="0" tIns="0" bIns="0">
            <a:spAutoFit/>
          </a:bodyPr>
          <a:lstStyle/>
          <a:p>
            <a:pPr>
              <a:defRPr sz="850" b="1">
                <a:solidFill>
                  <a:srgbClr val="34D399"/>
                </a:solidFill>
              </a:defRPr>
            </a:pPr>
            <a:r>
              <a:t>CASE 04  |  SAFETY</a:t>
            </a:r>
          </a:p>
          <a:p>
            <a:pPr>
              <a:spcBef>
                <a:spcPts val="300"/>
              </a:spcBef>
              <a:spcAft>
                <a:spcPts val="600"/>
              </a:spcAft>
              <a:defRPr sz="1300" b="1">
                <a:solidFill>
                  <a:srgbClr val="FFFFFF"/>
                </a:solidFill>
              </a:defRPr>
            </a:pPr>
            <a:r>
              <a:t>Safety (Life-Safety &amp; Fire Alarm Coordination)</a:t>
            </a:r>
          </a:p>
          <a:p>
            <a:pPr>
              <a:defRPr sz="1000">
                <a:solidFill>
                  <a:srgbClr val="F1F5F9"/>
                </a:solidFill>
              </a:defRPr>
            </a:pPr>
            <a:r>
              <a:t>Interfaces with addressable fire alarm panels to automatically isolate ventilation dampers, unlock egress paths, and recall elevators during emergencies.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18288"/>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229600" cy="274320"/>
          </a:xfrm>
          <a:prstGeom prst="rect">
            <a:avLst/>
          </a:prstGeom>
          <a:noFill/>
        </p:spPr>
        <p:txBody>
          <a:bodyPr wrap="square" lIns="0" rIns="0" tIns="0" bIns="0">
            <a:spAutoFit/>
          </a:bodyPr>
          <a:lstStyle/>
          <a:p>
            <a:pPr>
              <a:defRPr sz="950" b="1">
                <a:solidFill>
                  <a:srgbClr val="38BDF8"/>
                </a:solidFill>
              </a:defRPr>
            </a:pPr>
            <a:r>
              <a:t>TERRESTRIAL PLATFORM  |  TERRABMS  |  ARCHITECTURAL CONTRAST</a:t>
            </a:r>
          </a:p>
        </p:txBody>
      </p:sp>
      <p:sp>
        <p:nvSpPr>
          <p:cNvPr id="5" name="TextBox 4"/>
          <p:cNvSpPr txBox="1"/>
          <p:nvPr/>
        </p:nvSpPr>
        <p:spPr>
          <a:xfrm>
            <a:off x="731520" y="731520"/>
            <a:ext cx="9601200" cy="777240"/>
          </a:xfrm>
          <a:prstGeom prst="rect">
            <a:avLst/>
          </a:prstGeom>
          <a:noFill/>
        </p:spPr>
        <p:txBody>
          <a:bodyPr wrap="square" lIns="0" rIns="0" tIns="0" bIns="0">
            <a:spAutoFit/>
          </a:bodyPr>
          <a:lstStyle/>
          <a:p>
            <a:pPr>
              <a:defRPr sz="1900" b="1">
                <a:solidFill>
                  <a:srgbClr val="FFFFFF"/>
                </a:solidFill>
              </a:defRPr>
            </a:pPr>
            <a:r>
              <a:t>Comparison with Traditional SCADA / Legacy Systems</a:t>
            </a:r>
          </a:p>
          <a:p>
            <a:pPr>
              <a:spcBef>
                <a:spcPts val="300"/>
              </a:spcBef>
              <a:defRPr sz="1050">
                <a:solidFill>
                  <a:srgbClr val="94A3B8"/>
                </a:solidFill>
              </a:defRPr>
            </a:pPr>
            <a:r>
              <a:t>Point-by-point contrast demonstrating the technological shift from legacy industrial automation to the Terrestrial Platform.</a:t>
            </a:r>
          </a:p>
        </p:txBody>
      </p:sp>
      <p:pic>
        <p:nvPicPr>
          <p:cNvPr id="6" name="Picture 5" descr="tp_logo_white.png"/>
          <p:cNvPicPr>
            <a:picLocks noChangeAspect="1"/>
          </p:cNvPicPr>
          <p:nvPr/>
        </p:nvPicPr>
        <p:blipFill>
          <a:blip r:embed="rId2"/>
          <a:stretch>
            <a:fillRect/>
          </a:stretch>
        </p:blipFill>
        <p:spPr>
          <a:xfrm>
            <a:off x="10469880" y="411480"/>
            <a:ext cx="987552" cy="384048"/>
          </a:xfrm>
          <a:prstGeom prst="rect">
            <a:avLst/>
          </a:prstGeom>
        </p:spPr>
      </p:pic>
      <p:sp>
        <p:nvSpPr>
          <p:cNvPr id="7" name="Rounded Rectangle 6"/>
          <p:cNvSpPr/>
          <p:nvPr/>
        </p:nvSpPr>
        <p:spPr>
          <a:xfrm>
            <a:off x="731520" y="1691640"/>
            <a:ext cx="5230368" cy="502920"/>
          </a:xfrm>
          <a:prstGeom prst="roundRect">
            <a:avLst/>
          </a:prstGeom>
          <a:solidFill>
            <a:srgbClr val="1C1216"/>
          </a:solidFill>
          <a:ln w="12700">
            <a:solidFill>
              <a:srgbClr val="501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83080"/>
            <a:ext cx="4937760" cy="320040"/>
          </a:xfrm>
          <a:prstGeom prst="rect">
            <a:avLst/>
          </a:prstGeom>
          <a:noFill/>
        </p:spPr>
        <p:txBody>
          <a:bodyPr wrap="none">
            <a:spAutoFit/>
          </a:bodyPr>
          <a:lstStyle/>
          <a:p>
            <a:pPr>
              <a:defRPr sz="1100" b="1">
                <a:solidFill>
                  <a:srgbClr val="EF4444"/>
                </a:solidFill>
              </a:defRPr>
            </a:pPr>
            <a:r>
              <a:t>TRADITIONAL LEGACY SYSTEMS / SILOED SCADA</a:t>
            </a:r>
          </a:p>
        </p:txBody>
      </p:sp>
      <p:sp>
        <p:nvSpPr>
          <p:cNvPr id="9" name="Rounded Rectangle 8"/>
          <p:cNvSpPr/>
          <p:nvPr/>
        </p:nvSpPr>
        <p:spPr>
          <a:xfrm>
            <a:off x="6227064" y="1691640"/>
            <a:ext cx="5230368" cy="502920"/>
          </a:xfrm>
          <a:prstGeom prst="roundRect">
            <a:avLst/>
          </a:prstGeom>
          <a:solidFill>
            <a:srgbClr val="0F1C26"/>
          </a:solidFill>
          <a:ln w="12700">
            <a:solidFill>
              <a:srgbClr val="194B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4224" y="1783080"/>
            <a:ext cx="4937760" cy="320040"/>
          </a:xfrm>
          <a:prstGeom prst="rect">
            <a:avLst/>
          </a:prstGeom>
          <a:noFill/>
        </p:spPr>
        <p:txBody>
          <a:bodyPr wrap="none">
            <a:spAutoFit/>
          </a:bodyPr>
          <a:lstStyle/>
          <a:p>
            <a:pPr>
              <a:defRPr sz="1100" b="1">
                <a:solidFill>
                  <a:srgbClr val="38BDF8"/>
                </a:solidFill>
              </a:defRPr>
            </a:pPr>
            <a:r>
              <a:t>TERRABMS TERRESTRIAL PLATFORM ADVANTAGE</a:t>
            </a:r>
          </a:p>
        </p:txBody>
      </p:sp>
      <p:sp>
        <p:nvSpPr>
          <p:cNvPr id="11" name="Rounded Rectangle 10"/>
          <p:cNvSpPr/>
          <p:nvPr/>
        </p:nvSpPr>
        <p:spPr>
          <a:xfrm>
            <a:off x="731520" y="2286000"/>
            <a:ext cx="5230368" cy="1298448"/>
          </a:xfrm>
          <a:prstGeom prst="roundRect">
            <a:avLst/>
          </a:prstGeom>
          <a:solidFill>
            <a:srgbClr val="1C1216"/>
          </a:solidFill>
          <a:ln w="12700">
            <a:solidFill>
              <a:srgbClr val="501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359152"/>
            <a:ext cx="4956048" cy="1152144"/>
          </a:xfrm>
          <a:prstGeom prst="rect">
            <a:avLst/>
          </a:prstGeom>
          <a:noFill/>
        </p:spPr>
        <p:txBody>
          <a:bodyPr wrap="square" lIns="0" rIns="0" tIns="0" bIns="0">
            <a:spAutoFit/>
          </a:bodyPr>
          <a:lstStyle/>
          <a:p>
            <a:pPr>
              <a:defRPr sz="1000">
                <a:solidFill>
                  <a:srgbClr val="F1F5F9"/>
                </a:solidFill>
              </a:defRPr>
            </a:pPr>
            <a:r>
              <a:t>Fragmented vendor silos: HVAC, lighting, fire alarms, and access control operate on separate closed hardware platforms.</a:t>
            </a:r>
          </a:p>
        </p:txBody>
      </p:sp>
      <p:sp>
        <p:nvSpPr>
          <p:cNvPr id="13" name="Rounded Rectangle 12"/>
          <p:cNvSpPr/>
          <p:nvPr/>
        </p:nvSpPr>
        <p:spPr>
          <a:xfrm>
            <a:off x="6227064" y="2286000"/>
            <a:ext cx="5230368" cy="1298448"/>
          </a:xfrm>
          <a:prstGeom prst="roundRect">
            <a:avLst/>
          </a:prstGeom>
          <a:solidFill>
            <a:srgbClr val="0F1C26"/>
          </a:solidFill>
          <a:ln w="12700">
            <a:solidFill>
              <a:srgbClr val="194B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2359152"/>
            <a:ext cx="4956048" cy="1152144"/>
          </a:xfrm>
          <a:prstGeom prst="rect">
            <a:avLst/>
          </a:prstGeom>
          <a:noFill/>
        </p:spPr>
        <p:txBody>
          <a:bodyPr wrap="square" lIns="0" rIns="0" tIns="0" bIns="0">
            <a:spAutoFit/>
          </a:bodyPr>
          <a:lstStyle/>
          <a:p>
            <a:pPr>
              <a:defRPr sz="1000" b="1">
                <a:solidFill>
                  <a:srgbClr val="34D399"/>
                </a:solidFill>
              </a:defRPr>
            </a:pPr>
            <a:r>
              <a:t>Centralized enterprise BMS unifying BACnet/IP, Modbus, LonWorks, and MQTT devices into a single accessible web console.</a:t>
            </a:r>
          </a:p>
        </p:txBody>
      </p:sp>
      <p:sp>
        <p:nvSpPr>
          <p:cNvPr id="15" name="Rounded Rectangle 14"/>
          <p:cNvSpPr/>
          <p:nvPr/>
        </p:nvSpPr>
        <p:spPr>
          <a:xfrm>
            <a:off x="731520" y="3694176"/>
            <a:ext cx="5230368" cy="1298448"/>
          </a:xfrm>
          <a:prstGeom prst="roundRect">
            <a:avLst/>
          </a:prstGeom>
          <a:solidFill>
            <a:srgbClr val="1C1216"/>
          </a:solidFill>
          <a:ln w="12700">
            <a:solidFill>
              <a:srgbClr val="501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767328"/>
            <a:ext cx="4956048" cy="1152144"/>
          </a:xfrm>
          <a:prstGeom prst="rect">
            <a:avLst/>
          </a:prstGeom>
          <a:noFill/>
        </p:spPr>
        <p:txBody>
          <a:bodyPr wrap="square" lIns="0" rIns="0" tIns="0" bIns="0">
            <a:spAutoFit/>
          </a:bodyPr>
          <a:lstStyle/>
          <a:p>
            <a:pPr>
              <a:defRPr sz="1000">
                <a:solidFill>
                  <a:srgbClr val="F1F5F9"/>
                </a:solidFill>
              </a:defRPr>
            </a:pPr>
            <a:r>
              <a:t>Fixed static timers running cooling and ventilation at full capacity in empty conference rooms and deserted halls.</a:t>
            </a:r>
          </a:p>
        </p:txBody>
      </p:sp>
      <p:sp>
        <p:nvSpPr>
          <p:cNvPr id="17" name="Rounded Rectangle 16"/>
          <p:cNvSpPr/>
          <p:nvPr/>
        </p:nvSpPr>
        <p:spPr>
          <a:xfrm>
            <a:off x="6227064" y="3694176"/>
            <a:ext cx="5230368" cy="1298448"/>
          </a:xfrm>
          <a:prstGeom prst="roundRect">
            <a:avLst/>
          </a:prstGeom>
          <a:solidFill>
            <a:srgbClr val="0F1C26"/>
          </a:solidFill>
          <a:ln w="12700">
            <a:solidFill>
              <a:srgbClr val="194B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64224" y="3767328"/>
            <a:ext cx="4956048" cy="1152144"/>
          </a:xfrm>
          <a:prstGeom prst="rect">
            <a:avLst/>
          </a:prstGeom>
          <a:noFill/>
        </p:spPr>
        <p:txBody>
          <a:bodyPr wrap="square" lIns="0" rIns="0" tIns="0" bIns="0">
            <a:spAutoFit/>
          </a:bodyPr>
          <a:lstStyle/>
          <a:p>
            <a:pPr>
              <a:defRPr sz="1000" b="1">
                <a:solidFill>
                  <a:srgbClr val="34D399"/>
                </a:solidFill>
              </a:defRPr>
            </a:pPr>
            <a:r>
              <a:t>AI models optimize temperature control, improve indoor air quality (IAQ), and adjust setpoints dynamically based on load.</a:t>
            </a:r>
          </a:p>
        </p:txBody>
      </p:sp>
      <p:sp>
        <p:nvSpPr>
          <p:cNvPr id="19" name="Rounded Rectangle 18"/>
          <p:cNvSpPr/>
          <p:nvPr/>
        </p:nvSpPr>
        <p:spPr>
          <a:xfrm>
            <a:off x="731520" y="5102352"/>
            <a:ext cx="5230368" cy="1298448"/>
          </a:xfrm>
          <a:prstGeom prst="roundRect">
            <a:avLst/>
          </a:prstGeom>
          <a:solidFill>
            <a:srgbClr val="1C1216"/>
          </a:solidFill>
          <a:ln w="12700">
            <a:solidFill>
              <a:srgbClr val="501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5175504"/>
            <a:ext cx="4956048" cy="1152144"/>
          </a:xfrm>
          <a:prstGeom prst="rect">
            <a:avLst/>
          </a:prstGeom>
          <a:noFill/>
        </p:spPr>
        <p:txBody>
          <a:bodyPr wrap="square" lIns="0" rIns="0" tIns="0" bIns="0">
            <a:spAutoFit/>
          </a:bodyPr>
          <a:lstStyle/>
          <a:p>
            <a:pPr>
              <a:defRPr sz="1000">
                <a:solidFill>
                  <a:srgbClr val="F1F5F9"/>
                </a:solidFill>
              </a:defRPr>
            </a:pPr>
            <a:r>
              <a:t>Chiller plants operate with uncoordinated primary and secondary circuits, wasting massive electrical power.</a:t>
            </a:r>
          </a:p>
        </p:txBody>
      </p:sp>
      <p:sp>
        <p:nvSpPr>
          <p:cNvPr id="21" name="Rounded Rectangle 20"/>
          <p:cNvSpPr/>
          <p:nvPr/>
        </p:nvSpPr>
        <p:spPr>
          <a:xfrm>
            <a:off x="6227064" y="5102352"/>
            <a:ext cx="5230368" cy="1298448"/>
          </a:xfrm>
          <a:prstGeom prst="roundRect">
            <a:avLst/>
          </a:prstGeom>
          <a:solidFill>
            <a:srgbClr val="0F1C26"/>
          </a:solidFill>
          <a:ln w="12700">
            <a:solidFill>
              <a:srgbClr val="194B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5175504"/>
            <a:ext cx="4956048" cy="1152144"/>
          </a:xfrm>
          <a:prstGeom prst="rect">
            <a:avLst/>
          </a:prstGeom>
          <a:noFill/>
        </p:spPr>
        <p:txBody>
          <a:bodyPr wrap="square" lIns="0" rIns="0" tIns="0" bIns="0">
            <a:spAutoFit/>
          </a:bodyPr>
          <a:lstStyle/>
          <a:p>
            <a:pPr>
              <a:defRPr sz="1000" b="1">
                <a:solidFill>
                  <a:srgbClr val="34D399"/>
                </a:solidFill>
              </a:defRPr>
            </a:pPr>
            <a:r>
              <a:t>Deep thermodynamic Primary Circuit Optimizer, Secondary Circuit Optimizer, and Approach Optimizer.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18288"/>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229600" cy="274320"/>
          </a:xfrm>
          <a:prstGeom prst="rect">
            <a:avLst/>
          </a:prstGeom>
          <a:noFill/>
        </p:spPr>
        <p:txBody>
          <a:bodyPr wrap="square" lIns="0" rIns="0" tIns="0" bIns="0">
            <a:spAutoFit/>
          </a:bodyPr>
          <a:lstStyle/>
          <a:p>
            <a:pPr>
              <a:defRPr sz="950" b="1">
                <a:solidFill>
                  <a:srgbClr val="38BDF8"/>
                </a:solidFill>
              </a:defRPr>
            </a:pPr>
            <a:r>
              <a:t>TERRESTRIAL PLATFORM  |  TERRABMS  |  SYSTEM ARCHITECTURE</a:t>
            </a:r>
          </a:p>
        </p:txBody>
      </p:sp>
      <p:sp>
        <p:nvSpPr>
          <p:cNvPr id="5" name="TextBox 4"/>
          <p:cNvSpPr txBox="1"/>
          <p:nvPr/>
        </p:nvSpPr>
        <p:spPr>
          <a:xfrm>
            <a:off x="731520" y="731520"/>
            <a:ext cx="9601200" cy="777240"/>
          </a:xfrm>
          <a:prstGeom prst="rect">
            <a:avLst/>
          </a:prstGeom>
          <a:noFill/>
        </p:spPr>
        <p:txBody>
          <a:bodyPr wrap="square" lIns="0" rIns="0" tIns="0" bIns="0">
            <a:spAutoFit/>
          </a:bodyPr>
          <a:lstStyle/>
          <a:p>
            <a:pPr>
              <a:defRPr sz="1900" b="1">
                <a:solidFill>
                  <a:srgbClr val="FFFFFF"/>
                </a:solidFill>
              </a:defRPr>
            </a:pPr>
            <a:r>
              <a:t>End-to-End System Diagram &amp; Data Pipeline</a:t>
            </a:r>
          </a:p>
          <a:p>
            <a:pPr>
              <a:spcBef>
                <a:spcPts val="300"/>
              </a:spcBef>
              <a:defRPr sz="1050">
                <a:solidFill>
                  <a:srgbClr val="94A3B8"/>
                </a:solidFill>
              </a:defRPr>
            </a:pPr>
            <a:r>
              <a:t>Visual architecture diagram representing field telemetry ingestion, deterministic edge fabric, AI reasoning, and closed-loop actuation.</a:t>
            </a:r>
          </a:p>
        </p:txBody>
      </p:sp>
      <p:pic>
        <p:nvPicPr>
          <p:cNvPr id="6" name="Picture 5" descr="tp_logo_white.png"/>
          <p:cNvPicPr>
            <a:picLocks noChangeAspect="1"/>
          </p:cNvPicPr>
          <p:nvPr/>
        </p:nvPicPr>
        <p:blipFill>
          <a:blip r:embed="rId2"/>
          <a:stretch>
            <a:fillRect/>
          </a:stretch>
        </p:blipFill>
        <p:spPr>
          <a:xfrm>
            <a:off x="10469880" y="411480"/>
            <a:ext cx="987552" cy="384048"/>
          </a:xfrm>
          <a:prstGeom prst="rect">
            <a:avLst/>
          </a:prstGeom>
        </p:spPr>
      </p:pic>
      <p:sp>
        <p:nvSpPr>
          <p:cNvPr id="7" name="Rounded Rectangle 6"/>
          <p:cNvSpPr/>
          <p:nvPr/>
        </p:nvSpPr>
        <p:spPr>
          <a:xfrm>
            <a:off x="731520" y="1691640"/>
            <a:ext cx="2514600" cy="3611880"/>
          </a:xfrm>
          <a:prstGeom prst="roundRect">
            <a:avLst/>
          </a:prstGeom>
          <a:solidFill>
            <a:srgbClr val="13192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856232"/>
            <a:ext cx="2185416" cy="3282696"/>
          </a:xfrm>
          <a:prstGeom prst="rect">
            <a:avLst/>
          </a:prstGeom>
          <a:noFill/>
        </p:spPr>
        <p:txBody>
          <a:bodyPr wrap="square" lIns="0" rIns="0" tIns="0" bIns="0">
            <a:spAutoFit/>
          </a:bodyPr>
          <a:lstStyle/>
          <a:p>
            <a:pPr>
              <a:defRPr sz="850" b="1">
                <a:solidFill>
                  <a:srgbClr val="38BDF8"/>
                </a:solidFill>
              </a:defRPr>
            </a:pPr>
            <a:r>
              <a:t>LAYER 01</a:t>
            </a:r>
          </a:p>
          <a:p>
            <a:pPr>
              <a:spcBef>
                <a:spcPts val="300"/>
              </a:spcBef>
              <a:spcAft>
                <a:spcPts val="600"/>
              </a:spcAft>
              <a:defRPr sz="1200" b="1">
                <a:solidFill>
                  <a:srgbClr val="FFFFFF"/>
                </a:solidFill>
              </a:defRPr>
            </a:pPr>
            <a:r>
              <a:t>BACnet &amp; Field Ingestion</a:t>
            </a:r>
          </a:p>
          <a:p>
            <a:pPr>
              <a:spcAft>
                <a:spcPts val="800"/>
              </a:spcAft>
              <a:defRPr sz="900">
                <a:solidFill>
                  <a:srgbClr val="F1F5F9"/>
                </a:solidFill>
              </a:defRPr>
            </a:pPr>
            <a:r>
              <a:t>Native multi-protocol telemetry acquisition from AHU controllers, VAV boxes, chilled water BTU meters, and indoor air quality sensors.</a:t>
            </a:r>
          </a:p>
          <a:p>
            <a:pPr>
              <a:spcBef>
                <a:spcPts val="400"/>
              </a:spcBef>
              <a:defRPr sz="800" b="1">
                <a:solidFill>
                  <a:srgbClr val="94A3B8"/>
                </a:solidFill>
              </a:defRPr>
            </a:pPr>
            <a:r>
              <a:t>PROTOCOLS &amp; STANDARDS:</a:t>
            </a:r>
          </a:p>
          <a:p>
            <a:pPr>
              <a:spcBef>
                <a:spcPts val="200"/>
              </a:spcBef>
              <a:defRPr sz="850">
                <a:solidFill>
                  <a:srgbClr val="34D399"/>
                </a:solidFill>
              </a:defRPr>
            </a:pPr>
            <a:r>
              <a:t> • BACnet/IP &amp; MS/TP</a:t>
            </a:r>
            <a:br/>
            <a:r>
              <a:t> • Modbus TCP</a:t>
            </a:r>
            <a:br/>
            <a:r>
              <a:t> • LonWorks</a:t>
            </a:r>
          </a:p>
        </p:txBody>
      </p:sp>
      <p:sp>
        <p:nvSpPr>
          <p:cNvPr id="9" name="Rounded Rectangle 8"/>
          <p:cNvSpPr/>
          <p:nvPr/>
        </p:nvSpPr>
        <p:spPr>
          <a:xfrm>
            <a:off x="3465576" y="1691640"/>
            <a:ext cx="2514600" cy="3611880"/>
          </a:xfrm>
          <a:prstGeom prst="roundRect">
            <a:avLst/>
          </a:prstGeom>
          <a:solidFill>
            <a:srgbClr val="13192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0168" y="1856232"/>
            <a:ext cx="2185416" cy="3282696"/>
          </a:xfrm>
          <a:prstGeom prst="rect">
            <a:avLst/>
          </a:prstGeom>
          <a:noFill/>
        </p:spPr>
        <p:txBody>
          <a:bodyPr wrap="square" lIns="0" rIns="0" tIns="0" bIns="0">
            <a:spAutoFit/>
          </a:bodyPr>
          <a:lstStyle/>
          <a:p>
            <a:pPr>
              <a:defRPr sz="850" b="1">
                <a:solidFill>
                  <a:srgbClr val="38BDF8"/>
                </a:solidFill>
              </a:defRPr>
            </a:pPr>
            <a:r>
              <a:t>LAYER 02</a:t>
            </a:r>
          </a:p>
          <a:p>
            <a:pPr>
              <a:spcBef>
                <a:spcPts val="300"/>
              </a:spcBef>
              <a:spcAft>
                <a:spcPts val="600"/>
              </a:spcAft>
              <a:defRPr sz="1200" b="1">
                <a:solidFill>
                  <a:srgbClr val="FFFFFF"/>
                </a:solidFill>
              </a:defRPr>
            </a:pPr>
            <a:r>
              <a:t>Smart Campus Edge Gateway</a:t>
            </a:r>
          </a:p>
          <a:p>
            <a:pPr>
              <a:spcAft>
                <a:spcPts val="800"/>
              </a:spcAft>
              <a:defRPr sz="900">
                <a:solidFill>
                  <a:srgbClr val="F1F5F9"/>
                </a:solidFill>
              </a:defRPr>
            </a:pPr>
            <a:r>
              <a:t>Continuous environmental data aggregation, room thermal gradient normalization, and deterministic HVAC controller polling.</a:t>
            </a:r>
          </a:p>
          <a:p>
            <a:pPr>
              <a:spcBef>
                <a:spcPts val="400"/>
              </a:spcBef>
              <a:defRPr sz="800" b="1">
                <a:solidFill>
                  <a:srgbClr val="94A3B8"/>
                </a:solidFill>
              </a:defRPr>
            </a:pPr>
            <a:r>
              <a:t>PROTOCOLS &amp; STANDARDS:</a:t>
            </a:r>
          </a:p>
          <a:p>
            <a:pPr>
              <a:spcBef>
                <a:spcPts val="200"/>
              </a:spcBef>
              <a:defRPr sz="850">
                <a:solidFill>
                  <a:srgbClr val="34D399"/>
                </a:solidFill>
              </a:defRPr>
            </a:pPr>
            <a:r>
              <a:t> • BACnet Edge Bus</a:t>
            </a:r>
            <a:br/>
            <a:r>
              <a:t> • Thermal Sensor Fabric</a:t>
            </a:r>
            <a:br/>
            <a:r>
              <a:t> • Deterministic Polling</a:t>
            </a:r>
          </a:p>
        </p:txBody>
      </p:sp>
      <p:sp>
        <p:nvSpPr>
          <p:cNvPr id="11" name="Rounded Rectangle 10"/>
          <p:cNvSpPr/>
          <p:nvPr/>
        </p:nvSpPr>
        <p:spPr>
          <a:xfrm>
            <a:off x="6199632" y="1691640"/>
            <a:ext cx="2514600" cy="3611880"/>
          </a:xfrm>
          <a:prstGeom prst="roundRect">
            <a:avLst/>
          </a:prstGeom>
          <a:solidFill>
            <a:srgbClr val="13192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64224" y="1856232"/>
            <a:ext cx="2185416" cy="3282696"/>
          </a:xfrm>
          <a:prstGeom prst="rect">
            <a:avLst/>
          </a:prstGeom>
          <a:noFill/>
        </p:spPr>
        <p:txBody>
          <a:bodyPr wrap="square" lIns="0" rIns="0" tIns="0" bIns="0">
            <a:spAutoFit/>
          </a:bodyPr>
          <a:lstStyle/>
          <a:p>
            <a:pPr>
              <a:defRPr sz="850" b="1">
                <a:solidFill>
                  <a:srgbClr val="38BDF8"/>
                </a:solidFill>
              </a:defRPr>
            </a:pPr>
            <a:r>
              <a:t>LAYER 03</a:t>
            </a:r>
          </a:p>
          <a:p>
            <a:pPr>
              <a:spcBef>
                <a:spcPts val="300"/>
              </a:spcBef>
              <a:spcAft>
                <a:spcPts val="600"/>
              </a:spcAft>
              <a:defRPr sz="1200" b="1">
                <a:solidFill>
                  <a:srgbClr val="FFFFFF"/>
                </a:solidFill>
              </a:defRPr>
            </a:pPr>
            <a:r>
              <a:t>IAQ &amp; Chiller Optimizer</a:t>
            </a:r>
          </a:p>
          <a:p>
            <a:pPr>
              <a:spcAft>
                <a:spcPts val="800"/>
              </a:spcAft>
              <a:defRPr sz="900">
                <a:solidFill>
                  <a:srgbClr val="F1F5F9"/>
                </a:solidFill>
              </a:defRPr>
            </a:pPr>
            <a:r>
              <a:t>Dynamic indoor air quality (IAQ) and thermal comfort predictive modeling, central chiller COP optimization, and Delta-T syndrome mitigation.</a:t>
            </a:r>
          </a:p>
          <a:p>
            <a:pPr>
              <a:spcBef>
                <a:spcPts val="400"/>
              </a:spcBef>
              <a:defRPr sz="800" b="1">
                <a:solidFill>
                  <a:srgbClr val="94A3B8"/>
                </a:solidFill>
              </a:defRPr>
            </a:pPr>
            <a:r>
              <a:t>PROTOCOLS &amp; STANDARDS:</a:t>
            </a:r>
          </a:p>
          <a:p>
            <a:pPr>
              <a:spcBef>
                <a:spcPts val="200"/>
              </a:spcBef>
              <a:defRPr sz="850">
                <a:solidFill>
                  <a:srgbClr val="34D399"/>
                </a:solidFill>
              </a:defRPr>
            </a:pPr>
            <a:r>
              <a:t> • Predictive Comfort AI</a:t>
            </a:r>
            <a:br/>
            <a:r>
              <a:t> • Chiller COP Optimizer</a:t>
            </a:r>
            <a:br/>
            <a:r>
              <a:t> • Delta-T Mitigation</a:t>
            </a:r>
          </a:p>
        </p:txBody>
      </p:sp>
      <p:sp>
        <p:nvSpPr>
          <p:cNvPr id="13" name="Rounded Rectangle 12"/>
          <p:cNvSpPr/>
          <p:nvPr/>
        </p:nvSpPr>
        <p:spPr>
          <a:xfrm>
            <a:off x="8933688" y="1691640"/>
            <a:ext cx="2514600" cy="3611880"/>
          </a:xfrm>
          <a:prstGeom prst="roundRect">
            <a:avLst/>
          </a:prstGeom>
          <a:solidFill>
            <a:srgbClr val="13192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98280" y="1856232"/>
            <a:ext cx="2185416" cy="3282696"/>
          </a:xfrm>
          <a:prstGeom prst="rect">
            <a:avLst/>
          </a:prstGeom>
          <a:noFill/>
        </p:spPr>
        <p:txBody>
          <a:bodyPr wrap="square" lIns="0" rIns="0" tIns="0" bIns="0">
            <a:spAutoFit/>
          </a:bodyPr>
          <a:lstStyle/>
          <a:p>
            <a:pPr>
              <a:defRPr sz="850" b="1">
                <a:solidFill>
                  <a:srgbClr val="38BDF8"/>
                </a:solidFill>
              </a:defRPr>
            </a:pPr>
            <a:r>
              <a:t>LAYER 04</a:t>
            </a:r>
          </a:p>
          <a:p>
            <a:pPr>
              <a:spcBef>
                <a:spcPts val="300"/>
              </a:spcBef>
              <a:spcAft>
                <a:spcPts val="600"/>
              </a:spcAft>
              <a:defRPr sz="1200" b="1">
                <a:solidFill>
                  <a:srgbClr val="FFFFFF"/>
                </a:solidFill>
              </a:defRPr>
            </a:pPr>
            <a:r>
              <a:t>VAV &amp; Valve Actuation Cockpit</a:t>
            </a:r>
          </a:p>
          <a:p>
            <a:pPr>
              <a:spcAft>
                <a:spcPts val="800"/>
              </a:spcAft>
              <a:defRPr sz="900">
                <a:solidFill>
                  <a:srgbClr val="F1F5F9"/>
                </a:solidFill>
              </a:defRPr>
            </a:pPr>
            <a:r>
              <a:t>Closed-loop VAV damper setpoint adjustment, variable chilled water valve modulation, and ANSI/ISA-101 building supervisory consoles.</a:t>
            </a:r>
          </a:p>
          <a:p>
            <a:pPr>
              <a:spcBef>
                <a:spcPts val="400"/>
              </a:spcBef>
              <a:defRPr sz="800" b="1">
                <a:solidFill>
                  <a:srgbClr val="94A3B8"/>
                </a:solidFill>
              </a:defRPr>
            </a:pPr>
            <a:r>
              <a:t>PROTOCOLS &amp; STANDARDS:</a:t>
            </a:r>
          </a:p>
          <a:p>
            <a:pPr>
              <a:spcBef>
                <a:spcPts val="200"/>
              </a:spcBef>
              <a:defRPr sz="850">
                <a:solidFill>
                  <a:srgbClr val="34D399"/>
                </a:solidFill>
              </a:defRPr>
            </a:pPr>
            <a:r>
              <a:t> • VAV Damper Actuation</a:t>
            </a:r>
            <a:br/>
            <a:r>
              <a:t> • Modulating Valves</a:t>
            </a:r>
            <a:br/>
            <a:r>
              <a:t> • ISA-101 BMS HMI</a:t>
            </a:r>
          </a:p>
        </p:txBody>
      </p:sp>
      <p:sp>
        <p:nvSpPr>
          <p:cNvPr id="15" name="Rounded Rectangle 14"/>
          <p:cNvSpPr/>
          <p:nvPr/>
        </p:nvSpPr>
        <p:spPr>
          <a:xfrm>
            <a:off x="731520" y="5486400"/>
            <a:ext cx="10728655" cy="868680"/>
          </a:xfrm>
          <a:prstGeom prst="roundRect">
            <a:avLst/>
          </a:prstGeom>
          <a:solidFill>
            <a:srgbClr val="13192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596128"/>
            <a:ext cx="10241280" cy="640080"/>
          </a:xfrm>
          <a:prstGeom prst="rect">
            <a:avLst/>
          </a:prstGeom>
          <a:noFill/>
        </p:spPr>
        <p:txBody>
          <a:bodyPr wrap="square" lIns="0" rIns="0" tIns="0" bIns="0">
            <a:spAutoFit/>
          </a:bodyPr>
          <a:lstStyle/>
          <a:p>
            <a:pPr>
              <a:defRPr sz="850" b="1">
                <a:solidFill>
                  <a:srgbClr val="38BDF8"/>
                </a:solidFill>
              </a:defRPr>
            </a:pPr>
            <a:r>
              <a:t>UNIFIED DATA PIPELINE FLOW</a:t>
            </a:r>
          </a:p>
          <a:p>
            <a:pPr>
              <a:spcBef>
                <a:spcPts val="200"/>
              </a:spcBef>
              <a:defRPr sz="950" b="1">
                <a:solidFill>
                  <a:srgbClr val="FFFFFF"/>
                </a:solidFill>
              </a:defRPr>
            </a:pPr>
            <a:r>
              <a:t>BACnet Sensor Telemetry ➔ Campus Edge Ingestion Stream ➔ Predictive IAQ &amp; Chiller Optimization ➔ Closed-Loop Damper &amp; Valve Actuation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18288"/>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229600" cy="274320"/>
          </a:xfrm>
          <a:prstGeom prst="rect">
            <a:avLst/>
          </a:prstGeom>
          <a:noFill/>
        </p:spPr>
        <p:txBody>
          <a:bodyPr wrap="square" lIns="0" rIns="0" tIns="0" bIns="0">
            <a:spAutoFit/>
          </a:bodyPr>
          <a:lstStyle/>
          <a:p>
            <a:pPr>
              <a:defRPr sz="950" b="1">
                <a:solidFill>
                  <a:srgbClr val="38BDF8"/>
                </a:solidFill>
              </a:defRPr>
            </a:pPr>
            <a:r>
              <a:t>TERRESTRIAL PLATFORM  |  TERRABMS  |  DEPLOYMENT &amp; SI VALUE</a:t>
            </a:r>
          </a:p>
        </p:txBody>
      </p:sp>
      <p:sp>
        <p:nvSpPr>
          <p:cNvPr id="5" name="TextBox 4"/>
          <p:cNvSpPr txBox="1"/>
          <p:nvPr/>
        </p:nvSpPr>
        <p:spPr>
          <a:xfrm>
            <a:off x="731520" y="731520"/>
            <a:ext cx="9601200" cy="777240"/>
          </a:xfrm>
          <a:prstGeom prst="rect">
            <a:avLst/>
          </a:prstGeom>
          <a:noFill/>
        </p:spPr>
        <p:txBody>
          <a:bodyPr wrap="square" lIns="0" rIns="0" tIns="0" bIns="0">
            <a:spAutoFit/>
          </a:bodyPr>
          <a:lstStyle/>
          <a:p>
            <a:pPr>
              <a:defRPr sz="1900" b="1">
                <a:solidFill>
                  <a:srgbClr val="FFFFFF"/>
                </a:solidFill>
              </a:defRPr>
            </a:pPr>
            <a:r>
              <a:t>System Integrator Deployment Framework &amp; Commercial Model</a:t>
            </a:r>
          </a:p>
          <a:p>
            <a:pPr>
              <a:spcBef>
                <a:spcPts val="300"/>
              </a:spcBef>
              <a:defRPr sz="1050">
                <a:solidFill>
                  <a:srgbClr val="94A3B8"/>
                </a:solidFill>
              </a:defRPr>
            </a:pPr>
            <a:r>
              <a:t>Zero rip-and-replace turnkey onboarding with recurring enterprise margins and co-selling enablement.</a:t>
            </a:r>
          </a:p>
        </p:txBody>
      </p:sp>
      <p:pic>
        <p:nvPicPr>
          <p:cNvPr id="6" name="Picture 5" descr="tp_logo_white.png"/>
          <p:cNvPicPr>
            <a:picLocks noChangeAspect="1"/>
          </p:cNvPicPr>
          <p:nvPr/>
        </p:nvPicPr>
        <p:blipFill>
          <a:blip r:embed="rId2"/>
          <a:stretch>
            <a:fillRect/>
          </a:stretch>
        </p:blipFill>
        <p:spPr>
          <a:xfrm>
            <a:off x="10469880" y="411480"/>
            <a:ext cx="987552" cy="384048"/>
          </a:xfrm>
          <a:prstGeom prst="rect">
            <a:avLst/>
          </a:prstGeom>
        </p:spPr>
      </p:pic>
      <p:sp>
        <p:nvSpPr>
          <p:cNvPr id="7" name="Rounded Rectangle 6"/>
          <p:cNvSpPr/>
          <p:nvPr/>
        </p:nvSpPr>
        <p:spPr>
          <a:xfrm>
            <a:off x="731520" y="1691640"/>
            <a:ext cx="3429000" cy="2651760"/>
          </a:xfrm>
          <a:prstGeom prst="roundRect">
            <a:avLst/>
          </a:prstGeom>
          <a:solidFill>
            <a:srgbClr val="131926"/>
          </a:solidFill>
          <a:ln w="12700">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56232"/>
            <a:ext cx="3063240" cy="2322576"/>
          </a:xfrm>
          <a:prstGeom prst="rect">
            <a:avLst/>
          </a:prstGeom>
          <a:noFill/>
        </p:spPr>
        <p:txBody>
          <a:bodyPr wrap="square" lIns="0" rIns="0" tIns="0" bIns="0">
            <a:spAutoFit/>
          </a:bodyPr>
          <a:lstStyle/>
          <a:p>
            <a:pPr>
              <a:defRPr sz="850" b="1">
                <a:solidFill>
                  <a:srgbClr val="38BDF8"/>
                </a:solidFill>
              </a:defRPr>
            </a:pPr>
            <a:r>
              <a:t>PHASE 01 | CONNECTIVITY &amp; AUDIT</a:t>
            </a:r>
          </a:p>
          <a:p>
            <a:pPr>
              <a:spcBef>
                <a:spcPts val="300"/>
              </a:spcBef>
              <a:spcAft>
                <a:spcPts val="600"/>
              </a:spcAft>
              <a:defRPr sz="1200" b="1">
                <a:solidFill>
                  <a:srgbClr val="FFFFFF"/>
                </a:solidFill>
              </a:defRPr>
            </a:pPr>
            <a:r>
              <a:t>Zero Rip-and-Replace Onboarding</a:t>
            </a:r>
          </a:p>
          <a:p>
            <a:pPr>
              <a:defRPr sz="950">
                <a:solidFill>
                  <a:srgbClr val="F1F5F9"/>
                </a:solidFill>
              </a:defRPr>
            </a:pPr>
            <a:r>
              <a:t>Non-intrusive protocol discovery across field PLCs, RTUs, and historians. Plug-and-play mapping of tags into the unified TPIM semantic namespace without stopping ongoing plant production.</a:t>
            </a:r>
          </a:p>
        </p:txBody>
      </p:sp>
      <p:sp>
        <p:nvSpPr>
          <p:cNvPr id="9" name="Rounded Rectangle 8"/>
          <p:cNvSpPr/>
          <p:nvPr/>
        </p:nvSpPr>
        <p:spPr>
          <a:xfrm>
            <a:off x="4379976" y="1691640"/>
            <a:ext cx="3429000" cy="2651760"/>
          </a:xfrm>
          <a:prstGeom prst="roundRect">
            <a:avLst/>
          </a:prstGeom>
          <a:solidFill>
            <a:srgbClr val="131926"/>
          </a:solidFill>
          <a:ln w="12700">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62856" y="1856232"/>
            <a:ext cx="3063240" cy="2322576"/>
          </a:xfrm>
          <a:prstGeom prst="rect">
            <a:avLst/>
          </a:prstGeom>
          <a:noFill/>
        </p:spPr>
        <p:txBody>
          <a:bodyPr wrap="square" lIns="0" rIns="0" tIns="0" bIns="0">
            <a:spAutoFit/>
          </a:bodyPr>
          <a:lstStyle/>
          <a:p>
            <a:pPr>
              <a:defRPr sz="850" b="1">
                <a:solidFill>
                  <a:srgbClr val="38BDF8"/>
                </a:solidFill>
              </a:defRPr>
            </a:pPr>
            <a:r>
              <a:t>PHASE 02 | TWIN CALIBRATION</a:t>
            </a:r>
          </a:p>
          <a:p>
            <a:pPr>
              <a:spcBef>
                <a:spcPts val="300"/>
              </a:spcBef>
              <a:spcAft>
                <a:spcPts val="600"/>
              </a:spcAft>
              <a:defRPr sz="1200" b="1">
                <a:solidFill>
                  <a:srgbClr val="FFFFFF"/>
                </a:solidFill>
              </a:defRPr>
            </a:pPr>
            <a:r>
              <a:t>Physics-Model Synchronization</a:t>
            </a:r>
          </a:p>
          <a:p>
            <a:pPr>
              <a:defRPr sz="950">
                <a:solidFill>
                  <a:srgbClr val="F1F5F9"/>
                </a:solidFill>
              </a:defRPr>
            </a:pPr>
            <a:r>
              <a:t>Deploy high-frequency Edge Gateway on premise. Calibrate first-principles thermodynamic and kinematic models against historical telemetry to achieve 99.4%+ deterministic accuracy.</a:t>
            </a:r>
          </a:p>
        </p:txBody>
      </p:sp>
      <p:sp>
        <p:nvSpPr>
          <p:cNvPr id="11" name="Rounded Rectangle 10"/>
          <p:cNvSpPr/>
          <p:nvPr/>
        </p:nvSpPr>
        <p:spPr>
          <a:xfrm>
            <a:off x="8028432" y="1691640"/>
            <a:ext cx="3429000" cy="2651760"/>
          </a:xfrm>
          <a:prstGeom prst="roundRect">
            <a:avLst/>
          </a:prstGeom>
          <a:solidFill>
            <a:srgbClr val="131926"/>
          </a:solidFill>
          <a:ln w="12700">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11312" y="1856232"/>
            <a:ext cx="3063240" cy="2322576"/>
          </a:xfrm>
          <a:prstGeom prst="rect">
            <a:avLst/>
          </a:prstGeom>
          <a:noFill/>
        </p:spPr>
        <p:txBody>
          <a:bodyPr wrap="square" lIns="0" rIns="0" tIns="0" bIns="0">
            <a:spAutoFit/>
          </a:bodyPr>
          <a:lstStyle/>
          <a:p>
            <a:pPr>
              <a:defRPr sz="850" b="1">
                <a:solidFill>
                  <a:srgbClr val="38BDF8"/>
                </a:solidFill>
              </a:defRPr>
            </a:pPr>
            <a:r>
              <a:t>PHASE 03 | AUTONOMOUS GO-LIVE</a:t>
            </a:r>
          </a:p>
          <a:p>
            <a:pPr>
              <a:spcBef>
                <a:spcPts val="300"/>
              </a:spcBef>
              <a:spcAft>
                <a:spcPts val="600"/>
              </a:spcAft>
              <a:defRPr sz="1200" b="1">
                <a:solidFill>
                  <a:srgbClr val="FFFFFF"/>
                </a:solidFill>
              </a:defRPr>
            </a:pPr>
            <a:r>
              <a:t>Closed-Loop Setpoint Actuation</a:t>
            </a:r>
          </a:p>
          <a:p>
            <a:pPr>
              <a:defRPr sz="950">
                <a:solidFill>
                  <a:srgbClr val="F1F5F9"/>
                </a:solidFill>
              </a:defRPr>
            </a:pPr>
            <a:r>
              <a:t>Supervisory closed-loop setpoint dispatch with bumpless transfer. Comprehensive ISA-101 verified cockpit handoff with continuous SI recurring monitoring and support tiers.</a:t>
            </a:r>
          </a:p>
        </p:txBody>
      </p:sp>
      <p:sp>
        <p:nvSpPr>
          <p:cNvPr id="13" name="Rounded Rectangle 12"/>
          <p:cNvSpPr/>
          <p:nvPr/>
        </p:nvSpPr>
        <p:spPr>
          <a:xfrm>
            <a:off x="731520" y="4526280"/>
            <a:ext cx="10728655" cy="1828800"/>
          </a:xfrm>
          <a:prstGeom prst="roundRect">
            <a:avLst/>
          </a:prstGeom>
          <a:solidFill>
            <a:srgbClr val="13192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663440"/>
            <a:ext cx="10241280" cy="1554480"/>
          </a:xfrm>
          <a:prstGeom prst="rect">
            <a:avLst/>
          </a:prstGeom>
          <a:noFill/>
        </p:spPr>
        <p:txBody>
          <a:bodyPr wrap="square" lIns="0" rIns="0" tIns="0" bIns="0">
            <a:spAutoFit/>
          </a:bodyPr>
          <a:lstStyle/>
          <a:p>
            <a:pPr>
              <a:defRPr sz="1000" b="1">
                <a:solidFill>
                  <a:srgbClr val="38BDF8"/>
                </a:solidFill>
              </a:defRPr>
            </a:pPr>
            <a:r>
              <a:t>COMMERCIAL VALUE PROPOSITION FOR SYSTEM INTEGRATORS (TERRABMS)</a:t>
            </a:r>
          </a:p>
          <a:p>
            <a:pPr>
              <a:spcBef>
                <a:spcPts val="300"/>
              </a:spcBef>
              <a:defRPr sz="950">
                <a:solidFill>
                  <a:srgbClr val="F1F5F9"/>
                </a:solidFill>
              </a:defRPr>
            </a:pPr>
            <a:r>
              <a:t>• High-Margin Software Recurring Revenue: Earn 25%–35% continuous recurring margin on every TerraBMS software deployment, maintenance tier, and AI compute instance.</a:t>
            </a:r>
          </a:p>
          <a:p>
            <a:pPr>
              <a:spcBef>
                <a:spcPts val="300"/>
              </a:spcBef>
              <a:defRPr sz="950">
                <a:solidFill>
                  <a:srgbClr val="F1F5F9"/>
                </a:solidFill>
              </a:defRPr>
            </a:pPr>
            <a:r>
              <a:t>• Turnkey Engineering Velocity: Deploy within 7 to 14 days leveraging pre-trained neural networks and automated semantic tag mapping, avoiding expensive months-long custom PLC code rewrites.</a:t>
            </a:r>
          </a:p>
          <a:p>
            <a:pPr>
              <a:spcBef>
                <a:spcPts val="300"/>
              </a:spcBef>
              <a:defRPr sz="950">
                <a:solidFill>
                  <a:srgbClr val="F1F5F9"/>
                </a:solidFill>
              </a:defRPr>
            </a:pPr>
            <a:r>
              <a:t>• Enterprise Co-Selling &amp; Ecosystem: Access joint executive pipeline opportunities, certified engineering documentation, and board-level C-Suite presentation toolkits.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