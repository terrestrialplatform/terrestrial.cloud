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TerraGridX - Enterprise Product Specification</a:t>
            </a:r>
          </a:p>
          <a:p>
            <a:r>
              <a:t>Tagline: Automated Substation Disturbance Analytics &amp; Transmission Intelligence</a:t>
            </a:r>
          </a:p>
          <a:p/>
          <a:p>
            <a:r>
              <a:t>Outcome Quote:</a:t>
            </a:r>
          </a:p>
          <a:p>
            <a:r>
              <a:t>“Transforming transmission grid operations through automated COMTRADE harvest, waveform AI diagnostics, and nanosecond SOE timeline stitching.” (— THE OUTCOME-BASED REVOLUTION)</a:t>
            </a:r>
          </a:p>
          <a:p/>
          <a:p>
            <a:r>
              <a:t>Executive Overview:</a:t>
            </a:r>
          </a:p>
          <a:p>
            <a:r>
              <a:t>TerraGridX is the disturbance intelligence platform for transmission utilities and substations. It automatically harvests COMTRADE oscillography files from distributed protection relays, uses AI waveform diagnostics (DFT, Fortescue sequence components, impedance loops) to locate fault distance down to tower numbers, and stitches nanosecond Sequence of Events (SOE).</a:t>
            </a:r>
          </a:p>
          <a:p/>
          <a:p>
            <a:r>
              <a:t>Key Telemetry Metrics:</a:t>
            </a:r>
          </a:p>
          <a:p>
            <a:r>
              <a:t>- SUBSTATION BUS:: IEC 61850 MMS</a:t>
            </a:r>
          </a:p>
          <a:p>
            <a:r>
              <a:t>- GOOSE TRIPPING:: &lt; 4 ms Wire-Speed</a:t>
            </a:r>
          </a:p>
          <a:p>
            <a:r>
              <a:t>- FAULT LOCATION:: ±100m Precision</a:t>
            </a:r>
          </a:p>
          <a:p>
            <a:r>
              <a:t>- DUAL BUS PROTOCOL:: PRP / HSR Zero-Loss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TerraGridX - ANSI/ISA-101 Verified Operational Interface</a:t>
            </a:r>
          </a:p>
          <a:p>
            <a:r>
              <a:t>Representation: TerraGridX ANSI/ISA-101 Operational Interface &amp; Real-Time System Representation</a:t>
            </a:r>
          </a:p>
          <a:p>
            <a:r>
              <a:t>Compliance: ANSI/ISA-101 Verified HMI</a:t>
            </a:r>
          </a:p>
          <a:p>
            <a:r>
              <a:t>Asset File: terra_gridx_showcase.jpg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TerraGridX Will Do:</a:t>
            </a:r>
          </a:p>
          <a:p>
            <a:r>
              <a:t>[1] Automated COMTRADE Harvest:</a:t>
            </a:r>
          </a:p>
          <a:p>
            <a:r>
              <a:t>Continuous retrieval of IEEE C37.111-1991/1999/2013 CFG, DAT, and CFF files across distributed IEDs.</a:t>
            </a:r>
          </a:p>
          <a:p/>
          <a:p>
            <a:r>
              <a:t>[2] Full-Cycle Sliding-Window DFT Phasor Engine:</a:t>
            </a:r>
          </a:p>
          <a:p>
            <a:r>
              <a:t>Extracts instantaneous fundamental phasors and symmetrical sequence components (positive, negative, zero).</a:t>
            </a:r>
          </a:p>
          <a:p/>
          <a:p>
            <a:r>
              <a:t>[3] K₀-Compensated R-X Impedance Loops:</a:t>
            </a:r>
          </a:p>
          <a:p>
            <a:r>
              <a:t>Computes fault impedance trajectory on complex R-X plane to pinpoint distance to line fault.</a:t>
            </a:r>
          </a:p>
          <a:p/>
          <a:p>
            <a:r>
              <a:t>[4] IEC 60255 IDMT Protection Curve Verification:</a:t>
            </a:r>
          </a:p>
          <a:p>
            <a:r>
              <a:t>Validates Standard Inverse, Very Inverse, and Extremely Inverse overcurrent trip curves against actual relay times.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TerraGridX - Operational Use Cases &amp; Field Impact:</a:t>
            </a:r>
          </a:p>
          <a:p>
            <a:r>
              <a:t>[Productivity &amp; SAIDI/SAIFI Reduction] Productivity &amp; SAIDI/SAIFI Reduction (Fault Localization):</a:t>
            </a:r>
          </a:p>
          <a:p>
            <a:r>
              <a:t>Calculates exact fault distance down to tower numbers within 30 seconds of line trip, guiding repair crews directly to the spot. (TerraGridX openwiki).</a:t>
            </a:r>
          </a:p>
          <a:p/>
          <a:p>
            <a:r>
              <a:t>[Reduced Manpower] Reduced Manpower (Automated Remote COMTRADE Ingestion):</a:t>
            </a:r>
          </a:p>
          <a:p>
            <a:r>
              <a:t>Replaces manual substation visits with automated background harvesting of IEEE C37.111 COMTRADE files across all connected relays. (TerraGridX openwiki).</a:t>
            </a:r>
          </a:p>
          <a:p/>
          <a:p>
            <a:r>
              <a:t>[QA &amp; Protection Coordination] QA &amp; Protection Coordination (IEC 60255 IDMT Verification):</a:t>
            </a:r>
          </a:p>
          <a:p>
            <a:r>
              <a:t>Compares recorded trip times against Standard Inverse, Very Inverse, and Extremely Inverse curves to flag miscoordinated relay settings. (TerraGridX openwiki).</a:t>
            </a:r>
          </a:p>
          <a:p/>
          <a:p>
            <a:r>
              <a:t>[Efficiency] Efficiency (Circuit Breaker Arcing &amp; Timing Audit):</a:t>
            </a:r>
          </a:p>
          <a:p>
            <a:r>
              <a:t>Measures trip coil currents and breaker arcing times during each fault to schedule breaker overhauls before failures occur.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TerraGridX - Architectural Contrast (Legacy SCADA vs Terrestrial Platform):</a:t>
            </a:r>
          </a:p>
          <a:p>
            <a:r>
              <a:t>LEGACY:</a:t>
            </a:r>
          </a:p>
          <a:p>
            <a:r>
              <a:t>Engineers must manually travel to remote substations with laptops to download oscillography files after grid blackouts.</a:t>
            </a:r>
          </a:p>
          <a:p/>
          <a:p>
            <a:r>
              <a:t>TERRESTRIAL ADVANTAGE:</a:t>
            </a:r>
          </a:p>
          <a:p>
            <a:r>
              <a:t>Instant automated harvesting of CFG, DAT, and HDR files across hundreds of distributed IEDs over WAN.</a:t>
            </a:r>
          </a:p>
          <a:p/>
          <a:p>
            <a:r>
              <a:t>LEGACY:</a:t>
            </a:r>
          </a:p>
          <a:p>
            <a:r>
              <a:t>Manual inspection of raw sine wave traces taking days to determine breaker opening times and fault types.</a:t>
            </a:r>
          </a:p>
          <a:p/>
          <a:p>
            <a:r>
              <a:t>TERRESTRIAL ADVANTAGE:</a:t>
            </a:r>
          </a:p>
          <a:p>
            <a:r>
              <a:t>Instantaneous AI waveform diagnostics calculating fault impedance, arc resistance, and clearing times in seconds.</a:t>
            </a:r>
          </a:p>
          <a:p/>
          <a:p>
            <a:r>
              <a:t>LEGACY:</a:t>
            </a:r>
          </a:p>
          <a:p>
            <a:r>
              <a:t>Unsynchronized relay clocks leading to conflicting theories of what caused the blackout.</a:t>
            </a:r>
          </a:p>
          <a:p/>
          <a:p>
            <a:r>
              <a:t>TERRESTRIAL ADVANTAGE:</a:t>
            </a:r>
          </a:p>
          <a:p>
            <a:r>
              <a:t>GPS and PTP nanosecond-synchronized timeline stitching proving the precise root cause without dispute.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TerraGridX - End-to-End System Diagram &amp; Data Pipeline:</a:t>
            </a:r>
          </a:p>
          <a:p/>
          <a:p>
            <a:r>
              <a:t>Layer 01: Substation Process Bus Ingestion</a:t>
            </a:r>
          </a:p>
          <a:p>
            <a:r>
              <a:t>Ultra-fast signal acquisition from optical CT/PT instrument transformers, merging units (MU), protection relays, and circuit breaker controllers.</a:t>
            </a:r>
          </a:p>
          <a:p>
            <a:r>
              <a:t>Protocols: IEC 61850-9-2 (Sampled Values), IEC 61850-8-1 (GOOSE), IEEE COMTRADE</a:t>
            </a:r>
          </a:p>
          <a:p/>
          <a:p>
            <a:r>
              <a:t>Layer 02: Microsecond Process Bus</a:t>
            </a:r>
          </a:p>
          <a:p>
            <a:r>
              <a:t>Hardware-accelerated PRP/HSR redundant Ethernet streaming, IEEE 1588 PTP nanosecond synchronization, and sub-cycle waveform capture.</a:t>
            </a:r>
          </a:p>
          <a:p>
            <a:r>
              <a:t>Protocols: IEEE 1588 PTP Time-Sync, PRP/HSR Redundant Bus, Sub-Cycle Waveform Stream</a:t>
            </a:r>
          </a:p>
          <a:p/>
          <a:p>
            <a:r>
              <a:t>Layer 03: Synchrophasor Stability Core</a:t>
            </a:r>
          </a:p>
          <a:p>
            <a:r>
              <a:t>Real-time phasor measurement unit (PMU) angle divergence analysis, transmission grid oscillation damping, and fault location estimation.</a:t>
            </a:r>
          </a:p>
          <a:p>
            <a:r>
              <a:t>Protocols: PMU Angle Analysis, Grid Oscillation AI, Fault Location Engine</a:t>
            </a:r>
          </a:p>
          <a:p/>
          <a:p>
            <a:r>
              <a:t>Layer 04: Breaker Trip &amp; Grid Cockpit</a:t>
            </a:r>
          </a:p>
          <a:p>
            <a:r>
              <a:t>Sub-4ms GOOSE protective trip command verification, automated synchrocheck breaker closing, and ANSI/ISA-101 single-line substation cockpits.</a:t>
            </a:r>
          </a:p>
          <a:p>
            <a:r>
              <a:t>Protocols: Sub-4ms GOOSE Trips, Synchrocheck Closing, ISA-101 Grid HMI</a:t>
            </a:r>
          </a:p>
          <a:p/>
          <a:p>
            <a:r>
              <a:t>Pipeline Flow:</a:t>
            </a:r>
          </a:p>
          <a:p>
            <a:r>
              <a:t>DATA PIPELINE FLOW: IEC 61850 Sampled Values ➔ Redundant Microsecond Process Bus ➔ Synchrophasor Dynamic Stability AI ➔ Sub-4ms GOOSE Breaker Trip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TerraGridX - System Integrator Deployment Framework &amp; Commercial Model:</a:t>
            </a:r>
          </a:p>
          <a:p/>
          <a:p>
            <a:r>
              <a:t>Phase 1: Connectivity &amp; Audit</a:t>
            </a:r>
          </a:p>
          <a:p>
            <a:r>
              <a:t>Phase 2: Twin Calibration</a:t>
            </a:r>
          </a:p>
          <a:p>
            <a:r>
              <a:t>Phase 3: Autonomous Go-Live</a:t>
            </a:r>
          </a:p>
          <a:p/>
          <a:p>
            <a:r>
              <a:t>Commercial Enablement:</a:t>
            </a:r>
          </a:p>
          <a:p>
            <a:r>
              <a:t>- 25%-35% recurring SaaS margins</a:t>
            </a:r>
          </a:p>
          <a:p>
            <a:r>
              <a:t>- 7-14 day rapid commissioning</a:t>
            </a:r>
          </a:p>
          <a:p>
            <a:r>
              <a:t>- Co-selling and enterprise enablement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ENTERPRISE SPECIFICATION</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TerraGridX: Automated Substation Disturbance Analytics &amp; Transmission Intelligence</a:t>
            </a:r>
          </a:p>
          <a:p>
            <a:pPr>
              <a:spcBef>
                <a:spcPts val="300"/>
              </a:spcBef>
              <a:defRPr sz="1050">
                <a:solidFill>
                  <a:srgbClr val="94A3B8"/>
                </a:solidFill>
              </a:defRPr>
            </a:pPr>
            <a:r>
              <a:t>Autonomous Industrial Intelligence Suite · Tier-1 Plant Architecture</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6217920" cy="46634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5760720" cy="4297680"/>
          </a:xfrm>
          <a:prstGeom prst="rect">
            <a:avLst/>
          </a:prstGeom>
          <a:noFill/>
        </p:spPr>
        <p:txBody>
          <a:bodyPr wrap="square" lIns="0" rIns="0" tIns="0" bIns="0">
            <a:spAutoFit/>
          </a:bodyPr>
          <a:lstStyle/>
          <a:p>
            <a:pPr>
              <a:defRPr sz="1200" i="1" b="1">
                <a:solidFill>
                  <a:srgbClr val="38BDF8"/>
                </a:solidFill>
              </a:defRPr>
            </a:pPr>
            <a:r>
              <a:t>““Transforming transmission grid operations through automated COMTRADE harvest, waveform AI diagnostics, and nanosecond SOE timeline stitching.””</a:t>
            </a:r>
          </a:p>
          <a:p>
            <a:pPr>
              <a:spcBef>
                <a:spcPts val="400"/>
              </a:spcBef>
              <a:spcAft>
                <a:spcPts val="1200"/>
              </a:spcAft>
              <a:defRPr sz="950" b="1">
                <a:solidFill>
                  <a:srgbClr val="94A3B8"/>
                </a:solidFill>
              </a:defRPr>
            </a:pPr>
            <a:r>
              <a:t>— — THE OUTCOME-BASED REVOLUTION</a:t>
            </a:r>
          </a:p>
          <a:p>
            <a:pPr>
              <a:spcAft>
                <a:spcPts val="600"/>
              </a:spcAft>
              <a:defRPr sz="1050" b="1">
                <a:solidFill>
                  <a:srgbClr val="FFFFFF"/>
                </a:solidFill>
              </a:defRPr>
            </a:pPr>
            <a:r>
              <a:t>EXECUTIVE OPERATIONAL SYNOPSIS</a:t>
            </a:r>
          </a:p>
          <a:p>
            <a:pPr>
              <a:defRPr sz="1050">
                <a:solidFill>
                  <a:srgbClr val="F1F5F9"/>
                </a:solidFill>
              </a:defRPr>
            </a:pPr>
            <a:r>
              <a:t>TerraGridX is the disturbance intelligence platform for transmission utilities and substations. It automatically harvests COMTRADE oscillography files from distributed protection relays, uses AI waveform diagnostics (DFT, Fortescue sequence components, impedance loops) to locate fault distance down to tower numbers, and stitches nanosecond Sequence of Events (SOE).</a:t>
            </a:r>
          </a:p>
        </p:txBody>
      </p:sp>
      <p:sp>
        <p:nvSpPr>
          <p:cNvPr id="9" name="Rounded Rectangle 8"/>
          <p:cNvSpPr/>
          <p:nvPr/>
        </p:nvSpPr>
        <p:spPr>
          <a:xfrm>
            <a:off x="7132320"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828800"/>
            <a:ext cx="1810511" cy="914400"/>
          </a:xfrm>
          <a:prstGeom prst="rect">
            <a:avLst/>
          </a:prstGeom>
          <a:noFill/>
        </p:spPr>
        <p:txBody>
          <a:bodyPr wrap="square" lIns="0" rIns="0" tIns="0" bIns="0">
            <a:spAutoFit/>
          </a:bodyPr>
          <a:lstStyle/>
          <a:p>
            <a:pPr>
              <a:defRPr sz="850" b="1">
                <a:solidFill>
                  <a:srgbClr val="94A3B8"/>
                </a:solidFill>
              </a:defRPr>
            </a:pPr>
            <a:r>
              <a:t>SUBSTATION BUS</a:t>
            </a:r>
          </a:p>
          <a:p>
            <a:pPr>
              <a:spcBef>
                <a:spcPts val="400"/>
              </a:spcBef>
              <a:defRPr sz="1400" b="1">
                <a:solidFill>
                  <a:srgbClr val="FFFFFF"/>
                </a:solidFill>
              </a:defRPr>
            </a:pPr>
            <a:r>
              <a:t>IEC 61850 MMS</a:t>
            </a:r>
          </a:p>
        </p:txBody>
      </p:sp>
      <p:sp>
        <p:nvSpPr>
          <p:cNvPr id="11" name="Rounded Rectangle 10"/>
          <p:cNvSpPr/>
          <p:nvPr/>
        </p:nvSpPr>
        <p:spPr>
          <a:xfrm>
            <a:off x="9381743"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3" y="1828800"/>
            <a:ext cx="1810511" cy="914400"/>
          </a:xfrm>
          <a:prstGeom prst="rect">
            <a:avLst/>
          </a:prstGeom>
          <a:noFill/>
        </p:spPr>
        <p:txBody>
          <a:bodyPr wrap="square" lIns="0" rIns="0" tIns="0" bIns="0">
            <a:spAutoFit/>
          </a:bodyPr>
          <a:lstStyle/>
          <a:p>
            <a:pPr>
              <a:defRPr sz="850" b="1">
                <a:solidFill>
                  <a:srgbClr val="94A3B8"/>
                </a:solidFill>
              </a:defRPr>
            </a:pPr>
            <a:r>
              <a:t>GOOSE TRIPPING</a:t>
            </a:r>
          </a:p>
          <a:p>
            <a:pPr>
              <a:spcBef>
                <a:spcPts val="400"/>
              </a:spcBef>
              <a:defRPr sz="1400" b="1">
                <a:solidFill>
                  <a:srgbClr val="38BDF8"/>
                </a:solidFill>
              </a:defRPr>
            </a:pPr>
            <a:r>
              <a:t>&lt; 4 ms Wire-Speed</a:t>
            </a:r>
          </a:p>
        </p:txBody>
      </p:sp>
      <p:sp>
        <p:nvSpPr>
          <p:cNvPr id="13" name="Rounded Rectangle 12"/>
          <p:cNvSpPr/>
          <p:nvPr/>
        </p:nvSpPr>
        <p:spPr>
          <a:xfrm>
            <a:off x="7132320"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182112"/>
            <a:ext cx="1810511" cy="914400"/>
          </a:xfrm>
          <a:prstGeom prst="rect">
            <a:avLst/>
          </a:prstGeom>
          <a:noFill/>
        </p:spPr>
        <p:txBody>
          <a:bodyPr wrap="square" lIns="0" rIns="0" tIns="0" bIns="0">
            <a:spAutoFit/>
          </a:bodyPr>
          <a:lstStyle/>
          <a:p>
            <a:pPr>
              <a:defRPr sz="850" b="1">
                <a:solidFill>
                  <a:srgbClr val="94A3B8"/>
                </a:solidFill>
              </a:defRPr>
            </a:pPr>
            <a:r>
              <a:t>FAULT LOCATION</a:t>
            </a:r>
          </a:p>
          <a:p>
            <a:pPr>
              <a:spcBef>
                <a:spcPts val="400"/>
              </a:spcBef>
              <a:defRPr sz="1400" b="1">
                <a:solidFill>
                  <a:srgbClr val="FFFFFF"/>
                </a:solidFill>
              </a:defRPr>
            </a:pPr>
            <a:r>
              <a:t>±100m Precision</a:t>
            </a:r>
          </a:p>
        </p:txBody>
      </p:sp>
      <p:sp>
        <p:nvSpPr>
          <p:cNvPr id="15" name="Rounded Rectangle 14"/>
          <p:cNvSpPr/>
          <p:nvPr/>
        </p:nvSpPr>
        <p:spPr>
          <a:xfrm>
            <a:off x="9381743"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3" y="3182112"/>
            <a:ext cx="1810511" cy="914400"/>
          </a:xfrm>
          <a:prstGeom prst="rect">
            <a:avLst/>
          </a:prstGeom>
          <a:noFill/>
        </p:spPr>
        <p:txBody>
          <a:bodyPr wrap="square" lIns="0" rIns="0" tIns="0" bIns="0">
            <a:spAutoFit/>
          </a:bodyPr>
          <a:lstStyle/>
          <a:p>
            <a:pPr>
              <a:defRPr sz="850" b="1">
                <a:solidFill>
                  <a:srgbClr val="94A3B8"/>
                </a:solidFill>
              </a:defRPr>
            </a:pPr>
            <a:r>
              <a:t>DUAL BUS PROTOCOL</a:t>
            </a:r>
          </a:p>
          <a:p>
            <a:pPr>
              <a:spcBef>
                <a:spcPts val="400"/>
              </a:spcBef>
              <a:defRPr sz="1400" b="1">
                <a:solidFill>
                  <a:srgbClr val="FFFFFF"/>
                </a:solidFill>
              </a:defRPr>
            </a:pPr>
            <a:r>
              <a:t>PRP / HSR Zero-Loss</a:t>
            </a:r>
          </a:p>
        </p:txBody>
      </p:sp>
      <p:sp>
        <p:nvSpPr>
          <p:cNvPr id="17" name="Rounded Rectangle 16"/>
          <p:cNvSpPr/>
          <p:nvPr/>
        </p:nvSpPr>
        <p:spPr>
          <a:xfrm>
            <a:off x="7132320" y="4434840"/>
            <a:ext cx="4334256" cy="19202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4617720"/>
            <a:ext cx="3840480" cy="1554480"/>
          </a:xfrm>
          <a:prstGeom prst="rect">
            <a:avLst/>
          </a:prstGeom>
          <a:noFill/>
        </p:spPr>
        <p:txBody>
          <a:bodyPr wrap="square" lIns="0" rIns="0" tIns="0" bIns="0">
            <a:spAutoFit/>
          </a:bodyPr>
          <a:lstStyle/>
          <a:p>
            <a:pPr>
              <a:defRPr sz="950" b="1">
                <a:solidFill>
                  <a:srgbClr val="38BDF8"/>
                </a:solidFill>
              </a:defRPr>
            </a:pPr>
            <a:r>
              <a:t>TERRESTRIAL PLATFORM CORE</a:t>
            </a:r>
          </a:p>
          <a:p>
            <a:pPr>
              <a:spcBef>
                <a:spcPts val="200"/>
              </a:spcBef>
              <a:defRPr sz="1100" b="1">
                <a:solidFill>
                  <a:srgbClr val="FFFFFF"/>
                </a:solidFill>
              </a:defRPr>
            </a:pPr>
            <a:r>
              <a:t>Edge-to-Cloud Cognitive Nervous System</a:t>
            </a:r>
          </a:p>
          <a:p>
            <a:pPr>
              <a:spcBef>
                <a:spcPts val="400"/>
              </a:spcBef>
              <a:defRPr sz="900">
                <a:solidFill>
                  <a:srgbClr val="94A3B8"/>
                </a:solidFill>
              </a:defRPr>
            </a:pPr>
            <a:r>
              <a:t>Physics-informed mathematical twin running sub-25ms closed-loop supervisory control with full ISA-95/101 conformity.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OPERATIONAL INTERFACE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TerraGridX ANSI/ISA-101 Operational Interface &amp; Real-Time System Representation</a:t>
            </a:r>
          </a:p>
          <a:p>
            <a:pPr>
              <a:spcBef>
                <a:spcPts val="300"/>
              </a:spcBef>
              <a:defRPr sz="1050">
                <a:solidFill>
                  <a:srgbClr val="94A3B8"/>
                </a:solidFill>
              </a:defRPr>
            </a:pPr>
            <a:r>
              <a:t>ANSI/ISA-101 Ergonomic High-Performance HMI · Real-Time System Representation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45920"/>
            <a:ext cx="10728655" cy="470916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_gridx_showcase.jpg"/>
          <p:cNvPicPr>
            <a:picLocks noChangeAspect="1"/>
          </p:cNvPicPr>
          <p:nvPr/>
        </p:nvPicPr>
        <p:blipFill>
          <a:blip r:embed="rId3"/>
          <a:stretch>
            <a:fillRect/>
          </a:stretch>
        </p:blipFill>
        <p:spPr>
          <a:xfrm>
            <a:off x="777240" y="1691640"/>
            <a:ext cx="10637215" cy="46177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CORE CAPABILITIES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What TerraGridX Will Do</a:t>
            </a:r>
          </a:p>
          <a:p>
            <a:pPr>
              <a:spcBef>
                <a:spcPts val="300"/>
              </a:spcBef>
              <a:defRPr sz="1050">
                <a:solidFill>
                  <a:srgbClr val="94A3B8"/>
                </a:solidFill>
              </a:defRPr>
            </a:pPr>
            <a:r>
              <a:t>Specific operational functions and engineering capabilities directly sourced from technical documentation.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8BDF8"/>
                </a:solidFill>
              </a:defRPr>
            </a:pPr>
            <a:r>
              <a:t>PILLAR 01  |  ENGINEERING CAPABILITY</a:t>
            </a:r>
          </a:p>
          <a:p>
            <a:pPr>
              <a:spcBef>
                <a:spcPts val="300"/>
              </a:spcBef>
              <a:spcAft>
                <a:spcPts val="600"/>
              </a:spcAft>
              <a:defRPr sz="1300" b="1">
                <a:solidFill>
                  <a:srgbClr val="FFFFFF"/>
                </a:solidFill>
              </a:defRPr>
            </a:pPr>
            <a:r>
              <a:t>Automated COMTRADE Harvest</a:t>
            </a:r>
          </a:p>
          <a:p>
            <a:pPr>
              <a:defRPr sz="1000">
                <a:solidFill>
                  <a:srgbClr val="F1F5F9"/>
                </a:solidFill>
              </a:defRPr>
            </a:pPr>
            <a:r>
              <a:t>Continuous retrieval of IEEE C37.111-1991/1999/2013 CFG, DAT, and CFF files across distributed IEDs.</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8BDF8"/>
                </a:solidFill>
              </a:defRPr>
            </a:pPr>
            <a:r>
              <a:t>PILLAR 02  |  ENGINEERING CAPABILITY</a:t>
            </a:r>
          </a:p>
          <a:p>
            <a:pPr>
              <a:spcBef>
                <a:spcPts val="300"/>
              </a:spcBef>
              <a:spcAft>
                <a:spcPts val="600"/>
              </a:spcAft>
              <a:defRPr sz="1300" b="1">
                <a:solidFill>
                  <a:srgbClr val="FFFFFF"/>
                </a:solidFill>
              </a:defRPr>
            </a:pPr>
            <a:r>
              <a:t>Full-Cycle Sliding-Window DFT Phasor Engine</a:t>
            </a:r>
          </a:p>
          <a:p>
            <a:pPr>
              <a:defRPr sz="1000">
                <a:solidFill>
                  <a:srgbClr val="F1F5F9"/>
                </a:solidFill>
              </a:defRPr>
            </a:pPr>
            <a:r>
              <a:t>Extracts instantaneous fundamental phasors and symmetrical sequence components (positive, negative, zero).</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8BDF8"/>
                </a:solidFill>
              </a:defRPr>
            </a:pPr>
            <a:r>
              <a:t>PILLAR 03  |  ENGINEERING CAPABILITY</a:t>
            </a:r>
          </a:p>
          <a:p>
            <a:pPr>
              <a:spcBef>
                <a:spcPts val="300"/>
              </a:spcBef>
              <a:spcAft>
                <a:spcPts val="600"/>
              </a:spcAft>
              <a:defRPr sz="1300" b="1">
                <a:solidFill>
                  <a:srgbClr val="FFFFFF"/>
                </a:solidFill>
              </a:defRPr>
            </a:pPr>
            <a:r>
              <a:t>K₀-Compensated R-X Impedance Loops</a:t>
            </a:r>
          </a:p>
          <a:p>
            <a:pPr>
              <a:defRPr sz="1000">
                <a:solidFill>
                  <a:srgbClr val="F1F5F9"/>
                </a:solidFill>
              </a:defRPr>
            </a:pPr>
            <a:r>
              <a:t>Computes fault impedance trajectory on complex R-X plane to pinpoint distance to line fault.</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8BDF8"/>
                </a:solidFill>
              </a:defRPr>
            </a:pPr>
            <a:r>
              <a:t>PILLAR 04  |  ENGINEERING CAPABILITY</a:t>
            </a:r>
          </a:p>
          <a:p>
            <a:pPr>
              <a:spcBef>
                <a:spcPts val="300"/>
              </a:spcBef>
              <a:spcAft>
                <a:spcPts val="600"/>
              </a:spcAft>
              <a:defRPr sz="1300" b="1">
                <a:solidFill>
                  <a:srgbClr val="FFFFFF"/>
                </a:solidFill>
              </a:defRPr>
            </a:pPr>
            <a:r>
              <a:t>IEC 60255 IDMT Protection Curve Verification</a:t>
            </a:r>
          </a:p>
          <a:p>
            <a:pPr>
              <a:defRPr sz="1000">
                <a:solidFill>
                  <a:srgbClr val="F1F5F9"/>
                </a:solidFill>
              </a:defRPr>
            </a:pPr>
            <a:r>
              <a:t>Validates Standard Inverse, Very Inverse, and Extremely Inverse overcurrent trip curves against actual relay times.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FIELD USE CASES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Operational Use Cases &amp; Field Impact</a:t>
            </a:r>
          </a:p>
          <a:p>
            <a:pPr>
              <a:spcBef>
                <a:spcPts val="300"/>
              </a:spcBef>
              <a:defRPr sz="1050">
                <a:solidFill>
                  <a:srgbClr val="94A3B8"/>
                </a:solidFill>
              </a:defRPr>
            </a:pPr>
            <a:r>
              <a:t>Actual documented use cases across Quality Assurance, Reduced Manpower, Efficiency, and Asset Productivity.</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4D399"/>
                </a:solidFill>
              </a:defRPr>
            </a:pPr>
            <a:r>
              <a:t>CASE 01  |  PRODUCTIVITY &amp; SAIDI/SAIFI REDUCTION</a:t>
            </a:r>
          </a:p>
          <a:p>
            <a:pPr>
              <a:spcBef>
                <a:spcPts val="300"/>
              </a:spcBef>
              <a:spcAft>
                <a:spcPts val="600"/>
              </a:spcAft>
              <a:defRPr sz="1300" b="1">
                <a:solidFill>
                  <a:srgbClr val="FFFFFF"/>
                </a:solidFill>
              </a:defRPr>
            </a:pPr>
            <a:r>
              <a:t>Productivity &amp; SAIDI/SAIFI Reduction (Fault Localization)</a:t>
            </a:r>
          </a:p>
          <a:p>
            <a:pPr>
              <a:defRPr sz="1000">
                <a:solidFill>
                  <a:srgbClr val="F1F5F9"/>
                </a:solidFill>
              </a:defRPr>
            </a:pPr>
            <a:r>
              <a:t>Calculates exact fault distance down to tower numbers within 30 seconds of line trip, guiding repair crews directly to the spot. (TerraGridX openwiki).</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4D399"/>
                </a:solidFill>
              </a:defRPr>
            </a:pPr>
            <a:r>
              <a:t>CASE 02  |  REDUCED MANPOWER</a:t>
            </a:r>
          </a:p>
          <a:p>
            <a:pPr>
              <a:spcBef>
                <a:spcPts val="300"/>
              </a:spcBef>
              <a:spcAft>
                <a:spcPts val="600"/>
              </a:spcAft>
              <a:defRPr sz="1300" b="1">
                <a:solidFill>
                  <a:srgbClr val="FFFFFF"/>
                </a:solidFill>
              </a:defRPr>
            </a:pPr>
            <a:r>
              <a:t>Reduced Manpower (Automated Remote COMTRADE Ingestion)</a:t>
            </a:r>
          </a:p>
          <a:p>
            <a:pPr>
              <a:defRPr sz="1000">
                <a:solidFill>
                  <a:srgbClr val="F1F5F9"/>
                </a:solidFill>
              </a:defRPr>
            </a:pPr>
            <a:r>
              <a:t>Replaces manual substation visits with automated background harvesting of IEEE C37.111 COMTRADE files across all connected relays. (TerraGridX openwiki).</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4D399"/>
                </a:solidFill>
              </a:defRPr>
            </a:pPr>
            <a:r>
              <a:t>CASE 03  |  QA &amp; PROTECTION COORDINATION</a:t>
            </a:r>
          </a:p>
          <a:p>
            <a:pPr>
              <a:spcBef>
                <a:spcPts val="300"/>
              </a:spcBef>
              <a:spcAft>
                <a:spcPts val="600"/>
              </a:spcAft>
              <a:defRPr sz="1300" b="1">
                <a:solidFill>
                  <a:srgbClr val="FFFFFF"/>
                </a:solidFill>
              </a:defRPr>
            </a:pPr>
            <a:r>
              <a:t>QA &amp; Protection Coordination (IEC 60255 IDMT Verification)</a:t>
            </a:r>
          </a:p>
          <a:p>
            <a:pPr>
              <a:defRPr sz="1000">
                <a:solidFill>
                  <a:srgbClr val="F1F5F9"/>
                </a:solidFill>
              </a:defRPr>
            </a:pPr>
            <a:r>
              <a:t>Compares recorded trip times against Standard Inverse, Very Inverse, and Extremely Inverse curves to flag miscoordinated relay settings. (TerraGridX openwiki).</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4D399"/>
                </a:solidFill>
              </a:defRPr>
            </a:pPr>
            <a:r>
              <a:t>CASE 04  |  EFFICIENCY</a:t>
            </a:r>
          </a:p>
          <a:p>
            <a:pPr>
              <a:spcBef>
                <a:spcPts val="300"/>
              </a:spcBef>
              <a:spcAft>
                <a:spcPts val="600"/>
              </a:spcAft>
              <a:defRPr sz="1300" b="1">
                <a:solidFill>
                  <a:srgbClr val="FFFFFF"/>
                </a:solidFill>
              </a:defRPr>
            </a:pPr>
            <a:r>
              <a:t>Efficiency (Circuit Breaker Arcing &amp; Timing Audit)</a:t>
            </a:r>
          </a:p>
          <a:p>
            <a:pPr>
              <a:defRPr sz="1000">
                <a:solidFill>
                  <a:srgbClr val="F1F5F9"/>
                </a:solidFill>
              </a:defRPr>
            </a:pPr>
            <a:r>
              <a:t>Measures trip coil currents and breaker arcing times during each fault to schedule breaker overhauls before failures occur.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ARCHITECTURAL CONTRAST</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Comparison with Traditional SCADA / Legacy Systems</a:t>
            </a:r>
          </a:p>
          <a:p>
            <a:pPr>
              <a:spcBef>
                <a:spcPts val="300"/>
              </a:spcBef>
              <a:defRPr sz="1050">
                <a:solidFill>
                  <a:srgbClr val="94A3B8"/>
                </a:solidFill>
              </a:defRPr>
            </a:pPr>
            <a:r>
              <a:t>Point-by-point contrast demonstrating the technological shift from legacy industrial automation to the Terrestrial Platform.</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502920"/>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
          </a:xfrm>
          <a:prstGeom prst="rect">
            <a:avLst/>
          </a:prstGeom>
          <a:noFill/>
        </p:spPr>
        <p:txBody>
          <a:bodyPr wrap="none">
            <a:spAutoFit/>
          </a:bodyPr>
          <a:lstStyle/>
          <a:p>
            <a:pPr>
              <a:defRPr sz="1100" b="1">
                <a:solidFill>
                  <a:srgbClr val="EF4444"/>
                </a:solidFill>
              </a:defRPr>
            </a:pPr>
            <a:r>
              <a:t>TRADITIONAL LEGACY SYSTEMS / SILOED SCADA</a:t>
            </a:r>
          </a:p>
        </p:txBody>
      </p:sp>
      <p:sp>
        <p:nvSpPr>
          <p:cNvPr id="9" name="Rounded Rectangle 8"/>
          <p:cNvSpPr/>
          <p:nvPr/>
        </p:nvSpPr>
        <p:spPr>
          <a:xfrm>
            <a:off x="6227064" y="1691640"/>
            <a:ext cx="5230368" cy="502920"/>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4937760" cy="320040"/>
          </a:xfrm>
          <a:prstGeom prst="rect">
            <a:avLst/>
          </a:prstGeom>
          <a:noFill/>
        </p:spPr>
        <p:txBody>
          <a:bodyPr wrap="none">
            <a:spAutoFit/>
          </a:bodyPr>
          <a:lstStyle/>
          <a:p>
            <a:pPr>
              <a:defRPr sz="1100" b="1">
                <a:solidFill>
                  <a:srgbClr val="38BDF8"/>
                </a:solidFill>
              </a:defRPr>
            </a:pPr>
            <a:r>
              <a:t>TERRAGRIDX TERRESTRIAL PLATFORM ADVANTAGE</a:t>
            </a:r>
          </a:p>
        </p:txBody>
      </p:sp>
      <p:sp>
        <p:nvSpPr>
          <p:cNvPr id="11" name="Rounded Rectangle 10"/>
          <p:cNvSpPr/>
          <p:nvPr/>
        </p:nvSpPr>
        <p:spPr>
          <a:xfrm>
            <a:off x="731520" y="2286000"/>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4956048" cy="1152144"/>
          </a:xfrm>
          <a:prstGeom prst="rect">
            <a:avLst/>
          </a:prstGeom>
          <a:noFill/>
        </p:spPr>
        <p:txBody>
          <a:bodyPr wrap="square" lIns="0" rIns="0" tIns="0" bIns="0">
            <a:spAutoFit/>
          </a:bodyPr>
          <a:lstStyle/>
          <a:p>
            <a:pPr>
              <a:defRPr sz="1000">
                <a:solidFill>
                  <a:srgbClr val="F1F5F9"/>
                </a:solidFill>
              </a:defRPr>
            </a:pPr>
            <a:r>
              <a:t>Engineers must manually travel to remote substations with laptops to download oscillography files after grid blackouts.</a:t>
            </a:r>
          </a:p>
        </p:txBody>
      </p:sp>
      <p:sp>
        <p:nvSpPr>
          <p:cNvPr id="13" name="Rounded Rectangle 12"/>
          <p:cNvSpPr/>
          <p:nvPr/>
        </p:nvSpPr>
        <p:spPr>
          <a:xfrm>
            <a:off x="6227064" y="2286000"/>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359152"/>
            <a:ext cx="4956048" cy="1152144"/>
          </a:xfrm>
          <a:prstGeom prst="rect">
            <a:avLst/>
          </a:prstGeom>
          <a:noFill/>
        </p:spPr>
        <p:txBody>
          <a:bodyPr wrap="square" lIns="0" rIns="0" tIns="0" bIns="0">
            <a:spAutoFit/>
          </a:bodyPr>
          <a:lstStyle/>
          <a:p>
            <a:pPr>
              <a:defRPr sz="1000" b="1">
                <a:solidFill>
                  <a:srgbClr val="34D399"/>
                </a:solidFill>
              </a:defRPr>
            </a:pPr>
            <a:r>
              <a:t>Instant automated harvesting of CFG, DAT, and HDR files across hundreds of distributed IEDs over WAN.</a:t>
            </a:r>
          </a:p>
        </p:txBody>
      </p:sp>
      <p:sp>
        <p:nvSpPr>
          <p:cNvPr id="15" name="Rounded Rectangle 14"/>
          <p:cNvSpPr/>
          <p:nvPr/>
        </p:nvSpPr>
        <p:spPr>
          <a:xfrm>
            <a:off x="731520" y="3694176"/>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67328"/>
            <a:ext cx="4956048" cy="1152144"/>
          </a:xfrm>
          <a:prstGeom prst="rect">
            <a:avLst/>
          </a:prstGeom>
          <a:noFill/>
        </p:spPr>
        <p:txBody>
          <a:bodyPr wrap="square" lIns="0" rIns="0" tIns="0" bIns="0">
            <a:spAutoFit/>
          </a:bodyPr>
          <a:lstStyle/>
          <a:p>
            <a:pPr>
              <a:defRPr sz="1000">
                <a:solidFill>
                  <a:srgbClr val="F1F5F9"/>
                </a:solidFill>
              </a:defRPr>
            </a:pPr>
            <a:r>
              <a:t>Manual inspection of raw sine wave traces taking days to determine breaker opening times and fault types.</a:t>
            </a:r>
          </a:p>
        </p:txBody>
      </p:sp>
      <p:sp>
        <p:nvSpPr>
          <p:cNvPr id="17" name="Rounded Rectangle 16"/>
          <p:cNvSpPr/>
          <p:nvPr/>
        </p:nvSpPr>
        <p:spPr>
          <a:xfrm>
            <a:off x="6227064" y="3694176"/>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767328"/>
            <a:ext cx="4956048" cy="1152144"/>
          </a:xfrm>
          <a:prstGeom prst="rect">
            <a:avLst/>
          </a:prstGeom>
          <a:noFill/>
        </p:spPr>
        <p:txBody>
          <a:bodyPr wrap="square" lIns="0" rIns="0" tIns="0" bIns="0">
            <a:spAutoFit/>
          </a:bodyPr>
          <a:lstStyle/>
          <a:p>
            <a:pPr>
              <a:defRPr sz="1000" b="1">
                <a:solidFill>
                  <a:srgbClr val="34D399"/>
                </a:solidFill>
              </a:defRPr>
            </a:pPr>
            <a:r>
              <a:t>Instantaneous AI waveform diagnostics calculating fault impedance, arc resistance, and clearing times in seconds.</a:t>
            </a:r>
          </a:p>
        </p:txBody>
      </p:sp>
      <p:sp>
        <p:nvSpPr>
          <p:cNvPr id="19" name="Rounded Rectangle 18"/>
          <p:cNvSpPr/>
          <p:nvPr/>
        </p:nvSpPr>
        <p:spPr>
          <a:xfrm>
            <a:off x="731520" y="5102352"/>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75504"/>
            <a:ext cx="4956048" cy="1152144"/>
          </a:xfrm>
          <a:prstGeom prst="rect">
            <a:avLst/>
          </a:prstGeom>
          <a:noFill/>
        </p:spPr>
        <p:txBody>
          <a:bodyPr wrap="square" lIns="0" rIns="0" tIns="0" bIns="0">
            <a:spAutoFit/>
          </a:bodyPr>
          <a:lstStyle/>
          <a:p>
            <a:pPr>
              <a:defRPr sz="1000">
                <a:solidFill>
                  <a:srgbClr val="F1F5F9"/>
                </a:solidFill>
              </a:defRPr>
            </a:pPr>
            <a:r>
              <a:t>Unsynchronized relay clocks leading to conflicting theories of what caused the blackout.</a:t>
            </a:r>
          </a:p>
        </p:txBody>
      </p:sp>
      <p:sp>
        <p:nvSpPr>
          <p:cNvPr id="21" name="Rounded Rectangle 20"/>
          <p:cNvSpPr/>
          <p:nvPr/>
        </p:nvSpPr>
        <p:spPr>
          <a:xfrm>
            <a:off x="6227064" y="5102352"/>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5175504"/>
            <a:ext cx="4956048" cy="1152144"/>
          </a:xfrm>
          <a:prstGeom prst="rect">
            <a:avLst/>
          </a:prstGeom>
          <a:noFill/>
        </p:spPr>
        <p:txBody>
          <a:bodyPr wrap="square" lIns="0" rIns="0" tIns="0" bIns="0">
            <a:spAutoFit/>
          </a:bodyPr>
          <a:lstStyle/>
          <a:p>
            <a:pPr>
              <a:defRPr sz="1000" b="1">
                <a:solidFill>
                  <a:srgbClr val="34D399"/>
                </a:solidFill>
              </a:defRPr>
            </a:pPr>
            <a:r>
              <a:t>GPS and PTP nanosecond-synchronized timeline stitching proving the precise root cause without dispute.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SYSTEM ARCHITECTURE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End-to-End System Diagram &amp; Data Pipeline</a:t>
            </a:r>
          </a:p>
          <a:p>
            <a:pPr>
              <a:spcBef>
                <a:spcPts val="300"/>
              </a:spcBef>
              <a:defRPr sz="1050">
                <a:solidFill>
                  <a:srgbClr val="94A3B8"/>
                </a:solidFill>
              </a:defRPr>
            </a:pPr>
            <a:r>
              <a:t>Visual architecture diagram representing field telemetry ingestion, deterministic edge fabric, AI reasoning, and closed-loop actuation.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56232"/>
            <a:ext cx="2185416" cy="3282696"/>
          </a:xfrm>
          <a:prstGeom prst="rect">
            <a:avLst/>
          </a:prstGeom>
          <a:noFill/>
        </p:spPr>
        <p:txBody>
          <a:bodyPr wrap="square" lIns="0" rIns="0" tIns="0" bIns="0">
            <a:spAutoFit/>
          </a:bodyPr>
          <a:lstStyle/>
          <a:p>
            <a:pPr>
              <a:defRPr sz="850" b="1">
                <a:solidFill>
                  <a:srgbClr val="38BDF8"/>
                </a:solidFill>
              </a:defRPr>
            </a:pPr>
            <a:r>
              <a:t>LAYER 01</a:t>
            </a:r>
          </a:p>
          <a:p>
            <a:pPr>
              <a:spcBef>
                <a:spcPts val="300"/>
              </a:spcBef>
              <a:spcAft>
                <a:spcPts val="600"/>
              </a:spcAft>
              <a:defRPr sz="1200" b="1">
                <a:solidFill>
                  <a:srgbClr val="FFFFFF"/>
                </a:solidFill>
              </a:defRPr>
            </a:pPr>
            <a:r>
              <a:t>Substation Process Bus Ingestion</a:t>
            </a:r>
          </a:p>
          <a:p>
            <a:pPr>
              <a:spcAft>
                <a:spcPts val="800"/>
              </a:spcAft>
              <a:defRPr sz="900">
                <a:solidFill>
                  <a:srgbClr val="F1F5F9"/>
                </a:solidFill>
              </a:defRPr>
            </a:pPr>
            <a:r>
              <a:t>Ultra-fast signal acquisition from optical CT/PT instrument transformers, merging units (MU), protection relays, and circuit breaker controllers.</a:t>
            </a:r>
          </a:p>
          <a:p>
            <a:pPr>
              <a:spcBef>
                <a:spcPts val="400"/>
              </a:spcBef>
              <a:defRPr sz="800" b="1">
                <a:solidFill>
                  <a:srgbClr val="94A3B8"/>
                </a:solidFill>
              </a:defRPr>
            </a:pPr>
            <a:r>
              <a:t>PROTOCOLS &amp; STANDARDS:</a:t>
            </a:r>
          </a:p>
          <a:p>
            <a:pPr>
              <a:spcBef>
                <a:spcPts val="200"/>
              </a:spcBef>
              <a:defRPr sz="850">
                <a:solidFill>
                  <a:srgbClr val="34D399"/>
                </a:solidFill>
              </a:defRPr>
            </a:pPr>
            <a:r>
              <a:t> • IEC 61850-9-2 (Sampled Values)</a:t>
            </a:r>
            <a:br/>
            <a:r>
              <a:t> • IEC 61850-8-1 (GOOSE)</a:t>
            </a:r>
            <a:br/>
            <a:r>
              <a:t> • IEEE COMTRADE</a:t>
            </a:r>
          </a:p>
        </p:txBody>
      </p:sp>
      <p:sp>
        <p:nvSpPr>
          <p:cNvPr id="9" name="Rounded Rectangle 8"/>
          <p:cNvSpPr/>
          <p:nvPr/>
        </p:nvSpPr>
        <p:spPr>
          <a:xfrm>
            <a:off x="3465576"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56232"/>
            <a:ext cx="2185416" cy="3282696"/>
          </a:xfrm>
          <a:prstGeom prst="rect">
            <a:avLst/>
          </a:prstGeom>
          <a:noFill/>
        </p:spPr>
        <p:txBody>
          <a:bodyPr wrap="square" lIns="0" rIns="0" tIns="0" bIns="0">
            <a:spAutoFit/>
          </a:bodyPr>
          <a:lstStyle/>
          <a:p>
            <a:pPr>
              <a:defRPr sz="850" b="1">
                <a:solidFill>
                  <a:srgbClr val="38BDF8"/>
                </a:solidFill>
              </a:defRPr>
            </a:pPr>
            <a:r>
              <a:t>LAYER 02</a:t>
            </a:r>
          </a:p>
          <a:p>
            <a:pPr>
              <a:spcBef>
                <a:spcPts val="300"/>
              </a:spcBef>
              <a:spcAft>
                <a:spcPts val="600"/>
              </a:spcAft>
              <a:defRPr sz="1200" b="1">
                <a:solidFill>
                  <a:srgbClr val="FFFFFF"/>
                </a:solidFill>
              </a:defRPr>
            </a:pPr>
            <a:r>
              <a:t>Microsecond Process Bus</a:t>
            </a:r>
          </a:p>
          <a:p>
            <a:pPr>
              <a:spcAft>
                <a:spcPts val="800"/>
              </a:spcAft>
              <a:defRPr sz="900">
                <a:solidFill>
                  <a:srgbClr val="F1F5F9"/>
                </a:solidFill>
              </a:defRPr>
            </a:pPr>
            <a:r>
              <a:t>Hardware-accelerated PRP/HSR redundant Ethernet streaming, IEEE 1588 PTP nanosecond synchronization, and sub-cycle waveform capture.</a:t>
            </a:r>
          </a:p>
          <a:p>
            <a:pPr>
              <a:spcBef>
                <a:spcPts val="400"/>
              </a:spcBef>
              <a:defRPr sz="800" b="1">
                <a:solidFill>
                  <a:srgbClr val="94A3B8"/>
                </a:solidFill>
              </a:defRPr>
            </a:pPr>
            <a:r>
              <a:t>PROTOCOLS &amp; STANDARDS:</a:t>
            </a:r>
          </a:p>
          <a:p>
            <a:pPr>
              <a:spcBef>
                <a:spcPts val="200"/>
              </a:spcBef>
              <a:defRPr sz="850">
                <a:solidFill>
                  <a:srgbClr val="34D399"/>
                </a:solidFill>
              </a:defRPr>
            </a:pPr>
            <a:r>
              <a:t> • IEEE 1588 PTP Time-Sync</a:t>
            </a:r>
            <a:br/>
            <a:r>
              <a:t> • PRP/HSR Redundant Bus</a:t>
            </a:r>
            <a:br/>
            <a:r>
              <a:t> • Sub-Cycle Waveform Stream</a:t>
            </a:r>
          </a:p>
        </p:txBody>
      </p:sp>
      <p:sp>
        <p:nvSpPr>
          <p:cNvPr id="11" name="Rounded Rectangle 10"/>
          <p:cNvSpPr/>
          <p:nvPr/>
        </p:nvSpPr>
        <p:spPr>
          <a:xfrm>
            <a:off x="6199632"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856232"/>
            <a:ext cx="2185416" cy="3282696"/>
          </a:xfrm>
          <a:prstGeom prst="rect">
            <a:avLst/>
          </a:prstGeom>
          <a:noFill/>
        </p:spPr>
        <p:txBody>
          <a:bodyPr wrap="square" lIns="0" rIns="0" tIns="0" bIns="0">
            <a:spAutoFit/>
          </a:bodyPr>
          <a:lstStyle/>
          <a:p>
            <a:pPr>
              <a:defRPr sz="850" b="1">
                <a:solidFill>
                  <a:srgbClr val="38BDF8"/>
                </a:solidFill>
              </a:defRPr>
            </a:pPr>
            <a:r>
              <a:t>LAYER 03</a:t>
            </a:r>
          </a:p>
          <a:p>
            <a:pPr>
              <a:spcBef>
                <a:spcPts val="300"/>
              </a:spcBef>
              <a:spcAft>
                <a:spcPts val="600"/>
              </a:spcAft>
              <a:defRPr sz="1200" b="1">
                <a:solidFill>
                  <a:srgbClr val="FFFFFF"/>
                </a:solidFill>
              </a:defRPr>
            </a:pPr>
            <a:r>
              <a:t>Synchrophasor Stability Core</a:t>
            </a:r>
          </a:p>
          <a:p>
            <a:pPr>
              <a:spcAft>
                <a:spcPts val="800"/>
              </a:spcAft>
              <a:defRPr sz="900">
                <a:solidFill>
                  <a:srgbClr val="F1F5F9"/>
                </a:solidFill>
              </a:defRPr>
            </a:pPr>
            <a:r>
              <a:t>Real-time phasor measurement unit (PMU) angle divergence analysis, transmission grid oscillation damping, and fault location estimation.</a:t>
            </a:r>
          </a:p>
          <a:p>
            <a:pPr>
              <a:spcBef>
                <a:spcPts val="400"/>
              </a:spcBef>
              <a:defRPr sz="800" b="1">
                <a:solidFill>
                  <a:srgbClr val="94A3B8"/>
                </a:solidFill>
              </a:defRPr>
            </a:pPr>
            <a:r>
              <a:t>PROTOCOLS &amp; STANDARDS:</a:t>
            </a:r>
          </a:p>
          <a:p>
            <a:pPr>
              <a:spcBef>
                <a:spcPts val="200"/>
              </a:spcBef>
              <a:defRPr sz="850">
                <a:solidFill>
                  <a:srgbClr val="34D399"/>
                </a:solidFill>
              </a:defRPr>
            </a:pPr>
            <a:r>
              <a:t> • PMU Angle Analysis</a:t>
            </a:r>
            <a:br/>
            <a:r>
              <a:t> • Grid Oscillation AI</a:t>
            </a:r>
            <a:br/>
            <a:r>
              <a:t> • Fault Location Engine</a:t>
            </a:r>
          </a:p>
        </p:txBody>
      </p:sp>
      <p:sp>
        <p:nvSpPr>
          <p:cNvPr id="13" name="Rounded Rectangle 12"/>
          <p:cNvSpPr/>
          <p:nvPr/>
        </p:nvSpPr>
        <p:spPr>
          <a:xfrm>
            <a:off x="8933688"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56232"/>
            <a:ext cx="2185416" cy="3282696"/>
          </a:xfrm>
          <a:prstGeom prst="rect">
            <a:avLst/>
          </a:prstGeom>
          <a:noFill/>
        </p:spPr>
        <p:txBody>
          <a:bodyPr wrap="square" lIns="0" rIns="0" tIns="0" bIns="0">
            <a:spAutoFit/>
          </a:bodyPr>
          <a:lstStyle/>
          <a:p>
            <a:pPr>
              <a:defRPr sz="850" b="1">
                <a:solidFill>
                  <a:srgbClr val="38BDF8"/>
                </a:solidFill>
              </a:defRPr>
            </a:pPr>
            <a:r>
              <a:t>LAYER 04</a:t>
            </a:r>
          </a:p>
          <a:p>
            <a:pPr>
              <a:spcBef>
                <a:spcPts val="300"/>
              </a:spcBef>
              <a:spcAft>
                <a:spcPts val="600"/>
              </a:spcAft>
              <a:defRPr sz="1200" b="1">
                <a:solidFill>
                  <a:srgbClr val="FFFFFF"/>
                </a:solidFill>
              </a:defRPr>
            </a:pPr>
            <a:r>
              <a:t>Breaker Trip &amp; Grid Cockpit</a:t>
            </a:r>
          </a:p>
          <a:p>
            <a:pPr>
              <a:spcAft>
                <a:spcPts val="800"/>
              </a:spcAft>
              <a:defRPr sz="900">
                <a:solidFill>
                  <a:srgbClr val="F1F5F9"/>
                </a:solidFill>
              </a:defRPr>
            </a:pPr>
            <a:r>
              <a:t>Sub-4ms GOOSE protective trip command verification, automated synchrocheck breaker closing, and ANSI/ISA-101 single-line substation cockpits.</a:t>
            </a:r>
          </a:p>
          <a:p>
            <a:pPr>
              <a:spcBef>
                <a:spcPts val="400"/>
              </a:spcBef>
              <a:defRPr sz="800" b="1">
                <a:solidFill>
                  <a:srgbClr val="94A3B8"/>
                </a:solidFill>
              </a:defRPr>
            </a:pPr>
            <a:r>
              <a:t>PROTOCOLS &amp; STANDARDS:</a:t>
            </a:r>
          </a:p>
          <a:p>
            <a:pPr>
              <a:spcBef>
                <a:spcPts val="200"/>
              </a:spcBef>
              <a:defRPr sz="850">
                <a:solidFill>
                  <a:srgbClr val="34D399"/>
                </a:solidFill>
              </a:defRPr>
            </a:pPr>
            <a:r>
              <a:t> • Sub-4ms GOOSE Trips</a:t>
            </a:r>
            <a:br/>
            <a:r>
              <a:t> • Synchrocheck Closing</a:t>
            </a:r>
            <a:br/>
            <a:r>
              <a:t> • ISA-101 Grid HMI</a:t>
            </a:r>
          </a:p>
        </p:txBody>
      </p:sp>
      <p:sp>
        <p:nvSpPr>
          <p:cNvPr id="15" name="Rounded Rectangle 14"/>
          <p:cNvSpPr/>
          <p:nvPr/>
        </p:nvSpPr>
        <p:spPr>
          <a:xfrm>
            <a:off x="731520" y="5486400"/>
            <a:ext cx="10728655" cy="8686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596128"/>
            <a:ext cx="10241280" cy="640080"/>
          </a:xfrm>
          <a:prstGeom prst="rect">
            <a:avLst/>
          </a:prstGeom>
          <a:noFill/>
        </p:spPr>
        <p:txBody>
          <a:bodyPr wrap="square" lIns="0" rIns="0" tIns="0" bIns="0">
            <a:spAutoFit/>
          </a:bodyPr>
          <a:lstStyle/>
          <a:p>
            <a:pPr>
              <a:defRPr sz="850" b="1">
                <a:solidFill>
                  <a:srgbClr val="38BDF8"/>
                </a:solidFill>
              </a:defRPr>
            </a:pPr>
            <a:r>
              <a:t>UNIFIED DATA PIPELINE FLOW</a:t>
            </a:r>
          </a:p>
          <a:p>
            <a:pPr>
              <a:spcBef>
                <a:spcPts val="200"/>
              </a:spcBef>
              <a:defRPr sz="950" b="1">
                <a:solidFill>
                  <a:srgbClr val="FFFFFF"/>
                </a:solidFill>
              </a:defRPr>
            </a:pPr>
            <a:r>
              <a:t>IEC 61850 Sampled Values ➔ Redundant Microsecond Process Bus ➔ Synchrophasor Dynamic Stability AI ➔ Sub-4ms GOOSE Breaker Trip Execution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TERRAGRIDX  |  DEPLOYMENT &amp; SI VALUE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System Integrator Deployment Framework &amp; Commercial Model</a:t>
            </a:r>
          </a:p>
          <a:p>
            <a:pPr>
              <a:spcBef>
                <a:spcPts val="300"/>
              </a:spcBef>
              <a:defRPr sz="1050">
                <a:solidFill>
                  <a:srgbClr val="94A3B8"/>
                </a:solidFill>
              </a:defRPr>
            </a:pPr>
            <a:r>
              <a:t>Zero rip-and-replace turnkey onboarding with recurring enterprise margins and co-selling enablement.</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2322576"/>
          </a:xfrm>
          <a:prstGeom prst="rect">
            <a:avLst/>
          </a:prstGeom>
          <a:noFill/>
        </p:spPr>
        <p:txBody>
          <a:bodyPr wrap="square" lIns="0" rIns="0" tIns="0" bIns="0">
            <a:spAutoFit/>
          </a:bodyPr>
          <a:lstStyle/>
          <a:p>
            <a:pPr>
              <a:defRPr sz="850" b="1">
                <a:solidFill>
                  <a:srgbClr val="38BDF8"/>
                </a:solidFill>
              </a:defRPr>
            </a:pPr>
            <a:r>
              <a:t>PHASE 01 | CONNECTIVITY &amp; AUDIT</a:t>
            </a:r>
          </a:p>
          <a:p>
            <a:pPr>
              <a:spcBef>
                <a:spcPts val="300"/>
              </a:spcBef>
              <a:spcAft>
                <a:spcPts val="600"/>
              </a:spcAft>
              <a:defRPr sz="1200" b="1">
                <a:solidFill>
                  <a:srgbClr val="FFFFFF"/>
                </a:solidFill>
              </a:defRPr>
            </a:pPr>
            <a:r>
              <a:t>Zero Rip-and-Replace Onboarding</a:t>
            </a:r>
          </a:p>
          <a:p>
            <a:pPr>
              <a:defRPr sz="950">
                <a:solidFill>
                  <a:srgbClr val="F1F5F9"/>
                </a:solidFill>
              </a:defRPr>
            </a:pPr>
            <a:r>
              <a:t>Non-intrusive protocol discovery across field PLCs, RTUs, and historians. Plug-and-play mapping of tags into the unified TPIM semantic namespace without stopping ongoing plant production.</a:t>
            </a:r>
          </a:p>
        </p:txBody>
      </p:sp>
      <p:sp>
        <p:nvSpPr>
          <p:cNvPr id="9" name="Rounded Rectangle 8"/>
          <p:cNvSpPr/>
          <p:nvPr/>
        </p:nvSpPr>
        <p:spPr>
          <a:xfrm>
            <a:off x="4379976"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2322576"/>
          </a:xfrm>
          <a:prstGeom prst="rect">
            <a:avLst/>
          </a:prstGeom>
          <a:noFill/>
        </p:spPr>
        <p:txBody>
          <a:bodyPr wrap="square" lIns="0" rIns="0" tIns="0" bIns="0">
            <a:spAutoFit/>
          </a:bodyPr>
          <a:lstStyle/>
          <a:p>
            <a:pPr>
              <a:defRPr sz="850" b="1">
                <a:solidFill>
                  <a:srgbClr val="38BDF8"/>
                </a:solidFill>
              </a:defRPr>
            </a:pPr>
            <a:r>
              <a:t>PHASE 02 | TWIN CALIBRATION</a:t>
            </a:r>
          </a:p>
          <a:p>
            <a:pPr>
              <a:spcBef>
                <a:spcPts val="300"/>
              </a:spcBef>
              <a:spcAft>
                <a:spcPts val="600"/>
              </a:spcAft>
              <a:defRPr sz="1200" b="1">
                <a:solidFill>
                  <a:srgbClr val="FFFFFF"/>
                </a:solidFill>
              </a:defRPr>
            </a:pPr>
            <a:r>
              <a:t>Physics-Model Synchronization</a:t>
            </a:r>
          </a:p>
          <a:p>
            <a:pPr>
              <a:defRPr sz="950">
                <a:solidFill>
                  <a:srgbClr val="F1F5F9"/>
                </a:solidFill>
              </a:defRPr>
            </a:pPr>
            <a:r>
              <a:t>Deploy high-frequency Edge Gateway on premise. Calibrate first-principles thermodynamic and kinematic models against historical telemetry to achieve 99.4%+ deterministic accuracy.</a:t>
            </a:r>
          </a:p>
        </p:txBody>
      </p:sp>
      <p:sp>
        <p:nvSpPr>
          <p:cNvPr id="11" name="Rounded Rectangle 10"/>
          <p:cNvSpPr/>
          <p:nvPr/>
        </p:nvSpPr>
        <p:spPr>
          <a:xfrm>
            <a:off x="8028432"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2322576"/>
          </a:xfrm>
          <a:prstGeom prst="rect">
            <a:avLst/>
          </a:prstGeom>
          <a:noFill/>
        </p:spPr>
        <p:txBody>
          <a:bodyPr wrap="square" lIns="0" rIns="0" tIns="0" bIns="0">
            <a:spAutoFit/>
          </a:bodyPr>
          <a:lstStyle/>
          <a:p>
            <a:pPr>
              <a:defRPr sz="850" b="1">
                <a:solidFill>
                  <a:srgbClr val="38BDF8"/>
                </a:solidFill>
              </a:defRPr>
            </a:pPr>
            <a:r>
              <a:t>PHASE 03 | AUTONOMOUS GO-LIVE</a:t>
            </a:r>
          </a:p>
          <a:p>
            <a:pPr>
              <a:spcBef>
                <a:spcPts val="300"/>
              </a:spcBef>
              <a:spcAft>
                <a:spcPts val="600"/>
              </a:spcAft>
              <a:defRPr sz="1200" b="1">
                <a:solidFill>
                  <a:srgbClr val="FFFFFF"/>
                </a:solidFill>
              </a:defRPr>
            </a:pPr>
            <a:r>
              <a:t>Closed-Loop Setpoint Actuation</a:t>
            </a:r>
          </a:p>
          <a:p>
            <a:pPr>
              <a:defRPr sz="950">
                <a:solidFill>
                  <a:srgbClr val="F1F5F9"/>
                </a:solidFill>
              </a:defRPr>
            </a:pPr>
            <a:r>
              <a:t>Supervisory closed-loop setpoint dispatch with bumpless transfer. Comprehensive ISA-101 verified cockpit handoff with continuous SI recurring monitoring and support tiers.</a:t>
            </a:r>
          </a:p>
        </p:txBody>
      </p:sp>
      <p:sp>
        <p:nvSpPr>
          <p:cNvPr id="13" name="Rounded Rectangle 12"/>
          <p:cNvSpPr/>
          <p:nvPr/>
        </p:nvSpPr>
        <p:spPr>
          <a:xfrm>
            <a:off x="731520" y="4526280"/>
            <a:ext cx="10728655" cy="182880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63440"/>
            <a:ext cx="10241280" cy="1554480"/>
          </a:xfrm>
          <a:prstGeom prst="rect">
            <a:avLst/>
          </a:prstGeom>
          <a:noFill/>
        </p:spPr>
        <p:txBody>
          <a:bodyPr wrap="square" lIns="0" rIns="0" tIns="0" bIns="0">
            <a:spAutoFit/>
          </a:bodyPr>
          <a:lstStyle/>
          <a:p>
            <a:pPr>
              <a:defRPr sz="1000" b="1">
                <a:solidFill>
                  <a:srgbClr val="38BDF8"/>
                </a:solidFill>
              </a:defRPr>
            </a:pPr>
            <a:r>
              <a:t>COMMERCIAL VALUE PROPOSITION FOR SYSTEM INTEGRATORS (TERRAGRIDX)</a:t>
            </a:r>
          </a:p>
          <a:p>
            <a:pPr>
              <a:spcBef>
                <a:spcPts val="300"/>
              </a:spcBef>
              <a:defRPr sz="950">
                <a:solidFill>
                  <a:srgbClr val="F1F5F9"/>
                </a:solidFill>
              </a:defRPr>
            </a:pPr>
            <a:r>
              <a:t>• High-Margin Software Recurring Revenue: Earn 25%–35% continuous recurring margin on every TerraGridX software deployment, maintenance tier, and AI compute instance.</a:t>
            </a:r>
          </a:p>
          <a:p>
            <a:pPr>
              <a:spcBef>
                <a:spcPts val="300"/>
              </a:spcBef>
              <a:defRPr sz="950">
                <a:solidFill>
                  <a:srgbClr val="F1F5F9"/>
                </a:solidFill>
              </a:defRPr>
            </a:pPr>
            <a:r>
              <a:t>• Turnkey Engineering Velocity: Deploy within 7 to 14 days leveraging pre-trained neural networks and automated semantic tag mapping, avoiding expensive months-long custom PLC code rewrites.</a:t>
            </a:r>
          </a:p>
          <a:p>
            <a:pPr>
              <a:spcBef>
                <a:spcPts val="300"/>
              </a:spcBef>
              <a:defRPr sz="950">
                <a:solidFill>
                  <a:srgbClr val="F1F5F9"/>
                </a:solidFill>
              </a:defRPr>
            </a:pPr>
            <a:r>
              <a:t>• Enterprise Co-Selling &amp; Ecosystem: Access joint executive pipeline opportunities, certified engineering documentation, and board-level C-Suite presentation toolkits.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