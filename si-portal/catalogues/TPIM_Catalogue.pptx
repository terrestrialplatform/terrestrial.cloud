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TPIM - Enterprise Product Specification</a:t>
            </a:r>
          </a:p>
          <a:p>
            <a:r>
              <a:t>Tagline: Standardized Domain-Aware Industrial Semantic Framework</a:t>
            </a:r>
          </a:p>
          <a:p/>
          <a:p>
            <a:r>
              <a:t>Outcome Quote:</a:t>
            </a:r>
          </a:p>
          <a:p>
            <a:r>
              <a:t>“Years of domain expertise is used to create a domain aware information model of entire plant — the universal semantic digital twin.” (— THE OUTCOME-BASED REVOLUTION)</a:t>
            </a:r>
          </a:p>
          <a:p/>
          <a:p>
            <a:r>
              <a:t>Executive Overview:</a:t>
            </a:r>
          </a:p>
          <a:p>
            <a:r>
              <a:t>Years of domain engineering expertise are synthesized into TPIM: a standardized, vendor-agnostic information model of entire industrial plants. It establishes a unified semantic hierarchy connecting Single Line Diagrams (SLDs), P&amp;IDs, electrical models, and live field telemetry across design, commissioning, and operations.</a:t>
            </a:r>
          </a:p>
          <a:p/>
          <a:p>
            <a:r>
              <a:t>Key Telemetry Metrics:</a:t>
            </a:r>
          </a:p>
          <a:p>
            <a:r>
              <a:t>- DATA HISTORIAN:: OPC HDA / Lossless Time-Series</a:t>
            </a:r>
          </a:p>
          <a:p>
            <a:r>
              <a:t>- INGESTION VELOCITY:: 250k Tags / Sec</a:t>
            </a:r>
          </a:p>
          <a:p>
            <a:r>
              <a:t>- COMPRESSION RATIO:: 10:1 Lossless</a:t>
            </a:r>
          </a:p>
          <a:p>
            <a:r>
              <a:t>- QUERY LATENCY:: &lt; 50 ms Analytical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TPIM - ANSI/ISA-101 Verified Operational Interface</a:t>
            </a:r>
          </a:p>
          <a:p>
            <a:r>
              <a:t>Representation: TPIM ANSI/ISA-101 Operational Interface &amp; Real-Time System Representation</a:t>
            </a:r>
          </a:p>
          <a:p>
            <a:r>
              <a:t>Compliance: ANSI/ISA-101 Verified HMI</a:t>
            </a:r>
          </a:p>
          <a:p>
            <a:r>
              <a:t>Asset File: tpim_showcase.jpg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TPIM Will Do:</a:t>
            </a:r>
          </a:p>
          <a:p>
            <a:r>
              <a:t>[1] Domain-Aware Plant Information Model:</a:t>
            </a:r>
          </a:p>
          <a:p>
            <a:r>
              <a:t>Years of domain engineering expertise encoded into standardized object models covering entire plants.</a:t>
            </a:r>
          </a:p>
          <a:p/>
          <a:p>
            <a:r>
              <a:t>[2] Automated SCL / SCD Importer:</a:t>
            </a:r>
          </a:p>
          <a:p>
            <a:r>
              <a:t>Parses IEC 61850 Substation Configuration Language (SCL/SCD/CID/SSD) files into active models.</a:t>
            </a:r>
          </a:p>
          <a:p/>
          <a:p>
            <a:r>
              <a:t>[3] Dynamic Topological Relationship Graph:</a:t>
            </a:r>
          </a:p>
          <a:p>
            <a:r>
              <a:t>Instantly computes downstream electrical and hydraulic impacts when breakers trip or valves close.</a:t>
            </a:r>
          </a:p>
          <a:p/>
          <a:p>
            <a:r>
              <a:t>[4] Extensible Attribute Schema:</a:t>
            </a:r>
          </a:p>
          <a:p>
            <a:r>
              <a:t>Supports custom operational fields, maintenance history, warranty metadata, and carbon emission factors.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TPIM - Operational Use Cases &amp; Field Impact:</a:t>
            </a:r>
          </a:p>
          <a:p>
            <a:r>
              <a:t>[Productivity] Productivity (Multi-Vendor Asset Unification):</a:t>
            </a:r>
          </a:p>
          <a:p>
            <a:r>
              <a:t>Harmonizes telemetry from heterogeneous switchgears, transformers, and turbines into a singular enterprise ontology without vendor lock-in.</a:t>
            </a:r>
          </a:p>
          <a:p/>
          <a:p>
            <a:r>
              <a:t>[QA &amp; Engineering Continuity] QA &amp; Engineering Continuity (Automated EPC to Operations Handover):</a:t>
            </a:r>
          </a:p>
          <a:p>
            <a:r>
              <a:t>Directly imports engineering design files (IEC 61850 SCL/SCD, AutoCAD, SmartPlant) into live SCADA and asset models in minutes.</a:t>
            </a:r>
          </a:p>
          <a:p/>
          <a:p>
            <a:r>
              <a:t>[Efficiency] Efficiency (Domain-Grounded Context for AI Reasoning):</a:t>
            </a:r>
          </a:p>
          <a:p>
            <a:r>
              <a:t>Provides TerraAI and multi-agent swarms with relational awareness of electrical and fluid flow dependencies across the plant.</a:t>
            </a:r>
          </a:p>
          <a:p/>
          <a:p>
            <a:r>
              <a:t>[Reduced Manpower] Reduced Manpower (Plug-and-Play Template Onboarding):</a:t>
            </a:r>
          </a:p>
          <a:p>
            <a:r>
              <a:t>Cuts plant telemetry integration time by 75% through standardized asset templates, eliminating duplicate tag mapping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TPIM - Architectural Contrast (Legacy SCADA vs Terrestrial Platform):</a:t>
            </a:r>
          </a:p>
          <a:p>
            <a:r>
              <a:t>LEGACY:</a:t>
            </a:r>
          </a:p>
          <a:p>
            <a:r>
              <a:t>Fragmented point-to-point tag names (e.g. 'TAG_102_VAL') across proprietary PLCs with no semantic meaning.</a:t>
            </a:r>
          </a:p>
          <a:p/>
          <a:p>
            <a:r>
              <a:t>TERRESTRIAL ADVANTAGE:</a:t>
            </a:r>
          </a:p>
          <a:p>
            <a:r>
              <a:t>Universal structured object model connecting substation, bay, feeder, breaker, and sensor hierarchies.</a:t>
            </a:r>
          </a:p>
          <a:p/>
          <a:p>
            <a:r>
              <a:t>LEGACY:</a:t>
            </a:r>
          </a:p>
          <a:p>
            <a:r>
              <a:t>Static drawings and disconnected spreadsheets that become obsolete within weeks of plant commissioning.</a:t>
            </a:r>
          </a:p>
          <a:p/>
          <a:p>
            <a:r>
              <a:t>TERRESTRIAL ADVANTAGE:</a:t>
            </a:r>
          </a:p>
          <a:p>
            <a:r>
              <a:t>Living, synchronized digital twin schema updated automatically across engineering modifications.</a:t>
            </a:r>
          </a:p>
          <a:p/>
          <a:p>
            <a:r>
              <a:t>LEGACY:</a:t>
            </a:r>
          </a:p>
          <a:p>
            <a:r>
              <a:t>Months of manual tag engineering during expansion or retrofits.</a:t>
            </a:r>
          </a:p>
          <a:p/>
          <a:p>
            <a:r>
              <a:t>TERRESTRIAL ADVANTAGE:</a:t>
            </a:r>
          </a:p>
          <a:p>
            <a:r>
              <a:t>Zero-friction plug-and-play onboarding via standardized TPIM templates and auto-discovery.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TPIM - End-to-End System Diagram &amp; Data Pipeline:</a:t>
            </a:r>
          </a:p>
          <a:p/>
          <a:p>
            <a:r>
              <a:t>Layer 01: Enterprise Schema Ingestion</a:t>
            </a:r>
          </a:p>
          <a:p>
            <a:r>
              <a:t>Multi-standard semantic ingestion connecting substation SCD/SCL files, CIM network models, ISA-95 asset hierarchies, and engineering DEXPI XML schemas.</a:t>
            </a:r>
          </a:p>
          <a:p>
            <a:r>
              <a:t>Protocols: IEC 61850-6 (SCL/SCD), IEC 61970/61968 (CIM), ISA-95 Hierarchy</a:t>
            </a:r>
          </a:p>
          <a:p/>
          <a:p>
            <a:r>
              <a:t>Layer 02: Unified Semantic Graph Stream</a:t>
            </a:r>
          </a:p>
          <a:p>
            <a:r>
              <a:t>Real-time graph ontology synchronization, lossless high-density time-series tagging, and asset relationship graph streaming.</a:t>
            </a:r>
          </a:p>
          <a:p>
            <a:r>
              <a:t>Protocols: Semantic Graph Bus, Lossless Tag Engine, Sub-50ms Graph Stream</a:t>
            </a:r>
          </a:p>
          <a:p/>
          <a:p>
            <a:r>
              <a:t>Layer 03: Plant Ontology Graph Core</a:t>
            </a:r>
          </a:p>
          <a:p>
            <a:r>
              <a:t>Dynamic plant digital twin ontology matching, automated electrical topology tracing, cross-facility tag deduplication, and gross error data reconciliation.</a:t>
            </a:r>
          </a:p>
          <a:p>
            <a:r>
              <a:t>Protocols: Plant Ontology Graph, Topology Tracing AI, Data Reconciliation</a:t>
            </a:r>
          </a:p>
          <a:p/>
          <a:p>
            <a:r>
              <a:t>Layer 04: Semantic Model Cockpit</a:t>
            </a:r>
          </a:p>
          <a:p>
            <a:r>
              <a:t>Interactive semantic graph explorer, automated IEC 61850 configuration deployment, and ANSI/ISA-101 plant information model cockpits.</a:t>
            </a:r>
          </a:p>
          <a:p>
            <a:r>
              <a:t>Protocols: Graph Model Explorer, Schema Deployment, ISA-101 Semantic HMI</a:t>
            </a:r>
          </a:p>
          <a:p/>
          <a:p>
            <a:r>
              <a:t>Pipeline Flow:</a:t>
            </a:r>
          </a:p>
          <a:p>
            <a:r>
              <a:t>DATA PIPELINE FLOW: Enterprise SCL/CIM Schema Ingestion ➔ Unified Semantic Graph Stream ➔ Dynamic Plant Ontology &amp; Reconciliation ➔ Interactive Semantic Model Cockpit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TPIM - System Integrator Deployment Framework &amp; Commercial Model:</a:t>
            </a:r>
          </a:p>
          <a:p/>
          <a:p>
            <a:r>
              <a:t>Phase 1: Connectivity &amp; Audit</a:t>
            </a:r>
          </a:p>
          <a:p>
            <a:r>
              <a:t>Phase 2: Twin Calibration</a:t>
            </a:r>
          </a:p>
          <a:p>
            <a:r>
              <a:t>Phase 3: Autonomous Go-Live</a:t>
            </a:r>
          </a:p>
          <a:p/>
          <a:p>
            <a:r>
              <a:t>Commercial Enablement:</a:t>
            </a:r>
          </a:p>
          <a:p>
            <a:r>
              <a:t>- 25%-35% recurring SaaS margins</a:t>
            </a:r>
          </a:p>
          <a:p>
            <a:r>
              <a:t>- 7-14 day rapid commissioning</a:t>
            </a:r>
          </a:p>
          <a:p>
            <a:r>
              <a:t>- Co-selling and enterprise enablement support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 |  TPIM  |  ENTERPRISE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TPIM: Standardized Domain-Aware Industrial Semantic Framework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Autonomous Industrial Intelligence Suite · Tier-1 Plant Architecture</a:t>
            </a:r>
          </a:p>
        </p:txBody>
      </p:sp>
      <p:pic>
        <p:nvPicPr>
          <p:cNvPr id="6" name="Picture 5" descr="tp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87552" cy="3840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91640"/>
            <a:ext cx="6217920" cy="466344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576072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i="1" b="1">
                <a:solidFill>
                  <a:srgbClr val="38BDF8"/>
                </a:solidFill>
              </a:defRPr>
            </a:pPr>
            <a:r>
              <a:t>““Years of domain expertise is used to create a domain aware information model of entire plant — the universal semantic digital twin.””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950" b="1">
                <a:solidFill>
                  <a:srgbClr val="94A3B8"/>
                </a:solidFill>
              </a:defRPr>
            </a:pPr>
            <a:r>
              <a:t>— — THE OUTCOME-BASED REVOLUTION</a:t>
            </a:r>
          </a:p>
          <a:p>
            <a:pPr>
              <a:spcAft>
                <a:spcPts val="600"/>
              </a:spcAft>
              <a:defRPr sz="1050" b="1">
                <a:solidFill>
                  <a:srgbClr val="FFFFFF"/>
                </a:solidFill>
              </a:defRPr>
            </a:pPr>
            <a:r>
              <a:t>EXECUTIVE OPERATIONAL SYNOPSIS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Years of domain engineering expertise are synthesized into TPIM: a standardized, vendor-agnostic information model of entire industrial plants. It establishes a unified semantic hierarchy connecting Single Line Diagrams (SLDs), P&amp;IDs, electrical models, and live field telemetry across design, commissioning, and operations.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691640"/>
            <a:ext cx="2084831" cy="118872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1828800"/>
            <a:ext cx="181051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94A3B8"/>
                </a:solidFill>
              </a:defRPr>
            </a:pPr>
            <a:r>
              <a:t>DATA HISTORIAN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OPC HDA / Lossless Time-Series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1743" y="1691640"/>
            <a:ext cx="2084831" cy="118872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18903" y="1828800"/>
            <a:ext cx="181051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94A3B8"/>
                </a:solidFill>
              </a:defRPr>
            </a:pPr>
            <a:r>
              <a:t>INGESTION VELOCITY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250k Tags / Sec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3044952"/>
            <a:ext cx="2084831" cy="118872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182112"/>
            <a:ext cx="181051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94A3B8"/>
                </a:solidFill>
              </a:defRPr>
            </a:pPr>
            <a:r>
              <a:t>COMPRESSION RATIO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10:1 Lossless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81743" y="3044952"/>
            <a:ext cx="2084831" cy="118872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18903" y="3182112"/>
            <a:ext cx="181051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94A3B8"/>
                </a:solidFill>
              </a:defRPr>
            </a:pPr>
            <a:r>
              <a:t>QUERY LATENCY</a:t>
            </a:r>
          </a:p>
          <a:p>
            <a:pPr>
              <a:spcBef>
                <a:spcPts val="400"/>
              </a:spcBef>
              <a:defRPr sz="1400" b="1">
                <a:solidFill>
                  <a:srgbClr val="38BDF8"/>
                </a:solidFill>
              </a:defRPr>
            </a:pPr>
            <a:r>
              <a:t>&lt; 50 ms Analytical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4434840"/>
            <a:ext cx="4334256" cy="192024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hero_3d_tp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572000"/>
            <a:ext cx="1554480" cy="1554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61120" y="4663440"/>
            <a:ext cx="23774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CORE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t>Edge-to-Cloud Cognitive Nervous System</a:t>
            </a:r>
          </a:p>
          <a:p>
            <a:pPr>
              <a:spcBef>
                <a:spcPts val="400"/>
              </a:spcBef>
              <a:defRPr sz="900">
                <a:solidFill>
                  <a:srgbClr val="94A3B8"/>
                </a:solidFill>
              </a:defRPr>
            </a:pPr>
            <a:r>
              <a:t>Physics-informed mathematical twin running sub-25ms closed-loop supervisory control with full ISA-95/101 conformity.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 |  TPIM  |  OPERATIONAL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TPIM ANSI/ISA-101 Operational Interface &amp; Real-Time System Representation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ANSI/ISA-101 Ergonomic High-Performance HMI · Real-Time System Representation</a:t>
            </a:r>
          </a:p>
        </p:txBody>
      </p:sp>
      <p:pic>
        <p:nvPicPr>
          <p:cNvPr id="6" name="Picture 5" descr="tp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87552" cy="3840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45920"/>
            <a:ext cx="10728655" cy="47091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pim_showc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691640"/>
            <a:ext cx="10637215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 |  TPIM  |  CORE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What TPIM Will Do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Specific operational functions and engineering capabilities directly sourced from technical documentation.</a:t>
            </a:r>
          </a:p>
        </p:txBody>
      </p:sp>
      <p:pic>
        <p:nvPicPr>
          <p:cNvPr id="6" name="Picture 5" descr="tp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87552" cy="3840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9164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2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PILLAR 01  |  ENGINEERING CAPABILITY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Domain-Aware Plant Information Model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Years of domain engineering expertise encoded into standardized object models covering entire plants.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69164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7452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PILLAR 02  |  ENGINEERING CAPABILITY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Automated SCL / SCD Importer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Parses IEC 61850 Substation Configuration Language (SCL/SCD/CID/SSD) files into active models.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29768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PILLAR 03  |  ENGINEERING CAPABILITY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Dynamic Topological Relationship Graph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Instantly computes downstream electrical and hydraulic impacts when breakers trip or valves close.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411480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429768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PILLAR 04  |  ENGINEERING CAPABILITY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Extensible Attribute Schema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Supports custom operational fields, maintenance history, warranty metadata, and carbon emission factors.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 |  TPIM  |  FIELD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Operational Use Cases &amp; Field Impact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Actual documented use cases across Quality Assurance, Reduced Manpower, Efficiency, and Asset Productivity.</a:t>
            </a:r>
          </a:p>
        </p:txBody>
      </p:sp>
      <p:pic>
        <p:nvPicPr>
          <p:cNvPr id="6" name="Picture 5" descr="tp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87552" cy="3840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9164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2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4D399"/>
                </a:solidFill>
              </a:defRPr>
            </a:pPr>
            <a:r>
              <a:t>CASE 01  |  PRODUCTIVITY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Productivity (Multi-Vendor Asset Unification)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Harmonizes telemetry from heterogeneous switchgears, transformers, and turbines into a singular enterprise ontology without vendor lock-in.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69164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7452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4D399"/>
                </a:solidFill>
              </a:defRPr>
            </a:pPr>
            <a:r>
              <a:t>CASE 02  |  QA &amp; ENGINEERING CONTINUITY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QA &amp; Engineering Continuity (Automated EPC to Operations Handover)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Directly imports engineering design files (IEC 61850 SCL/SCD, AutoCAD, SmartPlant) into live SCADA and asset models in minutes.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29768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4D399"/>
                </a:solidFill>
              </a:defRPr>
            </a:pPr>
            <a:r>
              <a:t>CASE 03  |  EFFICIENCY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Efficiency (Domain-Grounded Context for AI Reasoning)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Provides TerraAI and multi-agent swarms with relational awareness of electrical and fluid flow dependencies across the plant.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4114800"/>
            <a:ext cx="5230368" cy="21945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4297680"/>
            <a:ext cx="477316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4D399"/>
                </a:solidFill>
              </a:defRPr>
            </a:pPr>
            <a:r>
              <a:t>CASE 04  |  REDUCED MANPOWER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Reduced Manpower (Plug-and-Play Template Onboarding)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Cuts plant telemetry integration time by 75% through standardized asset templates, eliminating duplicate tag mapping errors.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 |  TPIM  |  ARCHITECTURAL CONTRAST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Comparison with Traditional SCADA / Legacy Systems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Point-by-point contrast demonstrating the technological shift from legacy industrial automation to the Terrestrial Platform.</a:t>
            </a:r>
          </a:p>
        </p:txBody>
      </p:sp>
      <p:pic>
        <p:nvPicPr>
          <p:cNvPr id="6" name="Picture 5" descr="tp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87552" cy="3840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91640"/>
            <a:ext cx="5230368" cy="502920"/>
          </a:xfrm>
          <a:prstGeom prst="roundRect">
            <a:avLst/>
          </a:prstGeom>
          <a:solidFill>
            <a:srgbClr val="1C1216"/>
          </a:solidFill>
          <a:ln w="12700">
            <a:solidFill>
              <a:srgbClr val="5019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F4444"/>
                </a:solidFill>
              </a:defRPr>
            </a:pPr>
            <a:r>
              <a:t>TRADITIONAL LEGACY SYSTEMS / SILOED SCADA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691640"/>
            <a:ext cx="5230368" cy="502920"/>
          </a:xfrm>
          <a:prstGeom prst="roundRect">
            <a:avLst/>
          </a:prstGeom>
          <a:solidFill>
            <a:srgbClr val="0F1C26"/>
          </a:solidFill>
          <a:ln w="12700">
            <a:solidFill>
              <a:srgbClr val="194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4224" y="178308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TPIM TERRESTRIAL PLATFORM ADVANTAGE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86000"/>
            <a:ext cx="5230368" cy="1298448"/>
          </a:xfrm>
          <a:prstGeom prst="roundRect">
            <a:avLst/>
          </a:prstGeom>
          <a:solidFill>
            <a:srgbClr val="1C1216"/>
          </a:solidFill>
          <a:ln w="12700">
            <a:solidFill>
              <a:srgbClr val="5019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59152"/>
            <a:ext cx="4956048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F1F5F9"/>
                </a:solidFill>
              </a:defRPr>
            </a:pPr>
            <a:r>
              <a:t>Fragmented point-to-point tag names (e.g. 'TAG_102_VAL') across proprietary PLCs with no semantic meaning.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286000"/>
            <a:ext cx="5230368" cy="1298448"/>
          </a:xfrm>
          <a:prstGeom prst="roundRect">
            <a:avLst/>
          </a:prstGeom>
          <a:solidFill>
            <a:srgbClr val="0F1C26"/>
          </a:solidFill>
          <a:ln w="12700">
            <a:solidFill>
              <a:srgbClr val="194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2359152"/>
            <a:ext cx="4956048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4D399"/>
                </a:solidFill>
              </a:defRPr>
            </a:pPr>
            <a:r>
              <a:t>Universal structured object model connecting substation, bay, feeder, breaker, and sensor hierarchies.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94176"/>
            <a:ext cx="5230368" cy="1298448"/>
          </a:xfrm>
          <a:prstGeom prst="roundRect">
            <a:avLst/>
          </a:prstGeom>
          <a:solidFill>
            <a:srgbClr val="1C1216"/>
          </a:solidFill>
          <a:ln w="12700">
            <a:solidFill>
              <a:srgbClr val="5019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67328"/>
            <a:ext cx="4956048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F1F5F9"/>
                </a:solidFill>
              </a:defRPr>
            </a:pPr>
            <a:r>
              <a:t>Static drawings and disconnected spreadsheets that become obsolete within weeks of plant commissioning.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3694176"/>
            <a:ext cx="5230368" cy="1298448"/>
          </a:xfrm>
          <a:prstGeom prst="roundRect">
            <a:avLst/>
          </a:prstGeom>
          <a:solidFill>
            <a:srgbClr val="0F1C26"/>
          </a:solidFill>
          <a:ln w="12700">
            <a:solidFill>
              <a:srgbClr val="194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3767328"/>
            <a:ext cx="4956048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4D399"/>
                </a:solidFill>
              </a:defRPr>
            </a:pPr>
            <a:r>
              <a:t>Living, synchronized digital twin schema updated automatically across engineering modifications.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02352"/>
            <a:ext cx="5230368" cy="1298448"/>
          </a:xfrm>
          <a:prstGeom prst="roundRect">
            <a:avLst/>
          </a:prstGeom>
          <a:solidFill>
            <a:srgbClr val="1C1216"/>
          </a:solidFill>
          <a:ln w="12700">
            <a:solidFill>
              <a:srgbClr val="5019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175504"/>
            <a:ext cx="4956048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F1F5F9"/>
                </a:solidFill>
              </a:defRPr>
            </a:pPr>
            <a:r>
              <a:t>Months of manual tag engineering during expansion or retrofits.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5102352"/>
            <a:ext cx="5230368" cy="1298448"/>
          </a:xfrm>
          <a:prstGeom prst="roundRect">
            <a:avLst/>
          </a:prstGeom>
          <a:solidFill>
            <a:srgbClr val="0F1C26"/>
          </a:solidFill>
          <a:ln w="12700">
            <a:solidFill>
              <a:srgbClr val="194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5175504"/>
            <a:ext cx="4956048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4D399"/>
                </a:solidFill>
              </a:defRPr>
            </a:pPr>
            <a:r>
              <a:t>Zero-friction plug-and-play onboarding via standardized TPIM templates and auto-discovery.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 |  TPIM  | 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End-to-End System Diagram &amp; Data Pipeline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Visual architecture diagram representing field telemetry ingestion, deterministic edge fabric, AI reasoning, and closed-loop actuation.</a:t>
            </a:r>
          </a:p>
        </p:txBody>
      </p:sp>
      <p:pic>
        <p:nvPicPr>
          <p:cNvPr id="6" name="Picture 5" descr="tp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87552" cy="3840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91640"/>
            <a:ext cx="2514600" cy="361188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56232"/>
            <a:ext cx="2185416" cy="32826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LAYER 01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FFFFFF"/>
                </a:solidFill>
              </a:defRPr>
            </a:pPr>
            <a:r>
              <a:t>Enterprise Schema Ingestion</a:t>
            </a:r>
          </a:p>
          <a:p>
            <a:pPr>
              <a:spcAft>
                <a:spcPts val="800"/>
              </a:spcAft>
              <a:defRPr sz="900">
                <a:solidFill>
                  <a:srgbClr val="F1F5F9"/>
                </a:solidFill>
              </a:defRPr>
            </a:pPr>
            <a:r>
              <a:t>Multi-standard semantic ingestion connecting substation SCD/SCL files, CIM network models, ISA-95 asset hierarchies, and engineering DEXPI XML schemas.</a:t>
            </a:r>
          </a:p>
          <a:p>
            <a:pPr>
              <a:spcBef>
                <a:spcPts val="400"/>
              </a:spcBef>
              <a:defRPr sz="800" b="1">
                <a:solidFill>
                  <a:srgbClr val="94A3B8"/>
                </a:solidFill>
              </a:defRPr>
            </a:pPr>
            <a:r>
              <a:t>PROTOCOLS &amp; STANDARDS:</a:t>
            </a:r>
          </a:p>
          <a:p>
            <a:pPr>
              <a:spcBef>
                <a:spcPts val="200"/>
              </a:spcBef>
              <a:defRPr sz="850">
                <a:solidFill>
                  <a:srgbClr val="34D399"/>
                </a:solidFill>
              </a:defRPr>
            </a:pPr>
            <a:r>
              <a:t> • IEC 61850-6 (SCL/SCD)</a:t>
            </a:r>
            <a:br/>
            <a:r>
              <a:t> • IEC 61970/61968 (CIM)</a:t>
            </a:r>
            <a:br/>
            <a:r>
              <a:t> • ISA-95 Hierarchy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5576" y="1691640"/>
            <a:ext cx="2514600" cy="361188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1856232"/>
            <a:ext cx="2185416" cy="32826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LAYER 02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FFFFFF"/>
                </a:solidFill>
              </a:defRPr>
            </a:pPr>
            <a:r>
              <a:t>Unified Semantic Graph Stream</a:t>
            </a:r>
          </a:p>
          <a:p>
            <a:pPr>
              <a:spcAft>
                <a:spcPts val="800"/>
              </a:spcAft>
              <a:defRPr sz="900">
                <a:solidFill>
                  <a:srgbClr val="F1F5F9"/>
                </a:solidFill>
              </a:defRPr>
            </a:pPr>
            <a:r>
              <a:t>Real-time graph ontology synchronization, lossless high-density time-series tagging, and asset relationship graph streaming.</a:t>
            </a:r>
          </a:p>
          <a:p>
            <a:pPr>
              <a:spcBef>
                <a:spcPts val="400"/>
              </a:spcBef>
              <a:defRPr sz="800" b="1">
                <a:solidFill>
                  <a:srgbClr val="94A3B8"/>
                </a:solidFill>
              </a:defRPr>
            </a:pPr>
            <a:r>
              <a:t>PROTOCOLS &amp; STANDARDS:</a:t>
            </a:r>
          </a:p>
          <a:p>
            <a:pPr>
              <a:spcBef>
                <a:spcPts val="200"/>
              </a:spcBef>
              <a:defRPr sz="850">
                <a:solidFill>
                  <a:srgbClr val="34D399"/>
                </a:solidFill>
              </a:defRPr>
            </a:pPr>
            <a:r>
              <a:t> • Semantic Graph Bus</a:t>
            </a:r>
            <a:br/>
            <a:r>
              <a:t> • Lossless Tag Engine</a:t>
            </a:r>
            <a:br/>
            <a:r>
              <a:t> • Sub-50ms Graph Stream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91640"/>
            <a:ext cx="2514600" cy="361188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1856232"/>
            <a:ext cx="2185416" cy="32826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LAYER 03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FFFFFF"/>
                </a:solidFill>
              </a:defRPr>
            </a:pPr>
            <a:r>
              <a:t>Plant Ontology Graph Core</a:t>
            </a:r>
          </a:p>
          <a:p>
            <a:pPr>
              <a:spcAft>
                <a:spcPts val="800"/>
              </a:spcAft>
              <a:defRPr sz="900">
                <a:solidFill>
                  <a:srgbClr val="F1F5F9"/>
                </a:solidFill>
              </a:defRPr>
            </a:pPr>
            <a:r>
              <a:t>Dynamic plant digital twin ontology matching, automated electrical topology tracing, cross-facility tag deduplication, and gross error data reconciliation.</a:t>
            </a:r>
          </a:p>
          <a:p>
            <a:pPr>
              <a:spcBef>
                <a:spcPts val="400"/>
              </a:spcBef>
              <a:defRPr sz="800" b="1">
                <a:solidFill>
                  <a:srgbClr val="94A3B8"/>
                </a:solidFill>
              </a:defRPr>
            </a:pPr>
            <a:r>
              <a:t>PROTOCOLS &amp; STANDARDS:</a:t>
            </a:r>
          </a:p>
          <a:p>
            <a:pPr>
              <a:spcBef>
                <a:spcPts val="200"/>
              </a:spcBef>
              <a:defRPr sz="850">
                <a:solidFill>
                  <a:srgbClr val="34D399"/>
                </a:solidFill>
              </a:defRPr>
            </a:pPr>
            <a:r>
              <a:t> • Plant Ontology Graph</a:t>
            </a:r>
            <a:br/>
            <a:r>
              <a:t> • Topology Tracing AI</a:t>
            </a:r>
            <a:br/>
            <a:r>
              <a:t> • Data Reconciliation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33688" y="1691640"/>
            <a:ext cx="2514600" cy="361188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1856232"/>
            <a:ext cx="2185416" cy="32826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LAYER 04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FFFFFF"/>
                </a:solidFill>
              </a:defRPr>
            </a:pPr>
            <a:r>
              <a:t>Semantic Model Cockpit</a:t>
            </a:r>
          </a:p>
          <a:p>
            <a:pPr>
              <a:spcAft>
                <a:spcPts val="800"/>
              </a:spcAft>
              <a:defRPr sz="900">
                <a:solidFill>
                  <a:srgbClr val="F1F5F9"/>
                </a:solidFill>
              </a:defRPr>
            </a:pPr>
            <a:r>
              <a:t>Interactive semantic graph explorer, automated IEC 61850 configuration deployment, and ANSI/ISA-101 plant information model cockpits.</a:t>
            </a:r>
          </a:p>
          <a:p>
            <a:pPr>
              <a:spcBef>
                <a:spcPts val="400"/>
              </a:spcBef>
              <a:defRPr sz="800" b="1">
                <a:solidFill>
                  <a:srgbClr val="94A3B8"/>
                </a:solidFill>
              </a:defRPr>
            </a:pPr>
            <a:r>
              <a:t>PROTOCOLS &amp; STANDARDS:</a:t>
            </a:r>
          </a:p>
          <a:p>
            <a:pPr>
              <a:spcBef>
                <a:spcPts val="200"/>
              </a:spcBef>
              <a:defRPr sz="850">
                <a:solidFill>
                  <a:srgbClr val="34D399"/>
                </a:solidFill>
              </a:defRPr>
            </a:pPr>
            <a:r>
              <a:t> • Graph Model Explorer</a:t>
            </a:r>
            <a:br/>
            <a:r>
              <a:t> • Schema Deployment</a:t>
            </a:r>
            <a:br/>
            <a:r>
              <a:t> • ISA-101 Semantic HMI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486400"/>
            <a:ext cx="10728655" cy="86868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59612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UNIFIED DATA PIPELINE FLOW</a:t>
            </a:r>
          </a:p>
          <a:p>
            <a:pPr>
              <a:spcBef>
                <a:spcPts val="200"/>
              </a:spcBef>
              <a:defRPr sz="950" b="1">
                <a:solidFill>
                  <a:srgbClr val="FFFFFF"/>
                </a:solidFill>
              </a:defRPr>
            </a:pPr>
            <a:r>
              <a:t>Enterprise SCL/CIM Schema Ingestion ➔ Unified Semantic Graph Stream ➔ Dynamic Plant Ontology &amp; Reconciliation ➔ Interactive Semantic Model Cockpit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8288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TERRESTRIAL PLATFORM  |  TPIM  |  DEPLOYMENT &amp; SI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601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System Integrator Deployment Framework &amp; Commercial Model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Zero rip-and-replace turnkey onboarding with recurring enterprise margins and co-selling enablement.</a:t>
            </a:r>
          </a:p>
        </p:txBody>
      </p:sp>
      <p:pic>
        <p:nvPicPr>
          <p:cNvPr id="6" name="Picture 5" descr="tp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411480"/>
            <a:ext cx="987552" cy="3840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91640"/>
            <a:ext cx="3429000" cy="26517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3063240" cy="2322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PHASE 01 | CONNECTIVITY &amp; AUDIT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FFFFFF"/>
                </a:solidFill>
              </a:defRPr>
            </a:pPr>
            <a:r>
              <a:t>Zero Rip-and-Replace Onboarding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Non-intrusive protocol discovery across field PLCs, RTUs, and historians. Plug-and-play mapping of tags into the unified TPIM semantic namespace without stopping ongoing plant production.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691640"/>
            <a:ext cx="3429000" cy="26517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1856232"/>
            <a:ext cx="3063240" cy="2322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PHASE 02 | TWIN CALIBRATION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FFFFFF"/>
                </a:solidFill>
              </a:defRPr>
            </a:pPr>
            <a:r>
              <a:t>Physics-Model Synchronization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Deploy high-frequency Edge Gateway on premise. Calibrate first-principles thermodynamic and kinematic models against historical telemetry to achieve 99.4%+ deterministic accuracy.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691640"/>
            <a:ext cx="3429000" cy="265176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2834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856232"/>
            <a:ext cx="3063240" cy="2322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PHASE 03 | AUTONOMOUS GO-LIVE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FFFFFF"/>
                </a:solidFill>
              </a:defRPr>
            </a:pPr>
            <a:r>
              <a:t>Closed-Loop Setpoint Actuation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Supervisory closed-loop setpoint dispatch with bumpless transfer. Comprehensive ISA-101 verified cockpit handoff with continuous SI recurring monitoring and support tiers.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26280"/>
            <a:ext cx="10728655" cy="1828800"/>
          </a:xfrm>
          <a:prstGeom prst="roundRect">
            <a:avLst/>
          </a:prstGeom>
          <a:solidFill>
            <a:srgbClr val="1319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663440"/>
            <a:ext cx="102412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COMMERCIAL VALUE PROPOSITION FOR SYSTEM INTEGRATORS (TPIM)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</a:defRPr>
            </a:pPr>
            <a:r>
              <a:t>• High-Margin Software Recurring Revenue: Earn 25%–35% continuous recurring margin on every TPIM software deployment, maintenance tier, and AI compute instance.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</a:defRPr>
            </a:pPr>
            <a:r>
              <a:t>• Turnkey Engineering Velocity: Deploy within 7 to 14 days leveraging pre-trained neural networks and automated semantic tag mapping, avoiding expensive months-long custom PLC code rewrites.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</a:defRPr>
            </a:pPr>
            <a:r>
              <a:t>• Enterprise Co-Selling &amp; Ecosystem: Access joint executive pipeline opportunities, certified engineering documentation, and board-level C-Suite presentation toolkits.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