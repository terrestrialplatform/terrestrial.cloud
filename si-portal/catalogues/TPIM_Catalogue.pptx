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TPIM CATALOGUE  |  CONFIDENTIAL - AUTHORISED SYSTEM INTEGRATORS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00D4FF"/>
                </a:solidFill>
              </a:defRPr>
            </a:pPr>
            <a:r>
              <a:t>ENTERPRISE PRODUCT SPECIFICATION  |  PLANT ENGINEERING &amp; TWINS</a:t>
            </a:r>
          </a:p>
          <a:p>
            <a:pPr>
              <a:spcAft>
                <a:spcPts val="600"/>
              </a:spcAft>
              <a:defRPr sz="4600" b="1">
                <a:solidFill>
                  <a:srgbClr val="FFFFFF"/>
                </a:solidFill>
              </a:defRPr>
            </a:pPr>
            <a:r>
              <a:t>TPIM</a:t>
            </a:r>
          </a:p>
          <a:p>
            <a:pPr>
              <a:spcAft>
                <a:spcPts val="1200"/>
              </a:spcAft>
              <a:defRPr sz="1900" b="1">
                <a:solidFill>
                  <a:srgbClr val="F5C842"/>
                </a:solidFill>
              </a:defRPr>
            </a:pPr>
            <a:r>
              <a:t>Standardized Domain-Aware Industrial Semantic Framework</a:t>
            </a:r>
          </a:p>
          <a:p>
            <a:pPr>
              <a:spcAft>
                <a:spcPts val="1200"/>
              </a:spcAft>
              <a:defRPr sz="1400">
                <a:solidFill>
                  <a:srgbClr val="C8D8F0"/>
                </a:solidFill>
              </a:defRPr>
            </a:pPr>
            <a:r>
              <a:t>Industrial Protocol: IEC 61850-6 (SCL/SCD/CID)    |    Domain Architecture: Terrestrial Deterministic Edge Core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Standardized Domain-Aware Industrial Semantic Framework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DATA HISTORIAN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OPC HDA / Lossless Time-Series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INGESTION VELOCITY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250k Tags / Sec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COMPRESSION RATIO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10:1 Lossless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QUERY LATENCY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&lt; 50 ms Analytical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TPIM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Core Functional Deliverables &amp; Architectural Pillars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TPIM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01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Domain-Aware Plant Information Model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Years of domain engineering expertise encoded into standardized object models covering entire plants.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02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Automated SCL / SCD Importer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Parses IEC 61850 Substation Configuration Language (SCL/SCD/CID/SSD) files into active models.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03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Dynamic Topological Relationship Graph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Instantly computes downstream electrical and hydraulic impacts when breakers trip or valves close.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6908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04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Extensible Attribute Schema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Supports custom operational fields, maintenance history, warranty metadata, and carbon emission factors.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TPIM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Field-Validated Operational Use Cases &amp; Quantifiable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TPIM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01568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PRODUCTIVITY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Productivity (Multi-Vendor Asset Unification)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Harmonizes telemetry from heterogeneous switchgears, transformers, and turbines into a singular enterprise ontology without vendor lock-in.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645920"/>
            <a:ext cx="3401568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QA &amp; ENGINEERING CONTINUITY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QA &amp; Engineering Continuity (Automated EPC to Operations Handover)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Directly imports engineering design files (IEC 61850 SCL/SCD, AutoCAD, SmartPlant) into live SCADA and asset models in minutes.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645920"/>
            <a:ext cx="3401568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EFFICIENCY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Efficiency (Domain-Grounded Context for AI Reasoning)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Provides TerraAI and multi-agent swarms with relational awareness of electrical and fluid flow dependencies across the plant.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TPIM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Competitive Advantage: Terrestrial Platform vs. Legacy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TPIM CATALOGUE  |  CONFIDENTIAL - AUTHORISED SYSTEM INTEGRATORS ONLY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12080" cy="502920"/>
          </a:xfrm>
          <a:prstGeom prst="rect">
            <a:avLst/>
          </a:prstGeom>
          <a:solidFill>
            <a:srgbClr val="280F14"/>
          </a:solidFill>
          <a:ln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5555"/>
                </a:solidFill>
              </a:defRPr>
            </a:pPr>
            <a:r>
              <a:t>TRADITIONAL LEGACY SCADA / SILOED 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212080" cy="502920"/>
          </a:xfrm>
          <a:prstGeom prst="rect">
            <a:avLst/>
          </a:prstGeom>
          <a:solidFill>
            <a:srgbClr val="0A2D3C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00D4FF"/>
                </a:solidFill>
              </a:defRPr>
            </a:pPr>
            <a:r>
              <a:t>TPIM TERRESTRIAL PLATFORM ADVANTAGE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Fragmented point-to-point tag names (e.g. 'TAG_102_VAL') across proprietary PLCs with no semantic meaning.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24028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Universal structured object model connecting substation, bay, feeder, breaker, and sensor hierarchies.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Static drawings and disconnected spreadsheets that become obsolete within weeks of plant commissioning.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29184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Living, synchronized digital twin schema updated automatically across engineering modifications.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4340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Months of manual tag engineering during expansion or retrofits.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34340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Zero-friction plug-and-play onboarding via standardized TPIM templates and auto-discovery.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9496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Static high/low threshold alarms trigger only after physical process degradation has occurred.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39496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TPIM physics-informed models forecast multi-variable trajectories up to 72 hours in advance.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TPIM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End-to-End System Architecture &amp; Real-Time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TPIM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01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Enterprise Schema Ingestion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Multi-standard semantic ingestion connecting substation SCD/SCL files, CIM network models, ISA-95 asset hierarchies, and engineering DEXPI XML schemas.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02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Unified Semantic Graph Stream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Real-time graph ontology synchronization, lossless high-density time-series tagging, and asset relationship graph streaming.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03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Plant Ontology Graph Core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Dynamic plant digital twin ontology matching, automated electrical topology tracing, cross-facility tag deduplication, and gross error data reconciliation.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04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Semantic Model Cockpit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Interactive semantic graph explorer, automated IEC 61850 configuration deployment, and ANSI/ISA-101 plant information model cockpits.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TPIM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System Integrator Deployment Playbook &amp; Commercial Enablement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TPIM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01568" cy="32004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PHASE 01 | CONNECTIVITY &amp; AUDIT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Zero Rip-and-Replace Onboarding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Deploy edge container onto existing industrial PC or VM. Connect to plant DCS/PLCs via IEC 61850-6 (SCL/SCD/CID). Ingest and normalize all telemetry in under 48 hours without halting production.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645920"/>
            <a:ext cx="3401568" cy="32004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PHASE 02 | TWIN CALIBRATION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Physics-Model Synchronization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Feed historical historian data into TPIM models. Automatically build directed causal relationship graphs, calibrate thermodynamics/kinematics, and train edge neural operators.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645920"/>
            <a:ext cx="3401568" cy="32004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PHASE 03 | AUTONOMOUS GO-LIVE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Closed-Loop Setpoint Actuation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Transition from advisory warnings to sub-25ms supervisory actuation. Sync alarm suppressions with plant operators and link work orders into SAP/ERP for verifiable recurring ROI.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10698480" cy="1188720"/>
          </a:xfrm>
          <a:prstGeom prst="roundRect">
            <a:avLst/>
          </a:prstGeom>
          <a:solidFill>
            <a:srgbClr val="0C1C34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COMMERCIAL VALUE PROPOSITION FOR SYSTEM INTEGRATORS (TPIM)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High recurring annual software margins (ARR)  |  Turnkey deployment in days, not months  |  Full co-selling &amp; pre-sales engineering support  |  Certified partner portal at platform.tpcloud.tech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