
<file path=[Content_Types].xml><?xml version="1.0" encoding="utf-8"?>
<Types xmlns="http://schemas.openxmlformats.org/package/2006/content-types">
  <Default Extension="bin" ContentType="application/vnd.openxmlformats-officedocument.presentationml.printerSettings"/>
  <Default Extension="jpeg" ContentType="image/jpeg"/>
  <Default Extension="rels" ContentType="application/vnd.openxmlformats-package.relationships+xml"/>
  <Default Extension="xml" ContentType="application/xml"/>
  <Override PartName="/docProps/app.xml" ContentType="application/vnd.openxmlformats-officedocument.extended-properties+xml"/>
  <Override PartName="/docProps/core.xml" ContentType="application/vnd.openxmlformats-package.core-properties+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tableStyles.xml" ContentType="application/vnd.openxmlformats-officedocument.presentationml.tableStyles+xml"/>
  <Override PartName="/ppt/theme/theme1.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 Id="rId2" Type="http://schemas.openxmlformats.org/package/2006/relationships/metadata/thumbnail" Target="docProps/thumbnail.jpeg"/><Relationship Id="rId3" Type="http://schemas.openxmlformats.org/package/2006/relationships/metadata/core-properties" Target="docProps/core.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7"/>
    <p:sldId id="257" r:id="rId8"/>
    <p:sldId id="258" r:id="rId9"/>
    <p:sldId id="259" r:id="rId10"/>
    <p:sldId id="260" r:id="rId11"/>
    <p:sldId id="261" r:id="rId12"/>
  </p:sldIdLst>
  <p:sldSz cx="12191695" cy="6858000" type="screen4x3"/>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p:restoredTop sz="94660"/>
  </p:normalViewPr>
  <p:slideViewPr>
    <p:cSldViewPr snapToGrid="0" snapToObjects="1">
      <p:cViewPr varScale="1">
        <p:scale>
          <a:sx n="124" d="100"/>
          <a:sy n="124" d="100"/>
        </p:scale>
        <p:origin x="-1512" y="-112"/>
      </p:cViewPr>
      <p:guideLst>
        <p:guide orient="horz" pos="2160"/>
        <p:guide pos="2880"/>
      </p:guideLst>
    </p:cSldViewPr>
  </p:slideViewPr>
  <p:notesTextViewPr>
    <p:cViewPr>
      <p:scale>
        <a:sx n="100" d="100"/>
        <a:sy n="100" d="100"/>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printerSettings" Target="printerSettings/printerSettings1.bin"/><Relationship Id="rId3" Type="http://schemas.openxmlformats.org/officeDocument/2006/relationships/presProps" Target="presProps.xml"/><Relationship Id="rId4" Type="http://schemas.openxmlformats.org/officeDocument/2006/relationships/viewProps" Target="viewProps.xml"/><Relationship Id="rId5" Type="http://schemas.openxmlformats.org/officeDocument/2006/relationships/theme" Target="theme/theme1.xml"/><Relationship Id="rId6" Type="http://schemas.openxmlformats.org/officeDocument/2006/relationships/tableStyles" Target="tableStyles.xml"/><Relationship Id="rId7" Type="http://schemas.openxmlformats.org/officeDocument/2006/relationships/slide" Target="slides/slide1.xml"/><Relationship Id="rId8" Type="http://schemas.openxmlformats.org/officeDocument/2006/relationships/slide" Target="slides/slide2.xml"/><Relationship Id="rId9" Type="http://schemas.openxmlformats.org/officeDocument/2006/relationships/slide" Target="slides/slide3.xml"/><Relationship Id="rId10" Type="http://schemas.openxmlformats.org/officeDocument/2006/relationships/slide" Target="slides/slide4.xml"/><Relationship Id="rId11" Type="http://schemas.openxmlformats.org/officeDocument/2006/relationships/slide" Target="slides/slide5.xml"/><Relationship Id="rId12" Type="http://schemas.openxmlformats.org/officeDocument/2006/relationships/slide" Target="slides/slide6.xml"/></Relationship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smtClean="0"/>
              <a:t>Click to edit Master title style</a:t>
            </a:r>
            <a:endParaRPr lang="en-US"/>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smtClean="0"/>
              <a:t>Click to edit Master subtitle style</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168075583"/>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idx="1"/>
          </p:nvPr>
        </p:nvSpPr>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614314258"/>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smtClean="0"/>
              <a:t>Click to edit Master title style</a:t>
            </a:r>
            <a:endParaRPr lang="en-US"/>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smtClean="0"/>
              <a:t>Click to edit Master text styles</a:t>
            </a:r>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60648375"/>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782244947"/>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smtClean="0"/>
              <a:t>Click to edit Master title style</a:t>
            </a:r>
            <a:endParaRPr lang="en-US"/>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7" name="Date Placeholder 6"/>
          <p:cNvSpPr>
            <a:spLocks noGrp="1"/>
          </p:cNvSpPr>
          <p:nvPr>
            <p:ph type="dt" sz="half" idx="10"/>
          </p:nvPr>
        </p:nvSpPr>
        <p:spPr/>
        <p:txBody>
          <a:bodyPr/>
          <a:lstStyle/>
          <a:p>
            <a:fld id="{5BCAD085-E8A6-8845-BD4E-CB4CCA059FC4}" type="datetimeFigureOut">
              <a:rPr lang="en-US" smtClean="0"/>
              <a:t>1/27/13</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90158736"/>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Date Placeholder 2"/>
          <p:cNvSpPr>
            <a:spLocks noGrp="1"/>
          </p:cNvSpPr>
          <p:nvPr>
            <p:ph type="dt" sz="half" idx="10"/>
          </p:nvPr>
        </p:nvSpPr>
        <p:spPr/>
        <p:txBody>
          <a:bodyPr/>
          <a:lstStyle/>
          <a:p>
            <a:fld id="{5BCAD085-E8A6-8845-BD4E-CB4CCA059FC4}" type="datetimeFigureOut">
              <a:rPr lang="en-US" smtClean="0"/>
              <a:t>1/27/13</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727027711"/>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5BCAD085-E8A6-8845-BD4E-CB4CCA059FC4}" type="datetimeFigureOut">
              <a:rPr lang="en-US" smtClean="0"/>
              <a:t>1/27/13</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212999818"/>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smtClean="0"/>
              <a:t>Click to edit Master title style</a:t>
            </a:r>
            <a:endParaRPr lang="en-US"/>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840726560"/>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smtClean="0"/>
              <a:t>Click to edit Master title style</a:t>
            </a:r>
            <a:endParaRPr lang="en-US"/>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889236939"/>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Vertical Text Placeholder 2"/>
          <p:cNvSpPr>
            <a:spLocks noGrp="1"/>
          </p:cNvSpPr>
          <p:nvPr>
            <p:ph type="body" orient="vert" idx="1"/>
          </p:nvPr>
        </p:nvSpPr>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910927964"/>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smtClean="0"/>
              <a:t>Click to edit Master title style</a:t>
            </a:r>
            <a:endParaRPr lang="en-US"/>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612223792"/>
      </p:ext>
    </p:extLst>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 Id="rId9" Type="http://schemas.openxmlformats.org/officeDocument/2006/relationships/slideLayout" Target="../slideLayouts/slideLayout9.xml"/><Relationship Id="rId10" Type="http://schemas.openxmlformats.org/officeDocument/2006/relationships/slideLayout" Target="../slideLayouts/slideLayout10.xml"/><Relationship Id="rId11" Type="http://schemas.openxmlformats.org/officeDocument/2006/relationships/slideLayout" Target="../slideLayouts/slideLayout11.xml"/><Relationship Id="rId1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n-US" smtClean="0"/>
              <a:t>Click to edit Master title style</a:t>
            </a:r>
            <a:endParaRPr lang="en-US"/>
          </a:p>
        </p:txBody>
      </p:sp>
      <p:sp>
        <p:nvSpPr>
          <p:cNvPr id="3" name="Text Placeholder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5BCAD085-E8A6-8845-BD4E-CB4CCA059FC4}" type="datetimeFigureOut">
              <a:rPr lang="en-US" smtClean="0"/>
              <a:t>1/27/13</a:t>
            </a:fld>
            <a:endParaRPr lang="en-US"/>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C1FF6DA9-008F-8B48-92A6-B652298478BF}" type="slidenum">
              <a:rPr lang="en-US" smtClean="0"/>
              <a:t>‹#›</a:t>
            </a:fld>
            <a:endParaRPr lang="en-US"/>
          </a:p>
        </p:txBody>
      </p:sp>
    </p:spTree>
    <p:extLst>
      <p:ext uri="{BB962C8B-B14F-4D97-AF65-F5344CB8AC3E}">
        <p14:creationId xmlns:p14="http://schemas.microsoft.com/office/powerpoint/2010/main" val="2209977519"/>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defTabSz="4572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457200" rtl="0" eaLnBrk="1" latinLnBrk="0" hangingPunct="1">
        <a:spcBef>
          <a:spcPct val="20000"/>
        </a:spcBef>
        <a:buFont typeface="Arial"/>
        <a:buChar char="•"/>
        <a:defRPr sz="3200" kern="1200">
          <a:solidFill>
            <a:schemeClr val="tx1"/>
          </a:solidFill>
          <a:latin typeface="+mn-lt"/>
          <a:ea typeface="+mn-ea"/>
          <a:cs typeface="+mn-cs"/>
        </a:defRPr>
      </a:lvl1pPr>
      <a:lvl2pPr marL="742950" indent="-285750" algn="l" defTabSz="457200" rtl="0" eaLnBrk="1" latinLnBrk="0" hangingPunct="1">
        <a:spcBef>
          <a:spcPct val="20000"/>
        </a:spcBef>
        <a:buFont typeface="Arial"/>
        <a:buChar char="–"/>
        <a:defRPr sz="2800" kern="1200">
          <a:solidFill>
            <a:schemeClr val="tx1"/>
          </a:solidFill>
          <a:latin typeface="+mn-lt"/>
          <a:ea typeface="+mn-ea"/>
          <a:cs typeface="+mn-cs"/>
        </a:defRPr>
      </a:lvl2pPr>
      <a:lvl3pPr marL="1143000" indent="-228600" algn="l" defTabSz="457200" rtl="0" eaLnBrk="1" latinLnBrk="0" hangingPunct="1">
        <a:spcBef>
          <a:spcPct val="20000"/>
        </a:spcBef>
        <a:buFont typeface="Arial"/>
        <a:buChar char="•"/>
        <a:defRPr sz="2400" kern="1200">
          <a:solidFill>
            <a:schemeClr val="tx1"/>
          </a:solidFill>
          <a:latin typeface="+mn-lt"/>
          <a:ea typeface="+mn-ea"/>
          <a:cs typeface="+mn-cs"/>
        </a:defRPr>
      </a:lvl3pPr>
      <a:lvl4pPr marL="1600200" indent="-228600" algn="l" defTabSz="457200" rtl="0" eaLnBrk="1" latinLnBrk="0" hangingPunct="1">
        <a:spcBef>
          <a:spcPct val="20000"/>
        </a:spcBef>
        <a:buFont typeface="Arial"/>
        <a:buChar char="–"/>
        <a:defRPr sz="2000" kern="1200">
          <a:solidFill>
            <a:schemeClr val="tx1"/>
          </a:solidFill>
          <a:latin typeface="+mn-lt"/>
          <a:ea typeface="+mn-ea"/>
          <a:cs typeface="+mn-cs"/>
        </a:defRPr>
      </a:lvl4pPr>
      <a:lvl5pPr marL="2057400" indent="-228600" algn="l" defTabSz="457200" rtl="0" eaLnBrk="1" latinLnBrk="0" hangingPunct="1">
        <a:spcBef>
          <a:spcPct val="20000"/>
        </a:spcBef>
        <a:buFont typeface="Arial"/>
        <a:buChar char="»"/>
        <a:defRPr sz="2000" kern="1200">
          <a:solidFill>
            <a:schemeClr val="tx1"/>
          </a:solidFill>
          <a:latin typeface="+mn-lt"/>
          <a:ea typeface="+mn-ea"/>
          <a:cs typeface="+mn-cs"/>
        </a:defRPr>
      </a:lvl5pPr>
      <a:lvl6pPr marL="2514600" indent="-228600" algn="l" defTabSz="457200" rtl="0" eaLnBrk="1" latinLnBrk="0" hangingPunct="1">
        <a:spcBef>
          <a:spcPct val="20000"/>
        </a:spcBef>
        <a:buFont typeface="Arial"/>
        <a:buChar char="•"/>
        <a:defRPr sz="2000" kern="1200">
          <a:solidFill>
            <a:schemeClr val="tx1"/>
          </a:solidFill>
          <a:latin typeface="+mn-lt"/>
          <a:ea typeface="+mn-ea"/>
          <a:cs typeface="+mn-cs"/>
        </a:defRPr>
      </a:lvl6pPr>
      <a:lvl7pPr marL="2971800" indent="-228600" algn="l" defTabSz="457200" rtl="0" eaLnBrk="1" latinLnBrk="0" hangingPunct="1">
        <a:spcBef>
          <a:spcPct val="20000"/>
        </a:spcBef>
        <a:buFont typeface="Arial"/>
        <a:buChar char="•"/>
        <a:defRPr sz="2000" kern="1200">
          <a:solidFill>
            <a:schemeClr val="tx1"/>
          </a:solidFill>
          <a:latin typeface="+mn-lt"/>
          <a:ea typeface="+mn-ea"/>
          <a:cs typeface="+mn-cs"/>
        </a:defRPr>
      </a:lvl7pPr>
      <a:lvl8pPr marL="3429000" indent="-228600" algn="l" defTabSz="457200" rtl="0" eaLnBrk="1" latinLnBrk="0" hangingPunct="1">
        <a:spcBef>
          <a:spcPct val="20000"/>
        </a:spcBef>
        <a:buFont typeface="Arial"/>
        <a:buChar char="•"/>
        <a:defRPr sz="2000" kern="1200">
          <a:solidFill>
            <a:schemeClr val="tx1"/>
          </a:solidFill>
          <a:latin typeface="+mn-lt"/>
          <a:ea typeface="+mn-ea"/>
          <a:cs typeface="+mn-cs"/>
        </a:defRPr>
      </a:lvl8pPr>
      <a:lvl9pPr marL="3886200" indent="-228600" algn="l" defTabSz="457200" rtl="0" eaLnBrk="1" latinLnBrk="0" hangingPunct="1">
        <a:spcBef>
          <a:spcPct val="20000"/>
        </a:spcBef>
        <a:buFont typeface="Arial"/>
        <a:buChar char="•"/>
        <a:defRPr sz="2000" kern="1200">
          <a:solidFill>
            <a:schemeClr val="tx1"/>
          </a:solidFill>
          <a:latin typeface="+mn-lt"/>
          <a:ea typeface="+mn-ea"/>
          <a:cs typeface="+mn-cs"/>
        </a:defRPr>
      </a:lvl9pPr>
    </p:bodyStyle>
    <p:other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slide1.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0A0E1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12191695" cy="54864"/>
          </a:xfrm>
          <a:prstGeom prst="rect">
            <a:avLst/>
          </a:prstGeom>
          <a:solidFill>
            <a:srgbClr val="00D4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731520" y="6446520"/>
            <a:ext cx="10698480" cy="320040"/>
          </a:xfrm>
          <a:prstGeom prst="rect">
            <a:avLst/>
          </a:prstGeom>
          <a:noFill/>
        </p:spPr>
        <p:txBody>
          <a:bodyPr wrap="none">
            <a:spAutoFit/>
          </a:bodyPr>
          <a:lstStyle/>
          <a:p>
            <a:pPr>
              <a:defRPr sz="1000">
                <a:solidFill>
                  <a:srgbClr val="94A3B8"/>
                </a:solidFill>
              </a:defRPr>
            </a:pPr>
            <a:r>
              <a:t>TERRESTRIAL PLATFORM  |  TERRAAI CATALOGUE  |  CONFIDENTIAL - AUTHORISED SYSTEM INTEGRATORS ONLY</a:t>
            </a:r>
          </a:p>
        </p:txBody>
      </p:sp>
      <p:sp>
        <p:nvSpPr>
          <p:cNvPr id="5" name="TextBox 4"/>
          <p:cNvSpPr txBox="1"/>
          <p:nvPr/>
        </p:nvSpPr>
        <p:spPr>
          <a:xfrm>
            <a:off x="731520" y="777240"/>
            <a:ext cx="10698480" cy="3474720"/>
          </a:xfrm>
          <a:prstGeom prst="rect">
            <a:avLst/>
          </a:prstGeom>
          <a:noFill/>
        </p:spPr>
        <p:txBody>
          <a:bodyPr wrap="square">
            <a:spAutoFit/>
          </a:bodyPr>
          <a:lstStyle/>
          <a:p>
            <a:pPr>
              <a:spcAft>
                <a:spcPts val="800"/>
              </a:spcAft>
              <a:defRPr sz="1250" b="1">
                <a:solidFill>
                  <a:srgbClr val="00D4FF"/>
                </a:solidFill>
              </a:defRPr>
            </a:pPr>
            <a:r>
              <a:t>ENTERPRISE PRODUCT SPECIFICATION  |  AUTONOMOUS AI &amp; SWARMS</a:t>
            </a:r>
          </a:p>
          <a:p>
            <a:pPr>
              <a:spcAft>
                <a:spcPts val="600"/>
              </a:spcAft>
              <a:defRPr sz="4600" b="1">
                <a:solidFill>
                  <a:srgbClr val="FFFFFF"/>
                </a:solidFill>
              </a:defRPr>
            </a:pPr>
            <a:r>
              <a:t>TerraAI</a:t>
            </a:r>
          </a:p>
          <a:p>
            <a:pPr>
              <a:spcAft>
                <a:spcPts val="1200"/>
              </a:spcAft>
              <a:defRPr sz="1900" b="1">
                <a:solidFill>
                  <a:srgbClr val="F5C842"/>
                </a:solidFill>
              </a:defRPr>
            </a:pPr>
            <a:r>
              <a:t>Autonomous Industrial Intelligence &amp; Physics-Informed Predictive Operations Engine</a:t>
            </a:r>
          </a:p>
          <a:p>
            <a:pPr>
              <a:spcAft>
                <a:spcPts val="1200"/>
              </a:spcAft>
              <a:defRPr sz="1400">
                <a:solidFill>
                  <a:srgbClr val="C8D8F0"/>
                </a:solidFill>
              </a:defRPr>
            </a:pPr>
            <a:r>
              <a:t>Industrial Protocol: OPC UA / TSN    |    Domain Architecture: Terrestrial Deterministic Edge Core</a:t>
            </a:r>
          </a:p>
          <a:p>
            <a:pPr>
              <a:defRPr sz="1500">
                <a:solidFill>
                  <a:srgbClr val="94A3B8"/>
                </a:solidFill>
              </a:defRPr>
            </a:pPr>
            <a:r>
              <a:t>Autonomous Industrial Intelligence &amp; Physics-Informed Predictive Operations Engine</a:t>
            </a:r>
          </a:p>
        </p:txBody>
      </p:sp>
      <p:sp>
        <p:nvSpPr>
          <p:cNvPr id="6" name="Rounded Rectangle 5"/>
          <p:cNvSpPr/>
          <p:nvPr/>
        </p:nvSpPr>
        <p:spPr>
          <a:xfrm>
            <a:off x="731520" y="4663440"/>
            <a:ext cx="2523744" cy="1280160"/>
          </a:xfrm>
          <a:prstGeom prst="roundRect">
            <a:avLst/>
          </a:prstGeom>
          <a:solidFill>
            <a:srgbClr val="0F172A"/>
          </a:solidFill>
          <a:ln>
            <a:solidFill>
              <a:srgbClr val="1E293B"/>
            </a:solidFill>
          </a:ln>
        </p:spPr>
        <p:style>
          <a:lnRef idx="1">
            <a:schemeClr val="accent1"/>
          </a:lnRef>
          <a:fillRef idx="3">
            <a:schemeClr val="accent1"/>
          </a:fillRef>
          <a:effectRef idx="2">
            <a:schemeClr val="accent1"/>
          </a:effectRef>
          <a:fontRef idx="minor">
            <a:schemeClr val="lt1"/>
          </a:fontRef>
        </p:style>
        <p:txBody>
          <a:bodyPr rtlCol="0" anchor="ctr" wrap="square"/>
          <a:lstStyle/>
          <a:p>
            <a:pPr algn="ctr">
              <a:spcAft>
                <a:spcPts val="600"/>
              </a:spcAft>
              <a:defRPr sz="1100" b="1">
                <a:solidFill>
                  <a:srgbClr val="94A3B8"/>
                </a:solidFill>
              </a:defRPr>
            </a:pPr>
            <a:r>
              <a:t>AUTONOMOUS CONTROL</a:t>
            </a:r>
          </a:p>
          <a:p>
            <a:pPr algn="ctr">
              <a:defRPr sz="1650" b="1">
                <a:solidFill>
                  <a:srgbClr val="00D4FF"/>
                </a:solidFill>
              </a:defRPr>
            </a:pPr>
            <a:r>
              <a:t>Level 4 Supervisory Autonomy</a:t>
            </a:r>
          </a:p>
        </p:txBody>
      </p:sp>
      <p:sp>
        <p:nvSpPr>
          <p:cNvPr id="7" name="Rounded Rectangle 6"/>
          <p:cNvSpPr/>
          <p:nvPr/>
        </p:nvSpPr>
        <p:spPr>
          <a:xfrm>
            <a:off x="3456432" y="4663440"/>
            <a:ext cx="2523744" cy="1280160"/>
          </a:xfrm>
          <a:prstGeom prst="roundRect">
            <a:avLst/>
          </a:prstGeom>
          <a:solidFill>
            <a:srgbClr val="0F172A"/>
          </a:solidFill>
          <a:ln>
            <a:solidFill>
              <a:srgbClr val="1E293B"/>
            </a:solidFill>
          </a:ln>
        </p:spPr>
        <p:style>
          <a:lnRef idx="1">
            <a:schemeClr val="accent1"/>
          </a:lnRef>
          <a:fillRef idx="3">
            <a:schemeClr val="accent1"/>
          </a:fillRef>
          <a:effectRef idx="2">
            <a:schemeClr val="accent1"/>
          </a:effectRef>
          <a:fontRef idx="minor">
            <a:schemeClr val="lt1"/>
          </a:fontRef>
        </p:style>
        <p:txBody>
          <a:bodyPr rtlCol="0" anchor="ctr" wrap="square"/>
          <a:lstStyle/>
          <a:p>
            <a:pPr algn="ctr">
              <a:spcAft>
                <a:spcPts val="600"/>
              </a:spcAft>
              <a:defRPr sz="1100" b="1">
                <a:solidFill>
                  <a:srgbClr val="94A3B8"/>
                </a:solidFill>
              </a:defRPr>
            </a:pPr>
            <a:r>
              <a:t>PREDICTIVE HORIZON</a:t>
            </a:r>
          </a:p>
          <a:p>
            <a:pPr algn="ctr">
              <a:defRPr sz="1650" b="1">
                <a:solidFill>
                  <a:srgbClr val="00D4FF"/>
                </a:solidFill>
              </a:defRPr>
            </a:pPr>
            <a:r>
              <a:t>72h Multi-Variable Lookahead</a:t>
            </a:r>
          </a:p>
        </p:txBody>
      </p:sp>
      <p:sp>
        <p:nvSpPr>
          <p:cNvPr id="8" name="Rounded Rectangle 7"/>
          <p:cNvSpPr/>
          <p:nvPr/>
        </p:nvSpPr>
        <p:spPr>
          <a:xfrm>
            <a:off x="6181344" y="4663440"/>
            <a:ext cx="2523744" cy="1280160"/>
          </a:xfrm>
          <a:prstGeom prst="roundRect">
            <a:avLst/>
          </a:prstGeom>
          <a:solidFill>
            <a:srgbClr val="0F172A"/>
          </a:solidFill>
          <a:ln>
            <a:solidFill>
              <a:srgbClr val="1E293B"/>
            </a:solidFill>
          </a:ln>
        </p:spPr>
        <p:style>
          <a:lnRef idx="1">
            <a:schemeClr val="accent1"/>
          </a:lnRef>
          <a:fillRef idx="3">
            <a:schemeClr val="accent1"/>
          </a:fillRef>
          <a:effectRef idx="2">
            <a:schemeClr val="accent1"/>
          </a:effectRef>
          <a:fontRef idx="minor">
            <a:schemeClr val="lt1"/>
          </a:fontRef>
        </p:style>
        <p:txBody>
          <a:bodyPr rtlCol="0" anchor="ctr" wrap="square"/>
          <a:lstStyle/>
          <a:p>
            <a:pPr algn="ctr">
              <a:spcAft>
                <a:spcPts val="600"/>
              </a:spcAft>
              <a:defRPr sz="1100" b="1">
                <a:solidFill>
                  <a:srgbClr val="94A3B8"/>
                </a:solidFill>
              </a:defRPr>
            </a:pPr>
            <a:r>
              <a:t>ANALYTICS ENGINE</a:t>
            </a:r>
          </a:p>
          <a:p>
            <a:pPr algn="ctr">
              <a:defRPr sz="1650" b="1">
                <a:solidFill>
                  <a:srgbClr val="00D4FF"/>
                </a:solidFill>
              </a:defRPr>
            </a:pPr>
            <a:r>
              <a:t>PINO Neural Operators</a:t>
            </a:r>
          </a:p>
        </p:txBody>
      </p:sp>
      <p:sp>
        <p:nvSpPr>
          <p:cNvPr id="9" name="Rounded Rectangle 8"/>
          <p:cNvSpPr/>
          <p:nvPr/>
        </p:nvSpPr>
        <p:spPr>
          <a:xfrm>
            <a:off x="8906256" y="4663440"/>
            <a:ext cx="2523744" cy="1280160"/>
          </a:xfrm>
          <a:prstGeom prst="roundRect">
            <a:avLst/>
          </a:prstGeom>
          <a:solidFill>
            <a:srgbClr val="0F172A"/>
          </a:solidFill>
          <a:ln>
            <a:solidFill>
              <a:srgbClr val="1E293B"/>
            </a:solidFill>
          </a:ln>
        </p:spPr>
        <p:style>
          <a:lnRef idx="1">
            <a:schemeClr val="accent1"/>
          </a:lnRef>
          <a:fillRef idx="3">
            <a:schemeClr val="accent1"/>
          </a:fillRef>
          <a:effectRef idx="2">
            <a:schemeClr val="accent1"/>
          </a:effectRef>
          <a:fontRef idx="minor">
            <a:schemeClr val="lt1"/>
          </a:fontRef>
        </p:style>
        <p:txBody>
          <a:bodyPr rtlCol="0" anchor="ctr" wrap="square"/>
          <a:lstStyle/>
          <a:p>
            <a:pPr algn="ctr">
              <a:spcAft>
                <a:spcPts val="600"/>
              </a:spcAft>
              <a:defRPr sz="1100" b="1">
                <a:solidFill>
                  <a:srgbClr val="94A3B8"/>
                </a:solidFill>
              </a:defRPr>
            </a:pPr>
            <a:r>
              <a:t>CLOSED-LOOP LATENCY</a:t>
            </a:r>
          </a:p>
          <a:p>
            <a:pPr algn="ctr">
              <a:defRPr sz="1650" b="1">
                <a:solidFill>
                  <a:srgbClr val="00D4FF"/>
                </a:solidFill>
              </a:defRPr>
            </a:pPr>
            <a:r>
              <a:t>Sub-25ms Deterministic Actuation</a:t>
            </a:r>
          </a:p>
        </p:txBody>
      </p:sp>
    </p:spTree>
  </p:cSld>
  <p:clrMapOvr>
    <a:masterClrMapping/>
  </p:clrMapOvr>
</p:sld>
</file>

<file path=ppt/slides/slide2.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0A0E1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12191695" cy="54864"/>
          </a:xfrm>
          <a:prstGeom prst="rect">
            <a:avLst/>
          </a:prstGeom>
          <a:solidFill>
            <a:srgbClr val="00D4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731520" y="365760"/>
            <a:ext cx="10698480" cy="1005840"/>
          </a:xfrm>
          <a:prstGeom prst="rect">
            <a:avLst/>
          </a:prstGeom>
          <a:noFill/>
        </p:spPr>
        <p:txBody>
          <a:bodyPr wrap="square">
            <a:spAutoFit/>
          </a:bodyPr>
          <a:lstStyle/>
          <a:p>
            <a:pPr>
              <a:spcAft>
                <a:spcPts val="400"/>
              </a:spcAft>
              <a:defRPr sz="1150" b="1">
                <a:solidFill>
                  <a:srgbClr val="00D4FF"/>
                </a:solidFill>
              </a:defRPr>
            </a:pPr>
            <a:r>
              <a:t>TERRAAI  |  TERRESTRIAL PLATFORM</a:t>
            </a:r>
          </a:p>
          <a:p>
            <a:pPr>
              <a:defRPr sz="2500" b="1">
                <a:solidFill>
                  <a:srgbClr val="FFFFFF"/>
                </a:solidFill>
              </a:defRPr>
            </a:pPr>
            <a:r>
              <a:t>Core Functional Deliverables &amp; Architectural Pillars</a:t>
            </a:r>
          </a:p>
        </p:txBody>
      </p:sp>
      <p:sp>
        <p:nvSpPr>
          <p:cNvPr id="5" name="TextBox 4"/>
          <p:cNvSpPr txBox="1"/>
          <p:nvPr/>
        </p:nvSpPr>
        <p:spPr>
          <a:xfrm>
            <a:off x="731520" y="6446520"/>
            <a:ext cx="10698480" cy="320040"/>
          </a:xfrm>
          <a:prstGeom prst="rect">
            <a:avLst/>
          </a:prstGeom>
          <a:noFill/>
        </p:spPr>
        <p:txBody>
          <a:bodyPr wrap="none">
            <a:spAutoFit/>
          </a:bodyPr>
          <a:lstStyle/>
          <a:p>
            <a:pPr>
              <a:defRPr sz="1000">
                <a:solidFill>
                  <a:srgbClr val="94A3B8"/>
                </a:solidFill>
              </a:defRPr>
            </a:pPr>
            <a:r>
              <a:t>TERRESTRIAL PLATFORM  |  TERRAAI CATALOGUE  |  CONFIDENTIAL - AUTHORISED SYSTEM INTEGRATORS ONLY</a:t>
            </a:r>
          </a:p>
        </p:txBody>
      </p:sp>
      <p:sp>
        <p:nvSpPr>
          <p:cNvPr id="6" name="Rounded Rectangle 5"/>
          <p:cNvSpPr/>
          <p:nvPr/>
        </p:nvSpPr>
        <p:spPr>
          <a:xfrm>
            <a:off x="731520" y="1645920"/>
            <a:ext cx="5212080" cy="2148840"/>
          </a:xfrm>
          <a:prstGeom prst="roundRect">
            <a:avLst/>
          </a:prstGeom>
          <a:solidFill>
            <a:srgbClr val="0F172A"/>
          </a:solidFill>
          <a:ln>
            <a:solidFill>
              <a:srgbClr val="1E293B"/>
            </a:solidFill>
          </a:ln>
        </p:spPr>
        <p:style>
          <a:lnRef idx="1">
            <a:schemeClr val="accent1"/>
          </a:lnRef>
          <a:fillRef idx="3">
            <a:schemeClr val="accent1"/>
          </a:fillRef>
          <a:effectRef idx="2">
            <a:schemeClr val="accent1"/>
          </a:effectRef>
          <a:fontRef idx="minor">
            <a:schemeClr val="lt1"/>
          </a:fontRef>
        </p:style>
        <p:txBody>
          <a:bodyPr rtlCol="0" anchor="ctr" wrap="square"/>
          <a:lstStyle/>
          <a:p>
            <a:pPr algn="ctr">
              <a:spcAft>
                <a:spcPts val="400"/>
              </a:spcAft>
              <a:defRPr sz="1100" b="1">
                <a:solidFill>
                  <a:srgbClr val="00D4FF"/>
                </a:solidFill>
              </a:defRPr>
            </a:pPr>
            <a:r>
              <a:t>PILLAR 01</a:t>
            </a:r>
          </a:p>
          <a:p>
            <a:pPr>
              <a:spcAft>
                <a:spcPts val="600"/>
              </a:spcAft>
              <a:defRPr sz="1650" b="1">
                <a:solidFill>
                  <a:srgbClr val="FFFFFF"/>
                </a:solidFill>
              </a:defRPr>
            </a:pPr>
            <a:r>
              <a:t>Autonomous Closed-Loop Control &amp; Production Optimization</a:t>
            </a:r>
          </a:p>
          <a:p>
            <a:pPr>
              <a:defRPr sz="1300">
                <a:solidFill>
                  <a:srgbClr val="C8D8F0"/>
                </a:solidFill>
              </a:defRPr>
            </a:pPr>
            <a:r>
              <a:t>Transitions plant operations from passive monitoring to autonomous action. 24x7 AI engine continuously analyzes machine telemetry, dynamically adjusts PLC/DCS setpoints, mitigates vibration anomalies on critical production lines, and maintains peak throughput without manual delays.</a:t>
            </a:r>
          </a:p>
        </p:txBody>
      </p:sp>
      <p:sp>
        <p:nvSpPr>
          <p:cNvPr id="7" name="Rounded Rectangle 6"/>
          <p:cNvSpPr/>
          <p:nvPr/>
        </p:nvSpPr>
        <p:spPr>
          <a:xfrm>
            <a:off x="6217920" y="1645920"/>
            <a:ext cx="5212080" cy="2148840"/>
          </a:xfrm>
          <a:prstGeom prst="roundRect">
            <a:avLst/>
          </a:prstGeom>
          <a:solidFill>
            <a:srgbClr val="0F172A"/>
          </a:solidFill>
          <a:ln>
            <a:solidFill>
              <a:srgbClr val="1E293B"/>
            </a:solidFill>
          </a:ln>
        </p:spPr>
        <p:style>
          <a:lnRef idx="1">
            <a:schemeClr val="accent1"/>
          </a:lnRef>
          <a:fillRef idx="3">
            <a:schemeClr val="accent1"/>
          </a:fillRef>
          <a:effectRef idx="2">
            <a:schemeClr val="accent1"/>
          </a:effectRef>
          <a:fontRef idx="minor">
            <a:schemeClr val="lt1"/>
          </a:fontRef>
        </p:style>
        <p:txBody>
          <a:bodyPr rtlCol="0" anchor="ctr" wrap="square"/>
          <a:lstStyle/>
          <a:p>
            <a:pPr algn="ctr">
              <a:spcAft>
                <a:spcPts val="400"/>
              </a:spcAft>
              <a:defRPr sz="1100" b="1">
                <a:solidFill>
                  <a:srgbClr val="00D4FF"/>
                </a:solidFill>
              </a:defRPr>
            </a:pPr>
            <a:r>
              <a:t>PILLAR 02</a:t>
            </a:r>
          </a:p>
          <a:p>
            <a:pPr>
              <a:spcAft>
                <a:spcPts val="600"/>
              </a:spcAft>
              <a:defRPr sz="1650" b="1">
                <a:solidFill>
                  <a:srgbClr val="FFFFFF"/>
                </a:solidFill>
              </a:defRPr>
            </a:pPr>
            <a:r>
              <a:t>Reduced Manpower &amp; Workforce Multiplier</a:t>
            </a:r>
          </a:p>
          <a:p>
            <a:pPr>
              <a:defRPr sz="1300">
                <a:solidFill>
                  <a:srgbClr val="C8D8F0"/>
                </a:solidFill>
              </a:defRPr>
            </a:pPr>
            <a:r>
              <a:t>Drastically reduces the need for routine floor monitoring, desk watchstanders, and manual paperwork. Automatically generates maintenance work orders in ERP, correlates shift attendance shortages, and recommends optimal worker reallocation when staffing is low.</a:t>
            </a:r>
          </a:p>
        </p:txBody>
      </p:sp>
      <p:sp>
        <p:nvSpPr>
          <p:cNvPr id="8" name="Rounded Rectangle 7"/>
          <p:cNvSpPr/>
          <p:nvPr/>
        </p:nvSpPr>
        <p:spPr>
          <a:xfrm>
            <a:off x="731520" y="4069080"/>
            <a:ext cx="5212080" cy="2148840"/>
          </a:xfrm>
          <a:prstGeom prst="roundRect">
            <a:avLst/>
          </a:prstGeom>
          <a:solidFill>
            <a:srgbClr val="0F172A"/>
          </a:solidFill>
          <a:ln>
            <a:solidFill>
              <a:srgbClr val="1E293B"/>
            </a:solidFill>
          </a:ln>
        </p:spPr>
        <p:style>
          <a:lnRef idx="1">
            <a:schemeClr val="accent1"/>
          </a:lnRef>
          <a:fillRef idx="3">
            <a:schemeClr val="accent1"/>
          </a:fillRef>
          <a:effectRef idx="2">
            <a:schemeClr val="accent1"/>
          </a:effectRef>
          <a:fontRef idx="minor">
            <a:schemeClr val="lt1"/>
          </a:fontRef>
        </p:style>
        <p:txBody>
          <a:bodyPr rtlCol="0" anchor="ctr" wrap="square"/>
          <a:lstStyle/>
          <a:p>
            <a:pPr algn="ctr">
              <a:spcAft>
                <a:spcPts val="400"/>
              </a:spcAft>
              <a:defRPr sz="1100" b="1">
                <a:solidFill>
                  <a:srgbClr val="00D4FF"/>
                </a:solidFill>
              </a:defRPr>
            </a:pPr>
            <a:r>
              <a:t>PILLAR 03</a:t>
            </a:r>
          </a:p>
          <a:p>
            <a:pPr>
              <a:spcAft>
                <a:spcPts val="600"/>
              </a:spcAft>
              <a:defRPr sz="1650" b="1">
                <a:solidFill>
                  <a:srgbClr val="FFFFFF"/>
                </a:solidFill>
              </a:defRPr>
            </a:pPr>
            <a:r>
              <a:t>Raw Material &amp; Inventory Optimization</a:t>
            </a:r>
          </a:p>
          <a:p>
            <a:pPr>
              <a:defRPr sz="1300">
                <a:solidFill>
                  <a:srgbClr val="C8D8F0"/>
                </a:solidFill>
              </a:defRPr>
            </a:pPr>
            <a:r>
              <a:t>Continuously forecasts material consumption and monitors warehouse levels. Automatically generates purchase requisitions in SAP ERP when stock drops below reorder points, calculates optimal order quantities, and cuts raw material scrap during line changeovers.</a:t>
            </a:r>
          </a:p>
        </p:txBody>
      </p:sp>
      <p:sp>
        <p:nvSpPr>
          <p:cNvPr id="9" name="Rounded Rectangle 8"/>
          <p:cNvSpPr/>
          <p:nvPr/>
        </p:nvSpPr>
        <p:spPr>
          <a:xfrm>
            <a:off x="6217920" y="4069080"/>
            <a:ext cx="5212080" cy="2148840"/>
          </a:xfrm>
          <a:prstGeom prst="roundRect">
            <a:avLst/>
          </a:prstGeom>
          <a:solidFill>
            <a:srgbClr val="0F172A"/>
          </a:solidFill>
          <a:ln>
            <a:solidFill>
              <a:srgbClr val="1E293B"/>
            </a:solidFill>
          </a:ln>
        </p:spPr>
        <p:style>
          <a:lnRef idx="1">
            <a:schemeClr val="accent1"/>
          </a:lnRef>
          <a:fillRef idx="3">
            <a:schemeClr val="accent1"/>
          </a:fillRef>
          <a:effectRef idx="2">
            <a:schemeClr val="accent1"/>
          </a:effectRef>
          <a:fontRef idx="minor">
            <a:schemeClr val="lt1"/>
          </a:fontRef>
        </p:style>
        <p:txBody>
          <a:bodyPr rtlCol="0" anchor="ctr" wrap="square"/>
          <a:lstStyle/>
          <a:p>
            <a:pPr algn="ctr">
              <a:spcAft>
                <a:spcPts val="400"/>
              </a:spcAft>
              <a:defRPr sz="1100" b="1">
                <a:solidFill>
                  <a:srgbClr val="00D4FF"/>
                </a:solidFill>
              </a:defRPr>
            </a:pPr>
            <a:r>
              <a:t>PILLAR 04</a:t>
            </a:r>
          </a:p>
          <a:p>
            <a:pPr>
              <a:spcAft>
                <a:spcPts val="600"/>
              </a:spcAft>
              <a:defRPr sz="1650" b="1">
                <a:solidFill>
                  <a:srgbClr val="FFFFFF"/>
                </a:solidFill>
              </a:defRPr>
            </a:pPr>
            <a:r>
              <a:t>Energy &amp; Operational Cost Efficiency</a:t>
            </a:r>
          </a:p>
          <a:p>
            <a:pPr>
              <a:defRPr sz="1300">
                <a:solidFill>
                  <a:srgbClr val="C8D8F0"/>
                </a:solidFill>
              </a:defRPr>
            </a:pPr>
            <a:r>
              <a:t>Correlates real-time power, fuel, compressed air, and water telemetry to eliminate utility waste. Instantly pinpoints pipeline leaks, balances peak electrical demand to avoid billing penalties, and optimizes thermodynamic chiller/boiler staging to lower operating costs.</a:t>
            </a:r>
          </a:p>
        </p:txBody>
      </p:sp>
    </p:spTree>
  </p:cSld>
  <p:clrMapOvr>
    <a:masterClrMapping/>
  </p:clrMapOvr>
</p:sld>
</file>

<file path=ppt/slides/slide3.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0A0E1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12191695" cy="54864"/>
          </a:xfrm>
          <a:prstGeom prst="rect">
            <a:avLst/>
          </a:prstGeom>
          <a:solidFill>
            <a:srgbClr val="00D4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731520" y="365760"/>
            <a:ext cx="10698480" cy="1005840"/>
          </a:xfrm>
          <a:prstGeom prst="rect">
            <a:avLst/>
          </a:prstGeom>
          <a:noFill/>
        </p:spPr>
        <p:txBody>
          <a:bodyPr wrap="square">
            <a:spAutoFit/>
          </a:bodyPr>
          <a:lstStyle/>
          <a:p>
            <a:pPr>
              <a:spcAft>
                <a:spcPts val="400"/>
              </a:spcAft>
              <a:defRPr sz="1150" b="1">
                <a:solidFill>
                  <a:srgbClr val="00D4FF"/>
                </a:solidFill>
              </a:defRPr>
            </a:pPr>
            <a:r>
              <a:t>TERRAAI  |  TERRESTRIAL PLATFORM</a:t>
            </a:r>
          </a:p>
          <a:p>
            <a:pPr>
              <a:defRPr sz="2500" b="1">
                <a:solidFill>
                  <a:srgbClr val="FFFFFF"/>
                </a:solidFill>
              </a:defRPr>
            </a:pPr>
            <a:r>
              <a:t>Field-Validated Operational Use Cases &amp; Quantifiable ROI</a:t>
            </a:r>
          </a:p>
        </p:txBody>
      </p:sp>
      <p:sp>
        <p:nvSpPr>
          <p:cNvPr id="5" name="TextBox 4"/>
          <p:cNvSpPr txBox="1"/>
          <p:nvPr/>
        </p:nvSpPr>
        <p:spPr>
          <a:xfrm>
            <a:off x="731520" y="6446520"/>
            <a:ext cx="10698480" cy="320040"/>
          </a:xfrm>
          <a:prstGeom prst="rect">
            <a:avLst/>
          </a:prstGeom>
          <a:noFill/>
        </p:spPr>
        <p:txBody>
          <a:bodyPr wrap="none">
            <a:spAutoFit/>
          </a:bodyPr>
          <a:lstStyle/>
          <a:p>
            <a:pPr>
              <a:defRPr sz="1000">
                <a:solidFill>
                  <a:srgbClr val="94A3B8"/>
                </a:solidFill>
              </a:defRPr>
            </a:pPr>
            <a:r>
              <a:t>TERRESTRIAL PLATFORM  |  TERRAAI CATALOGUE  |  CONFIDENTIAL - AUTHORISED SYSTEM INTEGRATORS ONLY</a:t>
            </a:r>
          </a:p>
        </p:txBody>
      </p:sp>
      <p:sp>
        <p:nvSpPr>
          <p:cNvPr id="6" name="Rounded Rectangle 5"/>
          <p:cNvSpPr/>
          <p:nvPr/>
        </p:nvSpPr>
        <p:spPr>
          <a:xfrm>
            <a:off x="731520" y="1645920"/>
            <a:ext cx="3401568" cy="4389120"/>
          </a:xfrm>
          <a:prstGeom prst="roundRect">
            <a:avLst/>
          </a:prstGeom>
          <a:solidFill>
            <a:srgbClr val="0F172A"/>
          </a:solidFill>
          <a:ln>
            <a:solidFill>
              <a:srgbClr val="1E293B"/>
            </a:solidFill>
          </a:ln>
        </p:spPr>
        <p:style>
          <a:lnRef idx="1">
            <a:schemeClr val="accent1"/>
          </a:lnRef>
          <a:fillRef idx="3">
            <a:schemeClr val="accent1"/>
          </a:fillRef>
          <a:effectRef idx="2">
            <a:schemeClr val="accent1"/>
          </a:effectRef>
          <a:fontRef idx="minor">
            <a:schemeClr val="lt1"/>
          </a:fontRef>
        </p:style>
        <p:txBody>
          <a:bodyPr rtlCol="0" anchor="ctr" wrap="square"/>
          <a:lstStyle/>
          <a:p>
            <a:pPr algn="ctr">
              <a:spcAft>
                <a:spcPts val="800"/>
              </a:spcAft>
              <a:defRPr sz="1100" b="1">
                <a:solidFill>
                  <a:srgbClr val="F5C842"/>
                </a:solidFill>
              </a:defRPr>
            </a:pPr>
            <a:r>
              <a:t>PREDICTIVE ANALYTICS &amp; MACHINE RELIABILITY</a:t>
            </a:r>
          </a:p>
          <a:p>
            <a:pPr>
              <a:spcAft>
                <a:spcPts val="1200"/>
              </a:spcAft>
              <a:defRPr sz="1600" b="1">
                <a:solidFill>
                  <a:srgbClr val="FFFFFF"/>
                </a:solidFill>
              </a:defRPr>
            </a:pPr>
            <a:r>
              <a:t>Supercritical Turbine Train: Autonomous Torsional Vibration &amp; Bearing Oil Whirl Mitigation</a:t>
            </a:r>
          </a:p>
          <a:p>
            <a:pPr>
              <a:defRPr sz="1300">
                <a:solidFill>
                  <a:srgbClr val="C8D8F0"/>
                </a:solidFill>
              </a:defRPr>
            </a:pPr>
            <a:r>
              <a:t>Analyzes high-frequency (10 kHz) proximity probe spectra; detects incipient sub-synchronous oil whirl resonance 48 hours prior to alarm thresholds; autonomously trims governor steam admission valves via PLC and dispatches vibration engineering work orders in SAP, averting catastrophic rotor rub and $2.4M in downtime.</a:t>
            </a:r>
          </a:p>
        </p:txBody>
      </p:sp>
      <p:sp>
        <p:nvSpPr>
          <p:cNvPr id="7" name="Rounded Rectangle 6"/>
          <p:cNvSpPr/>
          <p:nvPr/>
        </p:nvSpPr>
        <p:spPr>
          <a:xfrm>
            <a:off x="4379976" y="1645920"/>
            <a:ext cx="3401568" cy="4389120"/>
          </a:xfrm>
          <a:prstGeom prst="roundRect">
            <a:avLst/>
          </a:prstGeom>
          <a:solidFill>
            <a:srgbClr val="0F172A"/>
          </a:solidFill>
          <a:ln>
            <a:solidFill>
              <a:srgbClr val="1E293B"/>
            </a:solidFill>
          </a:ln>
        </p:spPr>
        <p:style>
          <a:lnRef idx="1">
            <a:schemeClr val="accent1"/>
          </a:lnRef>
          <a:fillRef idx="3">
            <a:schemeClr val="accent1"/>
          </a:fillRef>
          <a:effectRef idx="2">
            <a:schemeClr val="accent1"/>
          </a:effectRef>
          <a:fontRef idx="minor">
            <a:schemeClr val="lt1"/>
          </a:fontRef>
        </p:style>
        <p:txBody>
          <a:bodyPr rtlCol="0" anchor="ctr" wrap="square"/>
          <a:lstStyle/>
          <a:p>
            <a:pPr algn="ctr">
              <a:spcAft>
                <a:spcPts val="800"/>
              </a:spcAft>
              <a:defRPr sz="1100" b="1">
                <a:solidFill>
                  <a:srgbClr val="F5C842"/>
                </a:solidFill>
              </a:defRPr>
            </a:pPr>
            <a:r>
              <a:t>AUTONOMOUS PROCESS OPTIMIZATION</a:t>
            </a:r>
          </a:p>
          <a:p>
            <a:pPr>
              <a:spcAft>
                <a:spcPts val="1200"/>
              </a:spcAft>
              <a:defRPr sz="1600" b="1">
                <a:solidFill>
                  <a:srgbClr val="FFFFFF"/>
                </a:solidFill>
              </a:defRPr>
            </a:pPr>
            <a:r>
              <a:t>Chemical Refining &amp; Utilities: Closed-Loop Multi-Variable Combustion &amp; Emission Optimization</a:t>
            </a:r>
          </a:p>
          <a:p>
            <a:pPr>
              <a:defRPr sz="1300">
                <a:solidFill>
                  <a:srgbClr val="C8D8F0"/>
                </a:solidFill>
              </a:defRPr>
            </a:pPr>
            <a:r>
              <a:t>Ingests 32 continuous process variables (stack O2, NOx, fuel gas BTU, furnace draft); runs dynamic neural MPC to modulate primary air dampers and fuel staging in real time, driving a 2.1% thermal efficiency improvement and reducing NOx emissions by 14.8% without manual operator trim.</a:t>
            </a:r>
          </a:p>
        </p:txBody>
      </p:sp>
      <p:sp>
        <p:nvSpPr>
          <p:cNvPr id="8" name="Rounded Rectangle 7"/>
          <p:cNvSpPr/>
          <p:nvPr/>
        </p:nvSpPr>
        <p:spPr>
          <a:xfrm>
            <a:off x="8028432" y="1645920"/>
            <a:ext cx="3401568" cy="4389120"/>
          </a:xfrm>
          <a:prstGeom prst="roundRect">
            <a:avLst/>
          </a:prstGeom>
          <a:solidFill>
            <a:srgbClr val="0F172A"/>
          </a:solidFill>
          <a:ln>
            <a:solidFill>
              <a:srgbClr val="1E293B"/>
            </a:solidFill>
          </a:ln>
        </p:spPr>
        <p:style>
          <a:lnRef idx="1">
            <a:schemeClr val="accent1"/>
          </a:lnRef>
          <a:fillRef idx="3">
            <a:schemeClr val="accent1"/>
          </a:fillRef>
          <a:effectRef idx="2">
            <a:schemeClr val="accent1"/>
          </a:effectRef>
          <a:fontRef idx="minor">
            <a:schemeClr val="lt1"/>
          </a:fontRef>
        </p:style>
        <p:txBody>
          <a:bodyPr rtlCol="0" anchor="ctr" wrap="square"/>
          <a:lstStyle/>
          <a:p>
            <a:pPr algn="ctr">
              <a:spcAft>
                <a:spcPts val="800"/>
              </a:spcAft>
              <a:defRPr sz="1100" b="1">
                <a:solidFill>
                  <a:srgbClr val="F5C842"/>
                </a:solidFill>
              </a:defRPr>
            </a:pPr>
            <a:r>
              <a:t>MISSION-CRITICAL GRID AUTONOMY</a:t>
            </a:r>
          </a:p>
          <a:p>
            <a:pPr>
              <a:spcAft>
                <a:spcPts val="1200"/>
              </a:spcAft>
              <a:defRPr sz="1600" b="1">
                <a:solidFill>
                  <a:srgbClr val="FFFFFF"/>
                </a:solidFill>
              </a:defRPr>
            </a:pPr>
            <a:r>
              <a:t>Extra-High Voltage (EHV) Transmission: Autonomous Substation Islanding &amp; Synchrophasor PMU Analytics</a:t>
            </a:r>
          </a:p>
          <a:p>
            <a:pPr>
              <a:defRPr sz="1300">
                <a:solidFill>
                  <a:srgbClr val="C8D8F0"/>
                </a:solidFill>
              </a:defRPr>
            </a:pPr>
            <a:r>
              <a:t>Continuously computes Rate of Change of Frequency (ROCOF) and voltage vector phase angles from IEEE C37.118 PMUs; autonomously isolates faulty 400kV bus sections and re-balances localized microgrid generation within 18 milliseconds during sudden line tripping, preventing regional cascading blackouts.</a:t>
            </a:r>
          </a:p>
        </p:txBody>
      </p:sp>
    </p:spTree>
  </p:cSld>
  <p:clrMapOvr>
    <a:masterClrMapping/>
  </p:clrMapOvr>
</p:sld>
</file>

<file path=ppt/slides/slide4.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0A0E1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12191695" cy="54864"/>
          </a:xfrm>
          <a:prstGeom prst="rect">
            <a:avLst/>
          </a:prstGeom>
          <a:solidFill>
            <a:srgbClr val="00D4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731520" y="365760"/>
            <a:ext cx="10698480" cy="1005840"/>
          </a:xfrm>
          <a:prstGeom prst="rect">
            <a:avLst/>
          </a:prstGeom>
          <a:noFill/>
        </p:spPr>
        <p:txBody>
          <a:bodyPr wrap="square">
            <a:spAutoFit/>
          </a:bodyPr>
          <a:lstStyle/>
          <a:p>
            <a:pPr>
              <a:spcAft>
                <a:spcPts val="400"/>
              </a:spcAft>
              <a:defRPr sz="1150" b="1">
                <a:solidFill>
                  <a:srgbClr val="00D4FF"/>
                </a:solidFill>
              </a:defRPr>
            </a:pPr>
            <a:r>
              <a:t>TERRAAI  |  TERRESTRIAL PLATFORM</a:t>
            </a:r>
          </a:p>
          <a:p>
            <a:pPr>
              <a:defRPr sz="2500" b="1">
                <a:solidFill>
                  <a:srgbClr val="FFFFFF"/>
                </a:solidFill>
              </a:defRPr>
            </a:pPr>
            <a:r>
              <a:t>Competitive Advantage: Terrestrial Platform vs. Legacy Systems</a:t>
            </a:r>
          </a:p>
        </p:txBody>
      </p:sp>
      <p:sp>
        <p:nvSpPr>
          <p:cNvPr id="5" name="TextBox 4"/>
          <p:cNvSpPr txBox="1"/>
          <p:nvPr/>
        </p:nvSpPr>
        <p:spPr>
          <a:xfrm>
            <a:off x="731520" y="6446520"/>
            <a:ext cx="10698480" cy="320040"/>
          </a:xfrm>
          <a:prstGeom prst="rect">
            <a:avLst/>
          </a:prstGeom>
          <a:noFill/>
        </p:spPr>
        <p:txBody>
          <a:bodyPr wrap="none">
            <a:spAutoFit/>
          </a:bodyPr>
          <a:lstStyle/>
          <a:p>
            <a:pPr>
              <a:defRPr sz="1000">
                <a:solidFill>
                  <a:srgbClr val="94A3B8"/>
                </a:solidFill>
              </a:defRPr>
            </a:pPr>
            <a:r>
              <a:t>TERRESTRIAL PLATFORM  |  TERRAAI CATALOGUE  |  CONFIDENTIAL - AUTHORISED SYSTEM INTEGRATORS ONLY</a:t>
            </a:r>
          </a:p>
        </p:txBody>
      </p:sp>
      <p:sp>
        <p:nvSpPr>
          <p:cNvPr id="6" name="Rectangle 5"/>
          <p:cNvSpPr/>
          <p:nvPr/>
        </p:nvSpPr>
        <p:spPr>
          <a:xfrm>
            <a:off x="731520" y="1645920"/>
            <a:ext cx="5212080" cy="502920"/>
          </a:xfrm>
          <a:prstGeom prst="rect">
            <a:avLst/>
          </a:prstGeom>
          <a:solidFill>
            <a:srgbClr val="280F14"/>
          </a:solidFill>
          <a:ln>
            <a:solidFill>
              <a:srgbClr val="FF5555"/>
            </a:solidFill>
          </a:ln>
        </p:spPr>
        <p:style>
          <a:lnRef idx="1">
            <a:schemeClr val="accent1"/>
          </a:lnRef>
          <a:fillRef idx="3">
            <a:schemeClr val="accent1"/>
          </a:fillRef>
          <a:effectRef idx="2">
            <a:schemeClr val="accent1"/>
          </a:effectRef>
          <a:fontRef idx="minor">
            <a:schemeClr val="lt1"/>
          </a:fontRef>
        </p:style>
        <p:txBody>
          <a:bodyPr rtlCol="0" anchor="ctr"/>
          <a:lstStyle/>
          <a:p>
            <a:pPr algn="ctr">
              <a:defRPr sz="1250" b="1">
                <a:solidFill>
                  <a:srgbClr val="FF5555"/>
                </a:solidFill>
              </a:defRPr>
            </a:pPr>
            <a:r>
              <a:t>TRADITIONAL LEGACY SCADA / SILOED SYSTEMS</a:t>
            </a:r>
          </a:p>
        </p:txBody>
      </p:sp>
      <p:sp>
        <p:nvSpPr>
          <p:cNvPr id="7" name="Rectangle 6"/>
          <p:cNvSpPr/>
          <p:nvPr/>
        </p:nvSpPr>
        <p:spPr>
          <a:xfrm>
            <a:off x="6217920" y="1645920"/>
            <a:ext cx="5212080" cy="502920"/>
          </a:xfrm>
          <a:prstGeom prst="rect">
            <a:avLst/>
          </a:prstGeom>
          <a:solidFill>
            <a:srgbClr val="0A2D3C"/>
          </a:solidFill>
          <a:ln>
            <a:solidFill>
              <a:srgbClr val="00D4FF"/>
            </a:solidFill>
          </a:ln>
        </p:spPr>
        <p:style>
          <a:lnRef idx="1">
            <a:schemeClr val="accent1"/>
          </a:lnRef>
          <a:fillRef idx="3">
            <a:schemeClr val="accent1"/>
          </a:fillRef>
          <a:effectRef idx="2">
            <a:schemeClr val="accent1"/>
          </a:effectRef>
          <a:fontRef idx="minor">
            <a:schemeClr val="lt1"/>
          </a:fontRef>
        </p:style>
        <p:txBody>
          <a:bodyPr rtlCol="0" anchor="ctr"/>
          <a:lstStyle/>
          <a:p>
            <a:pPr algn="ctr">
              <a:defRPr sz="1250" b="1">
                <a:solidFill>
                  <a:srgbClr val="00D4FF"/>
                </a:solidFill>
              </a:defRPr>
            </a:pPr>
            <a:r>
              <a:t>TERRAAI TERRESTRIAL PLATFORM ADVANTAGE</a:t>
            </a:r>
          </a:p>
        </p:txBody>
      </p:sp>
      <p:sp>
        <p:nvSpPr>
          <p:cNvPr id="8" name="Rounded Rectangle 7"/>
          <p:cNvSpPr/>
          <p:nvPr/>
        </p:nvSpPr>
        <p:spPr>
          <a:xfrm>
            <a:off x="731520" y="2240280"/>
            <a:ext cx="5212080" cy="960120"/>
          </a:xfrm>
          <a:prstGeom prst="roundRect">
            <a:avLst/>
          </a:prstGeom>
          <a:solidFill>
            <a:srgbClr val="0F172A"/>
          </a:solidFill>
          <a:ln>
            <a:solidFill>
              <a:srgbClr val="1E293B"/>
            </a:solidFill>
          </a:ln>
        </p:spPr>
        <p:style>
          <a:lnRef idx="1">
            <a:schemeClr val="accent1"/>
          </a:lnRef>
          <a:fillRef idx="3">
            <a:schemeClr val="accent1"/>
          </a:fillRef>
          <a:effectRef idx="2">
            <a:schemeClr val="accent1"/>
          </a:effectRef>
          <a:fontRef idx="minor">
            <a:schemeClr val="lt1"/>
          </a:fontRef>
        </p:style>
        <p:txBody>
          <a:bodyPr rtlCol="0" anchor="ctr" wrap="square"/>
          <a:lstStyle/>
          <a:p>
            <a:pPr algn="ctr">
              <a:defRPr sz="1200">
                <a:solidFill>
                  <a:srgbClr val="94A3B8"/>
                </a:solidFill>
              </a:defRPr>
            </a:pPr>
            <a:r>
              <a:t>Reactive high/low threshold limit alarms trigger only after physical process degradation has already breached safety margins.</a:t>
            </a:r>
          </a:p>
        </p:txBody>
      </p:sp>
      <p:sp>
        <p:nvSpPr>
          <p:cNvPr id="9" name="Rounded Rectangle 8"/>
          <p:cNvSpPr/>
          <p:nvPr/>
        </p:nvSpPr>
        <p:spPr>
          <a:xfrm>
            <a:off x="6217920" y="2240280"/>
            <a:ext cx="5212080" cy="960120"/>
          </a:xfrm>
          <a:prstGeom prst="roundRect">
            <a:avLst/>
          </a:prstGeom>
          <a:solidFill>
            <a:srgbClr val="141E37"/>
          </a:solidFill>
          <a:ln>
            <a:solidFill>
              <a:srgbClr val="00D4FF"/>
            </a:solidFill>
          </a:ln>
        </p:spPr>
        <p:style>
          <a:lnRef idx="1">
            <a:schemeClr val="accent1"/>
          </a:lnRef>
          <a:fillRef idx="3">
            <a:schemeClr val="accent1"/>
          </a:fillRef>
          <a:effectRef idx="2">
            <a:schemeClr val="accent1"/>
          </a:effectRef>
          <a:fontRef idx="minor">
            <a:schemeClr val="lt1"/>
          </a:fontRef>
        </p:style>
        <p:txBody>
          <a:bodyPr rtlCol="0" anchor="ctr" wrap="square"/>
          <a:lstStyle/>
          <a:p>
            <a:pPr algn="ctr">
              <a:defRPr sz="1250" b="1">
                <a:solidFill>
                  <a:srgbClr val="FFFFFF"/>
                </a:solidFill>
              </a:defRPr>
            </a:pPr>
            <a:r>
              <a:t>Physics-Informed Neural Operators (PINO) forecast multi-variable thermal, electrical, and mechanical asset trajectories up to 72 hours ahead.</a:t>
            </a:r>
          </a:p>
        </p:txBody>
      </p:sp>
      <p:sp>
        <p:nvSpPr>
          <p:cNvPr id="10" name="Rounded Rectangle 9"/>
          <p:cNvSpPr/>
          <p:nvPr/>
        </p:nvSpPr>
        <p:spPr>
          <a:xfrm>
            <a:off x="731520" y="3291840"/>
            <a:ext cx="5212080" cy="960120"/>
          </a:xfrm>
          <a:prstGeom prst="roundRect">
            <a:avLst/>
          </a:prstGeom>
          <a:solidFill>
            <a:srgbClr val="0F172A"/>
          </a:solidFill>
          <a:ln>
            <a:solidFill>
              <a:srgbClr val="1E293B"/>
            </a:solidFill>
          </a:ln>
        </p:spPr>
        <p:style>
          <a:lnRef idx="1">
            <a:schemeClr val="accent1"/>
          </a:lnRef>
          <a:fillRef idx="3">
            <a:schemeClr val="accent1"/>
          </a:fillRef>
          <a:effectRef idx="2">
            <a:schemeClr val="accent1"/>
          </a:effectRef>
          <a:fontRef idx="minor">
            <a:schemeClr val="lt1"/>
          </a:fontRef>
        </p:style>
        <p:txBody>
          <a:bodyPr rtlCol="0" anchor="ctr" wrap="square"/>
          <a:lstStyle/>
          <a:p>
            <a:pPr algn="ctr">
              <a:defRPr sz="1200">
                <a:solidFill>
                  <a:srgbClr val="94A3B8"/>
                </a:solidFill>
              </a:defRPr>
            </a:pPr>
            <a:r>
              <a:t>Operators must manually adjust setpoints, radio field technicians, and type manual maintenance tickets across separate software silos.</a:t>
            </a:r>
          </a:p>
        </p:txBody>
      </p:sp>
      <p:sp>
        <p:nvSpPr>
          <p:cNvPr id="11" name="Rounded Rectangle 10"/>
          <p:cNvSpPr/>
          <p:nvPr/>
        </p:nvSpPr>
        <p:spPr>
          <a:xfrm>
            <a:off x="6217920" y="3291840"/>
            <a:ext cx="5212080" cy="960120"/>
          </a:xfrm>
          <a:prstGeom prst="roundRect">
            <a:avLst/>
          </a:prstGeom>
          <a:solidFill>
            <a:srgbClr val="141E37"/>
          </a:solidFill>
          <a:ln>
            <a:solidFill>
              <a:srgbClr val="00D4FF"/>
            </a:solidFill>
          </a:ln>
        </p:spPr>
        <p:style>
          <a:lnRef idx="1">
            <a:schemeClr val="accent1"/>
          </a:lnRef>
          <a:fillRef idx="3">
            <a:schemeClr val="accent1"/>
          </a:fillRef>
          <a:effectRef idx="2">
            <a:schemeClr val="accent1"/>
          </a:effectRef>
          <a:fontRef idx="minor">
            <a:schemeClr val="lt1"/>
          </a:fontRef>
        </p:style>
        <p:txBody>
          <a:bodyPr rtlCol="0" anchor="ctr" wrap="square"/>
          <a:lstStyle/>
          <a:p>
            <a:pPr algn="ctr">
              <a:defRPr sz="1250" b="1">
                <a:solidFill>
                  <a:srgbClr val="FFFFFF"/>
                </a:solidFill>
              </a:defRPr>
            </a:pPr>
            <a:r>
              <a:t>Automated Alert-to-Action pipeline executes sub-25ms supervisory setpoint optimization and auto-generates ERP work orders without human latency.</a:t>
            </a:r>
          </a:p>
        </p:txBody>
      </p:sp>
      <p:sp>
        <p:nvSpPr>
          <p:cNvPr id="12" name="Rounded Rectangle 11"/>
          <p:cNvSpPr/>
          <p:nvPr/>
        </p:nvSpPr>
        <p:spPr>
          <a:xfrm>
            <a:off x="731520" y="4343400"/>
            <a:ext cx="5212080" cy="960120"/>
          </a:xfrm>
          <a:prstGeom prst="roundRect">
            <a:avLst/>
          </a:prstGeom>
          <a:solidFill>
            <a:srgbClr val="0F172A"/>
          </a:solidFill>
          <a:ln>
            <a:solidFill>
              <a:srgbClr val="1E293B"/>
            </a:solidFill>
          </a:ln>
        </p:spPr>
        <p:style>
          <a:lnRef idx="1">
            <a:schemeClr val="accent1"/>
          </a:lnRef>
          <a:fillRef idx="3">
            <a:schemeClr val="accent1"/>
          </a:fillRef>
          <a:effectRef idx="2">
            <a:schemeClr val="accent1"/>
          </a:effectRef>
          <a:fontRef idx="minor">
            <a:schemeClr val="lt1"/>
          </a:fontRef>
        </p:style>
        <p:txBody>
          <a:bodyPr rtlCol="0" anchor="ctr" wrap="square"/>
          <a:lstStyle/>
          <a:p>
            <a:pPr algn="ctr">
              <a:defRPr sz="1200">
                <a:solidFill>
                  <a:srgbClr val="94A3B8"/>
                </a:solidFill>
              </a:defRPr>
            </a:pPr>
            <a:r>
              <a:t>Operators must memorize hundreds of cryptic tag IDs and navigate rigid, siloed hierarchical software menus across dozens of monitors.</a:t>
            </a:r>
          </a:p>
        </p:txBody>
      </p:sp>
      <p:sp>
        <p:nvSpPr>
          <p:cNvPr id="13" name="Rounded Rectangle 12"/>
          <p:cNvSpPr/>
          <p:nvPr/>
        </p:nvSpPr>
        <p:spPr>
          <a:xfrm>
            <a:off x="6217920" y="4343400"/>
            <a:ext cx="5212080" cy="960120"/>
          </a:xfrm>
          <a:prstGeom prst="roundRect">
            <a:avLst/>
          </a:prstGeom>
          <a:solidFill>
            <a:srgbClr val="141E37"/>
          </a:solidFill>
          <a:ln>
            <a:solidFill>
              <a:srgbClr val="00D4FF"/>
            </a:solidFill>
          </a:ln>
        </p:spPr>
        <p:style>
          <a:lnRef idx="1">
            <a:schemeClr val="accent1"/>
          </a:lnRef>
          <a:fillRef idx="3">
            <a:schemeClr val="accent1"/>
          </a:fillRef>
          <a:effectRef idx="2">
            <a:schemeClr val="accent1"/>
          </a:effectRef>
          <a:fontRef idx="minor">
            <a:schemeClr val="lt1"/>
          </a:fontRef>
        </p:style>
        <p:txBody>
          <a:bodyPr rtlCol="0" anchor="ctr" wrap="square"/>
          <a:lstStyle/>
          <a:p>
            <a:pPr algn="ctr">
              <a:defRPr sz="1250" b="1">
                <a:solidFill>
                  <a:srgbClr val="FFFFFF"/>
                </a:solidFill>
              </a:defRPr>
            </a:pPr>
            <a:r>
              <a:t>Unified cross-system semantic knowledge fabric allows natural language queries (e.g. 'Correlate heat exchanger fouling against fuel blend changes over 30 days').</a:t>
            </a:r>
          </a:p>
        </p:txBody>
      </p:sp>
      <p:sp>
        <p:nvSpPr>
          <p:cNvPr id="14" name="Rounded Rectangle 13"/>
          <p:cNvSpPr/>
          <p:nvPr/>
        </p:nvSpPr>
        <p:spPr>
          <a:xfrm>
            <a:off x="731520" y="5394960"/>
            <a:ext cx="5212080" cy="960120"/>
          </a:xfrm>
          <a:prstGeom prst="roundRect">
            <a:avLst/>
          </a:prstGeom>
          <a:solidFill>
            <a:srgbClr val="0F172A"/>
          </a:solidFill>
          <a:ln>
            <a:solidFill>
              <a:srgbClr val="1E293B"/>
            </a:solidFill>
          </a:ln>
        </p:spPr>
        <p:style>
          <a:lnRef idx="1">
            <a:schemeClr val="accent1"/>
          </a:lnRef>
          <a:fillRef idx="3">
            <a:schemeClr val="accent1"/>
          </a:fillRef>
          <a:effectRef idx="2">
            <a:schemeClr val="accent1"/>
          </a:effectRef>
          <a:fontRef idx="minor">
            <a:schemeClr val="lt1"/>
          </a:fontRef>
        </p:style>
        <p:txBody>
          <a:bodyPr rtlCol="0" anchor="ctr" wrap="square"/>
          <a:lstStyle/>
          <a:p>
            <a:pPr algn="ctr">
              <a:defRPr sz="1200">
                <a:solidFill>
                  <a:srgbClr val="94A3B8"/>
                </a:solidFill>
              </a:defRPr>
            </a:pPr>
            <a:r>
              <a:t>Single-input single-output (SISO) PID controllers struggle with non-linear cross-coupling, dead times, and seasonal ambient fluctuations.</a:t>
            </a:r>
          </a:p>
        </p:txBody>
      </p:sp>
      <p:sp>
        <p:nvSpPr>
          <p:cNvPr id="15" name="Rounded Rectangle 14"/>
          <p:cNvSpPr/>
          <p:nvPr/>
        </p:nvSpPr>
        <p:spPr>
          <a:xfrm>
            <a:off x="6217920" y="5394960"/>
            <a:ext cx="5212080" cy="960120"/>
          </a:xfrm>
          <a:prstGeom prst="roundRect">
            <a:avLst/>
          </a:prstGeom>
          <a:solidFill>
            <a:srgbClr val="141E37"/>
          </a:solidFill>
          <a:ln>
            <a:solidFill>
              <a:srgbClr val="00D4FF"/>
            </a:solidFill>
          </a:ln>
        </p:spPr>
        <p:style>
          <a:lnRef idx="1">
            <a:schemeClr val="accent1"/>
          </a:lnRef>
          <a:fillRef idx="3">
            <a:schemeClr val="accent1"/>
          </a:fillRef>
          <a:effectRef idx="2">
            <a:schemeClr val="accent1"/>
          </a:effectRef>
          <a:fontRef idx="minor">
            <a:schemeClr val="lt1"/>
          </a:fontRef>
        </p:style>
        <p:txBody>
          <a:bodyPr rtlCol="0" anchor="ctr" wrap="square"/>
          <a:lstStyle/>
          <a:p>
            <a:pPr algn="ctr">
              <a:defRPr sz="1250" b="1">
                <a:solidFill>
                  <a:srgbClr val="FFFFFF"/>
                </a:solidFill>
              </a:defRPr>
            </a:pPr>
            <a:r>
              <a:t>Dynamic multi-input multi-output (MIMO) Model Predictive Control constantly re-evaluates multi-variable trade-offs to maximize efficiency within safety envelopes.</a:t>
            </a:r>
          </a:p>
        </p:txBody>
      </p:sp>
    </p:spTree>
  </p:cSld>
  <p:clrMapOvr>
    <a:masterClrMapping/>
  </p:clrMapOvr>
</p:sld>
</file>

<file path=ppt/slides/slide5.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0A0E1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12191695" cy="54864"/>
          </a:xfrm>
          <a:prstGeom prst="rect">
            <a:avLst/>
          </a:prstGeom>
          <a:solidFill>
            <a:srgbClr val="00D4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731520" y="365760"/>
            <a:ext cx="10698480" cy="1005840"/>
          </a:xfrm>
          <a:prstGeom prst="rect">
            <a:avLst/>
          </a:prstGeom>
          <a:noFill/>
        </p:spPr>
        <p:txBody>
          <a:bodyPr wrap="square">
            <a:spAutoFit/>
          </a:bodyPr>
          <a:lstStyle/>
          <a:p>
            <a:pPr>
              <a:spcAft>
                <a:spcPts val="400"/>
              </a:spcAft>
              <a:defRPr sz="1150" b="1">
                <a:solidFill>
                  <a:srgbClr val="00D4FF"/>
                </a:solidFill>
              </a:defRPr>
            </a:pPr>
            <a:r>
              <a:t>TERRAAI  |  TERRESTRIAL PLATFORM</a:t>
            </a:r>
          </a:p>
          <a:p>
            <a:pPr>
              <a:defRPr sz="2500" b="1">
                <a:solidFill>
                  <a:srgbClr val="FFFFFF"/>
                </a:solidFill>
              </a:defRPr>
            </a:pPr>
            <a:r>
              <a:t>End-to-End System Architecture &amp; Real-Time Pipeline</a:t>
            </a:r>
          </a:p>
        </p:txBody>
      </p:sp>
      <p:sp>
        <p:nvSpPr>
          <p:cNvPr id="5" name="TextBox 4"/>
          <p:cNvSpPr txBox="1"/>
          <p:nvPr/>
        </p:nvSpPr>
        <p:spPr>
          <a:xfrm>
            <a:off x="731520" y="6446520"/>
            <a:ext cx="10698480" cy="320040"/>
          </a:xfrm>
          <a:prstGeom prst="rect">
            <a:avLst/>
          </a:prstGeom>
          <a:noFill/>
        </p:spPr>
        <p:txBody>
          <a:bodyPr wrap="none">
            <a:spAutoFit/>
          </a:bodyPr>
          <a:lstStyle/>
          <a:p>
            <a:pPr>
              <a:defRPr sz="1000">
                <a:solidFill>
                  <a:srgbClr val="94A3B8"/>
                </a:solidFill>
              </a:defRPr>
            </a:pPr>
            <a:r>
              <a:t>TERRESTRIAL PLATFORM  |  TERRAAI CATALOGUE  |  CONFIDENTIAL - AUTHORISED SYSTEM INTEGRATORS ONLY</a:t>
            </a:r>
          </a:p>
        </p:txBody>
      </p:sp>
      <p:sp>
        <p:nvSpPr>
          <p:cNvPr id="6" name="Rounded Rectangle 5"/>
          <p:cNvSpPr/>
          <p:nvPr/>
        </p:nvSpPr>
        <p:spPr>
          <a:xfrm>
            <a:off x="731520" y="1645920"/>
            <a:ext cx="2523744" cy="4389120"/>
          </a:xfrm>
          <a:prstGeom prst="roundRect">
            <a:avLst/>
          </a:prstGeom>
          <a:solidFill>
            <a:srgbClr val="0F172A"/>
          </a:solidFill>
          <a:ln>
            <a:solidFill>
              <a:srgbClr val="1E293B"/>
            </a:solidFill>
          </a:ln>
        </p:spPr>
        <p:style>
          <a:lnRef idx="1">
            <a:schemeClr val="accent1"/>
          </a:lnRef>
          <a:fillRef idx="3">
            <a:schemeClr val="accent1"/>
          </a:fillRef>
          <a:effectRef idx="2">
            <a:schemeClr val="accent1"/>
          </a:effectRef>
          <a:fontRef idx="minor">
            <a:schemeClr val="lt1"/>
          </a:fontRef>
        </p:style>
        <p:txBody>
          <a:bodyPr rtlCol="0" anchor="ctr" wrap="square"/>
          <a:lstStyle/>
          <a:p>
            <a:pPr algn="ctr">
              <a:spcAft>
                <a:spcPts val="800"/>
              </a:spcAft>
              <a:defRPr sz="1100" b="1">
                <a:solidFill>
                  <a:srgbClr val="00D4FF"/>
                </a:solidFill>
              </a:defRPr>
            </a:pPr>
            <a:r>
              <a:t>LAYER 01</a:t>
            </a:r>
          </a:p>
          <a:p>
            <a:pPr>
              <a:spcAft>
                <a:spcPts val="1200"/>
              </a:spcAft>
              <a:defRPr sz="1550" b="1">
                <a:solidFill>
                  <a:srgbClr val="FFFFFF"/>
                </a:solidFill>
              </a:defRPr>
            </a:pPr>
            <a:r>
              <a:t>Multi-Protocol Field Ingestion</a:t>
            </a:r>
          </a:p>
          <a:p>
            <a:pPr>
              <a:defRPr sz="1250">
                <a:solidFill>
                  <a:srgbClr val="C8D8F0"/>
                </a:solidFill>
              </a:defRPr>
            </a:pPr>
            <a:r>
              <a:t>Sub-millisecond multi-protocol telemetry acquisition aggregating DCS, PLCs, RTUs, smart transmitters, and plant-wide sensor networks.</a:t>
            </a:r>
          </a:p>
        </p:txBody>
      </p:sp>
      <p:sp>
        <p:nvSpPr>
          <p:cNvPr id="7" name="Rounded Rectangle 6"/>
          <p:cNvSpPr/>
          <p:nvPr/>
        </p:nvSpPr>
        <p:spPr>
          <a:xfrm>
            <a:off x="3456432" y="1645920"/>
            <a:ext cx="2523744" cy="4389120"/>
          </a:xfrm>
          <a:prstGeom prst="roundRect">
            <a:avLst/>
          </a:prstGeom>
          <a:solidFill>
            <a:srgbClr val="0F172A"/>
          </a:solidFill>
          <a:ln>
            <a:solidFill>
              <a:srgbClr val="1E293B"/>
            </a:solidFill>
          </a:ln>
        </p:spPr>
        <p:style>
          <a:lnRef idx="1">
            <a:schemeClr val="accent1"/>
          </a:lnRef>
          <a:fillRef idx="3">
            <a:schemeClr val="accent1"/>
          </a:fillRef>
          <a:effectRef idx="2">
            <a:schemeClr val="accent1"/>
          </a:effectRef>
          <a:fontRef idx="minor">
            <a:schemeClr val="lt1"/>
          </a:fontRef>
        </p:style>
        <p:txBody>
          <a:bodyPr rtlCol="0" anchor="ctr" wrap="square"/>
          <a:lstStyle/>
          <a:p>
            <a:pPr algn="ctr">
              <a:spcAft>
                <a:spcPts val="800"/>
              </a:spcAft>
              <a:defRPr sz="1100" b="1">
                <a:solidFill>
                  <a:srgbClr val="00D4FF"/>
                </a:solidFill>
              </a:defRPr>
            </a:pPr>
            <a:r>
              <a:t>LAYER 02</a:t>
            </a:r>
          </a:p>
          <a:p>
            <a:pPr>
              <a:spcAft>
                <a:spcPts val="1200"/>
              </a:spcAft>
              <a:defRPr sz="1550" b="1">
                <a:solidFill>
                  <a:srgbClr val="FFFFFF"/>
                </a:solidFill>
              </a:defRPr>
            </a:pPr>
            <a:r>
              <a:t>Deterministic Edge Stream Bus</a:t>
            </a:r>
          </a:p>
          <a:p>
            <a:pPr>
              <a:defRPr sz="1250">
                <a:solidFill>
                  <a:srgbClr val="C8D8F0"/>
                </a:solidFill>
              </a:defRPr>
            </a:pPr>
            <a:r>
              <a:t>Ultra-high-throughput event streaming fabric, lossless telemetry compression, dynamic jitter smoothing, and unified schema normalization.</a:t>
            </a:r>
          </a:p>
        </p:txBody>
      </p:sp>
      <p:sp>
        <p:nvSpPr>
          <p:cNvPr id="8" name="Rounded Rectangle 7"/>
          <p:cNvSpPr/>
          <p:nvPr/>
        </p:nvSpPr>
        <p:spPr>
          <a:xfrm>
            <a:off x="6181344" y="1645920"/>
            <a:ext cx="2523744" cy="4389120"/>
          </a:xfrm>
          <a:prstGeom prst="roundRect">
            <a:avLst/>
          </a:prstGeom>
          <a:solidFill>
            <a:srgbClr val="0F172A"/>
          </a:solidFill>
          <a:ln>
            <a:solidFill>
              <a:srgbClr val="1E293B"/>
            </a:solidFill>
          </a:ln>
        </p:spPr>
        <p:style>
          <a:lnRef idx="1">
            <a:schemeClr val="accent1"/>
          </a:lnRef>
          <a:fillRef idx="3">
            <a:schemeClr val="accent1"/>
          </a:fillRef>
          <a:effectRef idx="2">
            <a:schemeClr val="accent1"/>
          </a:effectRef>
          <a:fontRef idx="minor">
            <a:schemeClr val="lt1"/>
          </a:fontRef>
        </p:style>
        <p:txBody>
          <a:bodyPr rtlCol="0" anchor="ctr" wrap="square"/>
          <a:lstStyle/>
          <a:p>
            <a:pPr algn="ctr">
              <a:spcAft>
                <a:spcPts val="800"/>
              </a:spcAft>
              <a:defRPr sz="1100" b="1">
                <a:solidFill>
                  <a:srgbClr val="00D4FF"/>
                </a:solidFill>
              </a:defRPr>
            </a:pPr>
            <a:r>
              <a:t>LAYER 03</a:t>
            </a:r>
          </a:p>
          <a:p>
            <a:pPr>
              <a:spcAft>
                <a:spcPts val="1200"/>
              </a:spcAft>
              <a:defRPr sz="1550" b="1">
                <a:solidFill>
                  <a:srgbClr val="FFFFFF"/>
                </a:solidFill>
              </a:defRPr>
            </a:pPr>
            <a:r>
              <a:t>Physics-Informed Predictive Core</a:t>
            </a:r>
          </a:p>
          <a:p>
            <a:pPr>
              <a:defRPr sz="1250">
                <a:solidFill>
                  <a:srgbClr val="C8D8F0"/>
                </a:solidFill>
              </a:defRPr>
            </a:pPr>
            <a:r>
              <a:t>Physics-Informed Neural Operators (PINO), 72h multivariate lookahead forecasting, dynamic MIMO MPC, and causal graph root-cause attribution.</a:t>
            </a:r>
          </a:p>
        </p:txBody>
      </p:sp>
      <p:sp>
        <p:nvSpPr>
          <p:cNvPr id="9" name="Rounded Rectangle 8"/>
          <p:cNvSpPr/>
          <p:nvPr/>
        </p:nvSpPr>
        <p:spPr>
          <a:xfrm>
            <a:off x="8906256" y="1645920"/>
            <a:ext cx="2523744" cy="4389120"/>
          </a:xfrm>
          <a:prstGeom prst="roundRect">
            <a:avLst/>
          </a:prstGeom>
          <a:solidFill>
            <a:srgbClr val="0F172A"/>
          </a:solidFill>
          <a:ln>
            <a:solidFill>
              <a:srgbClr val="1E293B"/>
            </a:solidFill>
          </a:ln>
        </p:spPr>
        <p:style>
          <a:lnRef idx="1">
            <a:schemeClr val="accent1"/>
          </a:lnRef>
          <a:fillRef idx="3">
            <a:schemeClr val="accent1"/>
          </a:fillRef>
          <a:effectRef idx="2">
            <a:schemeClr val="accent1"/>
          </a:effectRef>
          <a:fontRef idx="minor">
            <a:schemeClr val="lt1"/>
          </a:fontRef>
        </p:style>
        <p:txBody>
          <a:bodyPr rtlCol="0" anchor="ctr" wrap="square"/>
          <a:lstStyle/>
          <a:p>
            <a:pPr algn="ctr">
              <a:spcAft>
                <a:spcPts val="800"/>
              </a:spcAft>
              <a:defRPr sz="1100" b="1">
                <a:solidFill>
                  <a:srgbClr val="00D4FF"/>
                </a:solidFill>
              </a:defRPr>
            </a:pPr>
            <a:r>
              <a:t>LAYER 04</a:t>
            </a:r>
          </a:p>
          <a:p>
            <a:pPr>
              <a:spcAft>
                <a:spcPts val="1200"/>
              </a:spcAft>
              <a:defRPr sz="1550" b="1">
                <a:solidFill>
                  <a:srgbClr val="FFFFFF"/>
                </a:solidFill>
              </a:defRPr>
            </a:pPr>
            <a:r>
              <a:t>Autonomous Closed-Loop Cockpit</a:t>
            </a:r>
          </a:p>
          <a:p>
            <a:pPr>
              <a:defRPr sz="1250">
                <a:solidFill>
                  <a:srgbClr val="C8D8F0"/>
                </a:solidFill>
              </a:defRPr>
            </a:pPr>
            <a:r>
              <a:t>Deterministic supervisory setpoint modulation, automated ERP/CMMS work order orchestration, and ANSI/ISA-101 high-performance operational cockpits.</a:t>
            </a:r>
          </a:p>
        </p:txBody>
      </p:sp>
    </p:spTree>
  </p:cSld>
  <p:clrMapOvr>
    <a:masterClrMapping/>
  </p:clrMapOvr>
</p:sld>
</file>

<file path=ppt/slides/slide6.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0A0E1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12191695" cy="54864"/>
          </a:xfrm>
          <a:prstGeom prst="rect">
            <a:avLst/>
          </a:prstGeom>
          <a:solidFill>
            <a:srgbClr val="00D4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731520" y="365760"/>
            <a:ext cx="10698480" cy="1005840"/>
          </a:xfrm>
          <a:prstGeom prst="rect">
            <a:avLst/>
          </a:prstGeom>
          <a:noFill/>
        </p:spPr>
        <p:txBody>
          <a:bodyPr wrap="square">
            <a:spAutoFit/>
          </a:bodyPr>
          <a:lstStyle/>
          <a:p>
            <a:pPr>
              <a:spcAft>
                <a:spcPts val="400"/>
              </a:spcAft>
              <a:defRPr sz="1150" b="1">
                <a:solidFill>
                  <a:srgbClr val="00D4FF"/>
                </a:solidFill>
              </a:defRPr>
            </a:pPr>
            <a:r>
              <a:t>TERRAAI  |  TERRESTRIAL PLATFORM</a:t>
            </a:r>
          </a:p>
          <a:p>
            <a:pPr>
              <a:defRPr sz="2500" b="1">
                <a:solidFill>
                  <a:srgbClr val="FFFFFF"/>
                </a:solidFill>
              </a:defRPr>
            </a:pPr>
            <a:r>
              <a:t>System Integrator Deployment Playbook &amp; Commercial Enablement</a:t>
            </a:r>
          </a:p>
        </p:txBody>
      </p:sp>
      <p:sp>
        <p:nvSpPr>
          <p:cNvPr id="5" name="TextBox 4"/>
          <p:cNvSpPr txBox="1"/>
          <p:nvPr/>
        </p:nvSpPr>
        <p:spPr>
          <a:xfrm>
            <a:off x="731520" y="6446520"/>
            <a:ext cx="10698480" cy="320040"/>
          </a:xfrm>
          <a:prstGeom prst="rect">
            <a:avLst/>
          </a:prstGeom>
          <a:noFill/>
        </p:spPr>
        <p:txBody>
          <a:bodyPr wrap="none">
            <a:spAutoFit/>
          </a:bodyPr>
          <a:lstStyle/>
          <a:p>
            <a:pPr>
              <a:defRPr sz="1000">
                <a:solidFill>
                  <a:srgbClr val="94A3B8"/>
                </a:solidFill>
              </a:defRPr>
            </a:pPr>
            <a:r>
              <a:t>TERRESTRIAL PLATFORM  |  TERRAAI CATALOGUE  |  CONFIDENTIAL - AUTHORISED SYSTEM INTEGRATORS ONLY</a:t>
            </a:r>
          </a:p>
        </p:txBody>
      </p:sp>
      <p:sp>
        <p:nvSpPr>
          <p:cNvPr id="6" name="Rounded Rectangle 5"/>
          <p:cNvSpPr/>
          <p:nvPr/>
        </p:nvSpPr>
        <p:spPr>
          <a:xfrm>
            <a:off x="731520" y="1645920"/>
            <a:ext cx="3401568" cy="3200400"/>
          </a:xfrm>
          <a:prstGeom prst="roundRect">
            <a:avLst/>
          </a:prstGeom>
          <a:solidFill>
            <a:srgbClr val="0F172A"/>
          </a:solidFill>
          <a:ln>
            <a:solidFill>
              <a:srgbClr val="1E293B"/>
            </a:solidFill>
          </a:ln>
        </p:spPr>
        <p:style>
          <a:lnRef idx="1">
            <a:schemeClr val="accent1"/>
          </a:lnRef>
          <a:fillRef idx="3">
            <a:schemeClr val="accent1"/>
          </a:fillRef>
          <a:effectRef idx="2">
            <a:schemeClr val="accent1"/>
          </a:effectRef>
          <a:fontRef idx="minor">
            <a:schemeClr val="lt1"/>
          </a:fontRef>
        </p:style>
        <p:txBody>
          <a:bodyPr rtlCol="0" anchor="ctr" wrap="square"/>
          <a:lstStyle/>
          <a:p>
            <a:pPr algn="ctr">
              <a:spcAft>
                <a:spcPts val="800"/>
              </a:spcAft>
              <a:defRPr sz="1100" b="1">
                <a:solidFill>
                  <a:srgbClr val="F5C842"/>
                </a:solidFill>
              </a:defRPr>
            </a:pPr>
            <a:r>
              <a:t>PHASE 01 | CONNECTIVITY &amp; AUDIT</a:t>
            </a:r>
          </a:p>
          <a:p>
            <a:pPr>
              <a:spcAft>
                <a:spcPts val="1000"/>
              </a:spcAft>
              <a:defRPr sz="1600" b="1">
                <a:solidFill>
                  <a:srgbClr val="FFFFFF"/>
                </a:solidFill>
              </a:defRPr>
            </a:pPr>
            <a:r>
              <a:t>Zero Rip-and-Replace Onboarding</a:t>
            </a:r>
          </a:p>
          <a:p>
            <a:pPr>
              <a:defRPr sz="1250">
                <a:solidFill>
                  <a:srgbClr val="C8D8F0"/>
                </a:solidFill>
              </a:defRPr>
            </a:pPr>
            <a:r>
              <a:t>Deploy edge container onto existing industrial PC or VM. Connect to plant DCS/PLCs via OPC UA / TSN. Ingest and normalize all telemetry in under 48 hours without halting production.</a:t>
            </a:r>
          </a:p>
        </p:txBody>
      </p:sp>
      <p:sp>
        <p:nvSpPr>
          <p:cNvPr id="7" name="Rounded Rectangle 6"/>
          <p:cNvSpPr/>
          <p:nvPr/>
        </p:nvSpPr>
        <p:spPr>
          <a:xfrm>
            <a:off x="4379976" y="1645920"/>
            <a:ext cx="3401568" cy="3200400"/>
          </a:xfrm>
          <a:prstGeom prst="roundRect">
            <a:avLst/>
          </a:prstGeom>
          <a:solidFill>
            <a:srgbClr val="0F172A"/>
          </a:solidFill>
          <a:ln>
            <a:solidFill>
              <a:srgbClr val="1E293B"/>
            </a:solidFill>
          </a:ln>
        </p:spPr>
        <p:style>
          <a:lnRef idx="1">
            <a:schemeClr val="accent1"/>
          </a:lnRef>
          <a:fillRef idx="3">
            <a:schemeClr val="accent1"/>
          </a:fillRef>
          <a:effectRef idx="2">
            <a:schemeClr val="accent1"/>
          </a:effectRef>
          <a:fontRef idx="minor">
            <a:schemeClr val="lt1"/>
          </a:fontRef>
        </p:style>
        <p:txBody>
          <a:bodyPr rtlCol="0" anchor="ctr" wrap="square"/>
          <a:lstStyle/>
          <a:p>
            <a:pPr algn="ctr">
              <a:spcAft>
                <a:spcPts val="800"/>
              </a:spcAft>
              <a:defRPr sz="1100" b="1">
                <a:solidFill>
                  <a:srgbClr val="F5C842"/>
                </a:solidFill>
              </a:defRPr>
            </a:pPr>
            <a:r>
              <a:t>PHASE 02 | TWIN CALIBRATION</a:t>
            </a:r>
          </a:p>
          <a:p>
            <a:pPr>
              <a:spcAft>
                <a:spcPts val="1000"/>
              </a:spcAft>
              <a:defRPr sz="1600" b="1">
                <a:solidFill>
                  <a:srgbClr val="FFFFFF"/>
                </a:solidFill>
              </a:defRPr>
            </a:pPr>
            <a:r>
              <a:t>Physics-Model Synchronization</a:t>
            </a:r>
          </a:p>
          <a:p>
            <a:pPr>
              <a:defRPr sz="1250">
                <a:solidFill>
                  <a:srgbClr val="C8D8F0"/>
                </a:solidFill>
              </a:defRPr>
            </a:pPr>
            <a:r>
              <a:t>Feed historical historian data into TerraAI models. Automatically build directed causal relationship graphs, calibrate thermodynamics/kinematics, and train edge neural operators.</a:t>
            </a:r>
          </a:p>
        </p:txBody>
      </p:sp>
      <p:sp>
        <p:nvSpPr>
          <p:cNvPr id="8" name="Rounded Rectangle 7"/>
          <p:cNvSpPr/>
          <p:nvPr/>
        </p:nvSpPr>
        <p:spPr>
          <a:xfrm>
            <a:off x="8028432" y="1645920"/>
            <a:ext cx="3401568" cy="3200400"/>
          </a:xfrm>
          <a:prstGeom prst="roundRect">
            <a:avLst/>
          </a:prstGeom>
          <a:solidFill>
            <a:srgbClr val="0F172A"/>
          </a:solidFill>
          <a:ln>
            <a:solidFill>
              <a:srgbClr val="1E293B"/>
            </a:solidFill>
          </a:ln>
        </p:spPr>
        <p:style>
          <a:lnRef idx="1">
            <a:schemeClr val="accent1"/>
          </a:lnRef>
          <a:fillRef idx="3">
            <a:schemeClr val="accent1"/>
          </a:fillRef>
          <a:effectRef idx="2">
            <a:schemeClr val="accent1"/>
          </a:effectRef>
          <a:fontRef idx="minor">
            <a:schemeClr val="lt1"/>
          </a:fontRef>
        </p:style>
        <p:txBody>
          <a:bodyPr rtlCol="0" anchor="ctr" wrap="square"/>
          <a:lstStyle/>
          <a:p>
            <a:pPr algn="ctr">
              <a:spcAft>
                <a:spcPts val="800"/>
              </a:spcAft>
              <a:defRPr sz="1100" b="1">
                <a:solidFill>
                  <a:srgbClr val="F5C842"/>
                </a:solidFill>
              </a:defRPr>
            </a:pPr>
            <a:r>
              <a:t>PHASE 03 | AUTONOMOUS GO-LIVE</a:t>
            </a:r>
          </a:p>
          <a:p>
            <a:pPr>
              <a:spcAft>
                <a:spcPts val="1000"/>
              </a:spcAft>
              <a:defRPr sz="1600" b="1">
                <a:solidFill>
                  <a:srgbClr val="FFFFFF"/>
                </a:solidFill>
              </a:defRPr>
            </a:pPr>
            <a:r>
              <a:t>Closed-Loop Setpoint Actuation</a:t>
            </a:r>
          </a:p>
          <a:p>
            <a:pPr>
              <a:defRPr sz="1250">
                <a:solidFill>
                  <a:srgbClr val="C8D8F0"/>
                </a:solidFill>
              </a:defRPr>
            </a:pPr>
            <a:r>
              <a:t>Transition from advisory warnings to sub-25ms supervisory actuation. Sync alarm suppressions with plant operators and link work orders into SAP/ERP for verifiable recurring ROI.</a:t>
            </a:r>
          </a:p>
        </p:txBody>
      </p:sp>
      <p:sp>
        <p:nvSpPr>
          <p:cNvPr id="9" name="Rounded Rectangle 8"/>
          <p:cNvSpPr/>
          <p:nvPr/>
        </p:nvSpPr>
        <p:spPr>
          <a:xfrm>
            <a:off x="731520" y="5029200"/>
            <a:ext cx="10698480" cy="1188720"/>
          </a:xfrm>
          <a:prstGeom prst="roundRect">
            <a:avLst/>
          </a:prstGeom>
          <a:solidFill>
            <a:srgbClr val="0C1C34"/>
          </a:solidFill>
          <a:ln>
            <a:solidFill>
              <a:srgbClr val="00D4FF"/>
            </a:solidFill>
          </a:ln>
        </p:spPr>
        <p:style>
          <a:lnRef idx="1">
            <a:schemeClr val="accent1"/>
          </a:lnRef>
          <a:fillRef idx="3">
            <a:schemeClr val="accent1"/>
          </a:fillRef>
          <a:effectRef idx="2">
            <a:schemeClr val="accent1"/>
          </a:effectRef>
          <a:fontRef idx="minor">
            <a:schemeClr val="lt1"/>
          </a:fontRef>
        </p:style>
        <p:txBody>
          <a:bodyPr rtlCol="0" anchor="ctr" wrap="square"/>
          <a:lstStyle/>
          <a:p>
            <a:pPr algn="ctr">
              <a:spcAft>
                <a:spcPts val="400"/>
              </a:spcAft>
              <a:defRPr sz="1150" b="1">
                <a:solidFill>
                  <a:srgbClr val="00D4FF"/>
                </a:solidFill>
              </a:defRPr>
            </a:pPr>
            <a:r>
              <a:t>COMMERCIAL VALUE PROPOSITION FOR SYSTEM INTEGRATORS (TERRAAI)</a:t>
            </a:r>
          </a:p>
          <a:p>
            <a:pPr>
              <a:defRPr sz="1300" b="1">
                <a:solidFill>
                  <a:srgbClr val="FFFFFF"/>
                </a:solidFill>
              </a:defRPr>
            </a:pPr>
            <a:r>
              <a:t>High recurring annual software margins (ARR)  |  Turnkey deployment in days, not months  |  Full co-selling &amp; pre-sales engineering support  |  Certified partner portal at platform.tpcloud.tech</a:t>
            </a:r>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docProps/app.xml><?xml version="1.0" encoding="utf-8"?>
<Properties xmlns="http://schemas.openxmlformats.org/officeDocument/2006/extended-properties" xmlns:vt="http://schemas.openxmlformats.org/officeDocument/2006/docPropsVTypes">
  <TotalTime>1</TotalTime>
  <Words>0</Words>
  <Application>Microsoft Macintosh PowerPoint</Application>
  <PresentationFormat>On-screen Show (4:3)</PresentationFormat>
  <Paragraphs>0</Paragraphs>
  <Slides>0</Slides>
  <Notes>0</Notes>
  <HiddenSlides>0</HiddenSlides>
  <MMClips>0</MMClips>
  <ScaleCrop>false</ScaleCrop>
  <HeadingPairs>
    <vt:vector size="4" baseType="variant">
      <vt:variant>
        <vt:lpstr>Theme</vt:lpstr>
      </vt:variant>
      <vt:variant>
        <vt:i4>1</vt:i4>
      </vt:variant>
      <vt:variant>
        <vt:lpstr>Slide Titles</vt:lpstr>
      </vt:variant>
      <vt:variant>
        <vt:i4>0</vt:i4>
      </vt:variant>
    </vt:vector>
  </HeadingPairs>
  <TitlesOfParts>
    <vt:vector size="1" baseType="lpstr">
      <vt:lpstr>Office Theme</vt:lpstr>
    </vt:vector>
  </TitlesOfParts>
  <Manager/>
  <Company/>
  <LinksUpToDate>false</LinksUpToDate>
  <SharedDoc>false</SharedDoc>
  <HyperlinkBase/>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subject/>
  <dc:creator/>
  <cp:keywords/>
  <dc:description>generated using python-pptx</dc:description>
  <cp:lastModifiedBy>Steve Canny</cp:lastModifiedBy>
  <cp:revision>1</cp:revision>
  <dcterms:created xsi:type="dcterms:W3CDTF">2013-01-27T09:14:16Z</dcterms:created>
  <dcterms:modified xsi:type="dcterms:W3CDTF">2013-01-27T09:15:58Z</dcterms:modified>
  <cp:category/>
</cp:coreProperties>
</file>