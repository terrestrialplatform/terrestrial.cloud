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TERRAGRIDW CATALOGUE  |  CONFIDENTIAL - AUTHORISED SYSTEM INTEGRATORS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0D4FF"/>
                </a:solidFill>
              </a:defRPr>
            </a:pPr>
            <a:r>
              <a:t>ENTERPRISE PRODUCT SPECIFICATION  |  GRIDS &amp; UTILITIES</a:t>
            </a:r>
          </a:p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</a:defRPr>
            </a:pPr>
            <a:r>
              <a:t>TerraGridW</a:t>
            </a:r>
          </a:p>
          <a:p>
            <a:pPr>
              <a:spcAft>
                <a:spcPts val="1200"/>
              </a:spcAft>
              <a:defRPr sz="1900" b="1">
                <a:solidFill>
                  <a:srgbClr val="F5C842"/>
                </a:solidFill>
              </a:defRPr>
            </a:pPr>
            <a:r>
              <a:t>Smart Water Grid, Pumping Energy Optimization &amp; Custody Telemetry</a:t>
            </a:r>
          </a:p>
          <a:p>
            <a:pPr>
              <a:spcAft>
                <a:spcPts val="1200"/>
              </a:spcAft>
              <a:defRPr sz="1400">
                <a:solidFill>
                  <a:srgbClr val="C8D8F0"/>
                </a:solidFill>
              </a:defRPr>
            </a:pPr>
            <a:r>
              <a:t>Industrial Protocol: DLMS/COSEM (IEC 62056)    |    Domain Architecture: Terrestrial Deterministic Edge Core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Smart Water Grid, Pumping Energy Optimization &amp; Custody 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REVERSE OSMOSIS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82.5%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WATER QUALITY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TDS / pH Online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SPECIFIC ENERGY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2.8 kWh/m³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LEAK PINPOINTING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Acoustic + Mass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TERRAGRIDW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Core Functional Deliverables &amp; Architectural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TERRAGRIDW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01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Pumping Energy Optimization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Dynamic multi-pump sequencing and VFD coordination based on hydraulic head and Best Efficiency Point (BEP).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02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Transient Wave Leak Detection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Real-time pressure burst localization capturing acoustic reflections to find pipe ruptures immediately.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03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Integrated AMI / Billing Gateway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DLMS/COSEM and LoRa smart meter ingestion with built-in consumer billing and payment gateways.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04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Non-Revenue Water (NRW) Analytics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Continuous mass balance algorithms quantifying unbilled distribution losses across regional pipeline networks.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TERRAGRIDW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Field-Validated Operational Use Cases &amp; Quantifiable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TERRAGRIDW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EFFICIENCY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Efficiency (Pumping Station Energy Optimization)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Dynamic multi-pump sequencing and VFD coordination based on hydraulic head reduces water pumping power by up to 22%.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QA &amp; PIPELINE SAFETY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QA &amp; Pipeline Safety (Transient Wave Leak Detection)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Real-time pressure burst localization and non-revenue water (NRW) analytics pinpoint leaks within 60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REDUCED MANPOWER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Reduced Manpower (Integrated AMI &amp; Billing Gateway)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DLMS/COSEM and LoRa smart meter ingestion with built-in consumer payment gateways eliminates manual meter reading.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TERRAGRIDW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Competitive Advantage: Terrestrial Platform vs. Legacy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TERRAGRIDW CATALOGUE  |  CONFIDENTIAL - AUTHORISED SYSTEM INTEGRATORS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502920"/>
          </a:xfrm>
          <a:prstGeom prst="rect">
            <a:avLst/>
          </a:prstGeom>
          <a:solidFill>
            <a:srgbClr val="280F14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5555"/>
                </a:solidFill>
              </a:defRPr>
            </a:pPr>
            <a:r>
              <a:t>TRADITIONAL LEGACY SCADA / SILOED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502920"/>
          </a:xfrm>
          <a:prstGeom prst="rect">
            <a:avLst/>
          </a:prstGeom>
          <a:solidFill>
            <a:srgbClr val="0A2D3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0D4FF"/>
                </a:solidFill>
              </a:defRPr>
            </a:pPr>
            <a:r>
              <a:t>TERRAGRIDW TERRESTRIAL PLATFORM ADVANTAGE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Pumps operated manually at fixed speeds regardless of hydraulic head or fluctuating electricity tariffs.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AI-driven pump sequencing and dynamic VFD speed optimization based on time-of-day power tariffs and reservoir levels.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Pipeline leaks detected only when water pools on the surface or consumers complain of dry taps.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High-frequency pressure transient wave algorithms pinpointing pipe bursts and micro-leaks within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Manual meter reading prone to billing disputes, estimated bills, and heavy non-revenue water (NRW)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4340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Automated Metering Infrastructure (AMI) with LoRa/DLMS meters and integrated consumer billing portals.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Static high/low threshold alarms trigger only after physical process degradation has occurred.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39496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TerraGridW physics-informed models forecast multi-variable trajectories up to 72 hours in advance.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TERRAGRIDW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End-to-End System Architecture &amp; Real-Time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TERRAGRIDW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01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DMA &amp; Pressure Ingestion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Telemetry acquisition from electromagnetic flowmeters, district metered area (DMA) pressure loggers, and reservoir level transmitters.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02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Hydraulic Zone Stream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Low-power edge data buffering, water hammer transient capture, and diurnal flow pattern normalization across pressure management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03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NRW Leak Localization Core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EPANET hydraulic simulation, acoustic leak cross-correlation, night-flow anomaly detection, and pipe burst localization algorithms.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04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PRV &amp; Pump Actuation Cockpit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Closed-loop PRV modulating setpoints, pump station variable speed drive dispatch, and ANSI/ISA-101 municipal water distribution dashboards.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TERRAGRIDW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System Integrator Deployment Playbook &amp; Commercial Enablement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TERRAGRIDW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01 | CONNECTIVITY &amp; AUDIT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Deploy edge container onto existing industrial PC or VM. Connect to plant DCS/PLCs via DLMS/COSEM (IEC 62056). Ingest and normalize all telemetry in under 48 hours without halting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02 | TWIN CALIBRATION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Feed historical historian data into TerraGridW models. Automatically build directed causal relationship graphs, calibrate thermodynamics/kinematics, and train edge neural operators.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03 | AUTONOMOUS GO-LIVE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Transition from advisory warnings to sub-25ms supervisory actuation. Sync alarm suppressions with plant operators and link work orders into SAP/ERP for verifiable recurring ROI.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0C1C3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COMMERCIAL VALUE PROPOSITION FOR SYSTEM INTEGRATORS (TERRAGRIDW)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High recurring annual software margins (ARR)  |  Turnkey deployment in days, not months  |  Full co-selling &amp; pre-sales engineering support  |  Certified partner portal at platform.tpcloud.tech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