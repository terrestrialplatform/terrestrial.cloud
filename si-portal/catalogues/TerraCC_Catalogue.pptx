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TerraCC - Enterprise Product Specification</a:t>
            </a:r>
          </a:p>
          <a:p>
            <a:r>
              <a:t>Tagline: Autonomous Command Center &amp; Multi-Agent Swarm Operations Glass Cockpit</a:t>
            </a:r>
          </a:p>
          <a:p/>
          <a:p>
            <a:r>
              <a:t>Outcome Quote:</a:t>
            </a:r>
          </a:p>
          <a:p>
            <a:r>
              <a:t>“Uniting autonomous machine swarms and human command on a single deterministic glass cockpit — transforming complex cross-fleet operations into synchronized, self-orchestrating plant autonomy.” (— THE AUTONOMOUS COMMAND REVOLUTION)</a:t>
            </a:r>
          </a:p>
          <a:p/>
          <a:p>
            <a:r>
              <a:t>Executive Overview:</a:t>
            </a:r>
          </a:p>
          <a:p>
            <a:r>
              <a:t>TerraCC serves as the central mission-critical autonomous command center and glass cockpit, bridging human decision-makers with autonomous agent swarms across industrial fleets, energy grids, and manufacturing complexes. Ingesting high-density real-time telemetry from thousands of distributed edge nodes, TerraCC coordinates autonomous multi-agent consensus, automated supervisory setpoint dispatch, and cross-plant incident response while providing operators with single-click deterministic fail-safe override meeting IEC 62443 cyber-physical safety standards.</a:t>
            </a:r>
          </a:p>
          <a:p/>
          <a:p>
            <a:r>
              <a:t>Key Telemetry Metrics:</a:t>
            </a:r>
          </a:p>
          <a:p>
            <a:r>
              <a:t>- SWARM AUTONOMY:: Level 4 Multi-Agent Control</a:t>
            </a:r>
          </a:p>
          <a:p>
            <a:r>
              <a:t>- CLOSED-LOOP DISPATCH:: Sub-15ms Swarm Actuation</a:t>
            </a:r>
          </a:p>
          <a:p>
            <a:r>
              <a:t>- FLEET CONCURRENCY:: 10,000+ Autonomous Nodes</a:t>
            </a:r>
          </a:p>
          <a:p>
            <a:r>
              <a:t>- FAIL-SAFE INTERLOCK:: Deterministic E-Stop &amp; Override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TerraCC - ANSI/ISA-101 Verified Operational Interface</a:t>
            </a:r>
          </a:p>
          <a:p>
            <a:r>
              <a:t>Representation: TerraCC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terra_cc_isa101_showcase.jpg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TerraCC Will Do:</a:t>
            </a:r>
          </a:p>
          <a:p>
            <a:r>
              <a:t>[1] Autonomous Multi-Agent Swarm Orchestration:</a:t>
            </a:r>
          </a:p>
          <a:p>
            <a:r>
              <a:t>Coordinates cooperative AI agent swarms across distributed plants, substations, and utilities. Automatically negotiates dynamic power dispatch, compressor loading, and cross-facility resource balancing in real time with zero human latency.</a:t>
            </a:r>
          </a:p>
          <a:p/>
          <a:p>
            <a:r>
              <a:t>[2] Bimodal Human-Swarm Glass Cockpit:</a:t>
            </a:r>
          </a:p>
          <a:p>
            <a:r>
              <a:t>Unifies live operational telemetry feeds with real-time autonomous agent decision rationales, confidence scores, and proposed action trajectories on an ISA-110 compliant high-performance spatial canvas.</a:t>
            </a:r>
          </a:p>
          <a:p/>
          <a:p>
            <a:r>
              <a:t>[3] Autonomous Closed-Loop Dispatch &amp; Setpoint Actuation:</a:t>
            </a:r>
          </a:p>
          <a:p>
            <a:r>
              <a:t>Translates high-level enterprise production and decarbonization objectives into micro-actuation setpoints across thousands of PLCs, DCS controllers, and edge RTUs with sub-15ms deterministic synchronization.</a:t>
            </a:r>
          </a:p>
          <a:p/>
          <a:p>
            <a:r>
              <a:t>[4] Cross-Plant Incident Containment &amp; Dynamic Escalation:</a:t>
            </a:r>
          </a:p>
          <a:p>
            <a:r>
              <a:t>Instantly detects cross-unit cascade risks (grid frequency sags, steam header pressure drops, cooling water deficits). Autonomously triggers protective load shedding, reroutes process feeds, and executes emergency interlocks.</a:t>
            </a:r>
          </a:p>
          <a:p/>
          <a:p>
            <a:r>
              <a:t>[5] Deterministic Fail-Safe Override &amp; Time-Travel Playback:</a:t>
            </a:r>
          </a:p>
          <a:p>
            <a:r>
              <a:t>Hardened single-click manual emergency-stop (E-Stop) and supervisory override meeting IEC 62443 SIL-3, combined with a millisecond-synchronized telemetry flight recorder allowing forensic event scrub and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TerraCC - Operational Use Cases &amp; Field Impact:</a:t>
            </a:r>
          </a:p>
          <a:p>
            <a:r>
              <a:t>[Autonomous Grid Balancing] Fleet-Wide Autonomous Renewable Dispatch &amp; Frequency Response:</a:t>
            </a:r>
          </a:p>
          <a:p>
            <a:r>
              <a:t>Autonomously coordinates 15 geographically distributed utility-scale solar parks, wind farms, and battery storage systems (BESS); balances 4.2 GW grid injection against real-time sub-second frequency deviations without human dispatch delay.</a:t>
            </a:r>
          </a:p>
          <a:p/>
          <a:p>
            <a:r>
              <a:t>[Cross-Plant Autonomous Interlocks] Refinery &amp; Power Island: Cross-Facility Utility Redistribution:</a:t>
            </a:r>
          </a:p>
          <a:p>
            <a:r>
              <a:t>When a main boiler feed pump trips on Power Unit 3, TerraCC autonomously evaluates live steam header capacities, sheds non-essential process heaters, and reroutes high-pressure steam across adjacent chemical units within 220 milliseconds.</a:t>
            </a:r>
          </a:p>
          <a:p/>
          <a:p>
            <a:r>
              <a:t>[Autonomous Robotics &amp; Inspection] Autonomous Robotic Crawler &amp; Drone Swarm Patrol Dispatch:</a:t>
            </a:r>
          </a:p>
          <a:p>
            <a:r>
              <a:t>Fuses stationary CCTV cameras with mobile autonomous inspection crawlers and aerial drones; autonomously dispatches inspection bots to exact coordinate waypoints upon acoustic leak detection or thermal hotspot alerts.</a:t>
            </a:r>
          </a:p>
          <a:p/>
          <a:p>
            <a:r>
              <a:t>[Emergency Containment &amp; Safety] Hazardous Chemical Zone: Autonomous Gas Cloud Containment &amp; Isolation:</a:t>
            </a:r>
          </a:p>
          <a:p>
            <a:r>
              <a:t>Optical gas imaging and acoustic leak array fusion detects an incipient toxic vapor leak; TerraCC autonomously commands pneumatic perimeter block valves to close, starts negative-pressure scrubbers, and projects dynamic evacuation corridors.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TerraCC - Architectural Contrast (Legacy SCADA vs Terrestrial Platform):</a:t>
            </a:r>
          </a:p>
          <a:p>
            <a:r>
              <a:t>LEGACY:</a:t>
            </a:r>
          </a:p>
          <a:p>
            <a:r>
              <a:t>Dozens of disjointed SCADA screens, flashing alarms, and cluttered text tables causing operator cognitive overload.</a:t>
            </a:r>
          </a:p>
          <a:p/>
          <a:p>
            <a:r>
              <a:t>TERRESTRIAL ADVANTAGE:</a:t>
            </a:r>
          </a:p>
          <a:p>
            <a:r>
              <a:t>Unified bimodal glass cockpit seamlessly fusing live process telemetry with autonomous agent rationales and predictive trajectories.</a:t>
            </a:r>
          </a:p>
          <a:p/>
          <a:p>
            <a:r>
              <a:t>LEGACY:</a:t>
            </a:r>
          </a:p>
          <a:p>
            <a:r>
              <a:t>Manual phone calls, radios, and delayed paperwork to coordinate inter-plant utility transfers during trips.</a:t>
            </a:r>
          </a:p>
          <a:p/>
          <a:p>
            <a:r>
              <a:t>TERRESTRIAL ADVANTAGE:</a:t>
            </a:r>
          </a:p>
          <a:p>
            <a:r>
              <a:t>Sub-15ms autonomous closed-loop supervisory dispatch executing micro-setpoint adjustments across thousands of controllers.</a:t>
            </a:r>
          </a:p>
          <a:p/>
          <a:p>
            <a:r>
              <a:t>LEGACY:</a:t>
            </a:r>
          </a:p>
          <a:p>
            <a:r>
              <a:t>Floods of 2,000+ unranked alarms per minute during unit trips, forcing operators to guess initiating root causes.</a:t>
            </a:r>
          </a:p>
          <a:p/>
          <a:p>
            <a:r>
              <a:t>TERRESTRIAL ADVANTAGE:</a:t>
            </a:r>
          </a:p>
          <a:p>
            <a:r>
              <a:t>Autonomous causal graph correlation groups secondary alarms into single actionable incidents with instant automated resolution steps.</a:t>
            </a:r>
          </a:p>
          <a:p/>
          <a:p>
            <a:r>
              <a:t>LEGACY:</a:t>
            </a:r>
          </a:p>
          <a:p>
            <a:r>
              <a:t>Rigid desktop client software requiring expensive dedicated workstations with no mobile collaboration.</a:t>
            </a:r>
          </a:p>
          <a:p/>
          <a:p>
            <a:r>
              <a:t>TERRESTRIAL ADVANTAGE:</a:t>
            </a:r>
          </a:p>
          <a:p>
            <a:r>
              <a:t>High-performance web-native vector glass cockpit accessible securely on 8K MicroLED video walls, control consoles, and field tablets.</a:t>
            </a:r>
          </a:p>
          <a:p/>
          <a:p>
            <a:r>
              <a:t>LEGACY:</a:t>
            </a:r>
          </a:p>
          <a:p>
            <a:r>
              <a:t>Manual shift handovers with incomplete operator logbooks and unrecorded manual setpoint changes.</a:t>
            </a:r>
          </a:p>
          <a:p/>
          <a:p>
            <a:r>
              <a:t>TERRESTRIAL ADVANTAGE:</a:t>
            </a:r>
          </a:p>
          <a:p>
            <a:r>
              <a:t>Continuous automated audit trail with millisecond-synchronized time-travel playback reconstructing every autonomous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TerraCC - End-to-End System Diagram &amp; Data Pipeline:</a:t>
            </a:r>
          </a:p>
          <a:p/>
          <a:p>
            <a:r>
              <a:t>Layer 01: Fleet-Wide Distributed Ingestion</a:t>
            </a:r>
          </a:p>
          <a:p>
            <a:r>
              <a:t>Direct multi-site telemetry acquisition aggregating thousands of PLCs, DCS controllers, RTUs, smart meters, robotic agents, and multi-spectral CCTV feeds.</a:t>
            </a:r>
          </a:p>
          <a:p>
            <a:r>
              <a:t>Protocols: OPC UA / TSN, IEC 61850 MMS, MQTT Sparkplug B</a:t>
            </a:r>
          </a:p>
          <a:p/>
          <a:p>
            <a:r>
              <a:t>Layer 02: Deterministic Swarm Telemetry Bus</a:t>
            </a:r>
          </a:p>
          <a:p>
            <a:r>
              <a:t>High-velocity bidirectional telemetry bus, lossless payload compression, dynamic jitter smoothing, and sub-15ms multi-site synchronization fabric.</a:t>
            </a:r>
          </a:p>
          <a:p>
            <a:r>
              <a:t>Protocols: Swarm Telemetry Bus, Edge Consensus Fabric, Sub-15ms Stream</a:t>
            </a:r>
          </a:p>
          <a:p/>
          <a:p>
            <a:r>
              <a:t>Layer 03: Autonomous Multi-Agent Decision Engine</a:t>
            </a:r>
          </a:p>
          <a:p>
            <a:r>
              <a:t>Cooperative multi-agent swarm consensus, dynamic cross-plant load balancing, predictive setpoint trajectory optimization, and causal incident correlation.</a:t>
            </a:r>
          </a:p>
          <a:p>
            <a:r>
              <a:t>Protocols: Autonomous Swarm Core, Multi-Agent Consensus, Predictive Dispatch Engine</a:t>
            </a:r>
          </a:p>
          <a:p/>
          <a:p>
            <a:r>
              <a:t>Layer 04: Bimodal Glass Cockpit &amp; Closed-Loop Actuation</a:t>
            </a:r>
          </a:p>
          <a:p>
            <a:r>
              <a:t>8K MicroLED operational video wall, automated supervisory dispatch, ISA-110 emergency operations canvas, and deterministic IEC 62443 fail-safe override.</a:t>
            </a:r>
          </a:p>
          <a:p>
            <a:r>
              <a:t>Protocols: Supervisory Dispatch, Fail-Safe E-Stop, ISA-110 Glass Cockpit</a:t>
            </a:r>
          </a:p>
          <a:p/>
          <a:p>
            <a:r>
              <a:t>Pipeline Flow:</a:t>
            </a:r>
          </a:p>
          <a:p>
            <a:r>
              <a:t>DATA PIPELINE FLOW: Distributed Fleet Telemetry ➔ High-Throughput Swarm Bus ➔ Autonomous Multi-Agent Consensus ➔ Closed-Loop Supervisory Actuation &amp; Glass Cockpit (&lt; 15ms Latency)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TerraCC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TERRACC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TerraCC: Autonomous Command Center &amp; Multi-Agent Swarm Operations Glass Cockpit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““Uniting autonomous machine swarms and human command on a single deterministic glass cockpit — transforming complex cross-fleet operations into synchronized, self-orchestrating plant autonomy.””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AUTONOMOUS COMMAND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TerraCC serves as the central mission-critical autonomous command center and glass cockpit, bridging human decision-makers with autonomous agent swarms across industrial fleets, energy grids, and manufacturing complexes. Ingesting high-density real-time telemetry from thousands of distributed edge nodes, TerraCC coordinates autonomous multi-agent consensus, automated supervisory setpoint dispatch, and cross-plant incident response while providing operators with single-click deterministic fail-safe override meeting IEC 62443 cyber-physical safety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SWARM AUTONOMY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Level 4 Multi-Agent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CLOSED-LOOP DISPATCH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Sub-15ms Swarm Actuation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FLEET CONCURRENCY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10,000+ Autonomous Nodes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FAIL-SAFE INTERLOCK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Deterministic E-Stop &amp; 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TERRACC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TerraCC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cc_isa101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TERRACC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TerraCC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CAPABILITY 01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Autonomous Multi-Agent Swarm Orchestration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Coordinates cooperative AI agent swarms across distributed plants, substations, and utilities. Automatically negotiates dynamic power dispatch, compressor loading, and cross-facility resource balancing in real time with zero human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CAPABILITY 02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Bimodal Human-Swarm Glass Cockpit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Unifies live operational telemetry feeds with real-time autonomous agent decision rationales, confidence scores, and proposed action trajectories on an ISA-110 compliant high-performance spatial canvas.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CAPABILITY 03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Autonomous Closed-Loop Dispatch &amp;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Translates high-level enterprise production and decarbonization objectives into micro-actuation setpoints across thousands of PLCs, DCS controllers, and edge RTUs with sub-15ms deterministic synchronization.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48646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CAPABILITY 04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Cross-Plant Incident Containment &amp; Dynamic Escalation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Instantly detects cross-unit cascade risks (grid frequency sags, steam header pressure drops, cooling water deficits). Autonomously triggers protective load shedding, reroutes process feeds, and executes emergency interlocks.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279392"/>
            <a:ext cx="48646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CAPABILITY 05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Deterministic Fail-Safe Override &amp; Time-Travel Playback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Hardened single-click manual emergency-stop (E-Stop) and supervisory override meeting IEC 62443 SIL-3, combined with a millisecond-synchronized telemetry flight recorder allowing forensic event scrub and replay.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TERRACC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AUTONOMOUS GRID BALANCING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Fleet-Wide Autonomous Renewable Dispatch &amp; Frequency Response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Autonomously coordinates 15 geographically distributed utility-scale solar parks, wind farms, and battery storage systems (BESS); balances 4.2 GW grid injection against real-time sub-second frequency deviations without human dispatch delay.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CROSS-PLANT AUTONOMOUS INTERLOCKS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Refinery &amp; Power Island: Cross-Facility Utility Redistribution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When a main boiler feed pump trips on Power Unit 3, TerraCC autonomously evaluates live steam header capacities, sheds non-essential process heaters, and reroutes high-pressure steam across adjacent chemical units within 220 milliseconds.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AUTONOMOUS ROBOTICS &amp; INSPECTION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Autonomous Robotic Crawler &amp; Drone Swarm Patrol Dispatch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Fuses stationary CCTV cameras with mobile autonomous inspection crawlers and aerial drones; autonomously dispatches inspection bots to exact coordinate waypoints upon acoustic leak detection or thermal hotspot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EMERGENCY CONTAINMENT &amp; SAFETY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Hazardous Chemical Zone: Autonomous Gas Cloud Containment &amp; Isolation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Optical gas imaging and acoustic leak array fusion detects an incipient toxic vapor leak; TerraCC autonomously commands pneumatic perimeter block valves to close, starts negative-pressure scrubbers, and projects dynamic evacuation corridors.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TERRACC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TERRACC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735177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Dozens of disjointed SCADA screens, flashing alarms, and cluttered text tables causing operator cognitive overload.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735177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34D399"/>
                </a:solidFill>
              </a:defRPr>
            </a:pPr>
            <a:r>
              <a:t>Unified bimodal glass cockpit seamlessly fusing live process telemetry with autonomous agent rationales and predictive trajectories.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30905"/>
            <a:ext cx="5230368" cy="735177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04057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Manual phone calls, radios, and delayed paperwork to coordinate inter-plant utility transfers during trips.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130905"/>
            <a:ext cx="5230368" cy="735177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204057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34D399"/>
                </a:solidFill>
              </a:defRPr>
            </a:pPr>
            <a:r>
              <a:t>Sub-15ms autonomous closed-loop supervisory dispatch executing micro-setpoint adjustments across thousands of controllers.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5811"/>
            <a:ext cx="5230368" cy="735177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48963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Floods of 2,000+ unranked alarms per minute during unit trips, forcing operators to guess initiating root causes.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3975811"/>
            <a:ext cx="5230368" cy="735177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048963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34D399"/>
                </a:solidFill>
              </a:defRPr>
            </a:pPr>
            <a:r>
              <a:t>Autonomous causal graph correlation groups secondary alarms into single actionable incidents with instant automated resolution steps.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20716"/>
            <a:ext cx="5230368" cy="735177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93868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Rigid desktop client software requiring expensive dedicated workstations with no mobile collaboration.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4820716"/>
            <a:ext cx="5230368" cy="735177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4893868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34D399"/>
                </a:solidFill>
              </a:defRPr>
            </a:pPr>
            <a:r>
              <a:t>High-performance web-native vector glass cockpit accessible securely on 8K MicroLED video walls, control consoles, and field tablets.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65622"/>
            <a:ext cx="5230368" cy="735177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738774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F1F5F9"/>
                </a:solidFill>
              </a:defRPr>
            </a:pPr>
            <a:r>
              <a:t>Manual shift handovers with incomplete operator logbooks and unrecorded manual setpoint changes.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5665622"/>
            <a:ext cx="5230368" cy="735177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5738774"/>
            <a:ext cx="4956048" cy="588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34D399"/>
                </a:solidFill>
              </a:defRPr>
            </a:pPr>
            <a:r>
              <a:t>Continuous automated audit trail with millisecond-synchronized time-travel playback reconstructing every autonomous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TERRACC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Fleet-Wide Distributed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Direct multi-site telemetry acquisition aggregating thousands of PLCs, DCS controllers, RTUs, smart meters, robotic agents, and multi-spectral CCTV feeds.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OPC UA / TSN</a:t>
            </a:r>
            <a:br/>
            <a:r>
              <a:t> • IEC 61850 MMS</a:t>
            </a:r>
            <a:br/>
            <a:r>
              <a:t> • MQTT Sparkplug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Deterministic Swarm Telemetry Bus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High-velocity bidirectional telemetry bus, lossless payload compression, dynamic jitter smoothing, and sub-15ms multi-site synchronization fabric.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Swarm Telemetry Bus</a:t>
            </a:r>
            <a:br/>
            <a:r>
              <a:t> • Edge Consensus Fabric</a:t>
            </a:r>
            <a:br/>
            <a:r>
              <a:t> • Sub-15ms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Autonomous Multi-Agent Decision Engine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Cooperative multi-agent swarm consensus, dynamic cross-plant load balancing, predictive setpoint trajectory optimization, and causal incident correlation.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Autonomous Swarm Core</a:t>
            </a:r>
            <a:br/>
            <a:r>
              <a:t> • Multi-Agent Consensus</a:t>
            </a:r>
            <a:br/>
            <a:r>
              <a:t> • Predictive Dispatch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Bimodal Glass Cockpit &amp; Closed-Loop Actuation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8K MicroLED operational video wall, automated supervisory dispatch, ISA-110 emergency operations canvas, and deterministic IEC 62443 fail-safe override.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Supervisory Dispatch</a:t>
            </a:r>
            <a:br/>
            <a:r>
              <a:t> • Fail-Safe E-Stop</a:t>
            </a:r>
            <a:br/>
            <a:r>
              <a:t> • ISA-110 Glass Cockpit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Distributed Fleet Telemetry ➔ High-Throughput Swarm Bus ➔ Autonomous Multi-Agent Consensus ➔ Closed-Loop Supervisory Actuation &amp; Glass Cockpit (&lt; 15ms Latency)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TERRACC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(TERRACC)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TerraCC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