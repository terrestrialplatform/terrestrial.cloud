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TERRA3RDEYE CATALOGUE  |  CONFIDENTIAL - AUTHORISED SYSTEM INTEGRATORS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00D4FF"/>
                </a:solidFill>
              </a:defRPr>
            </a:pPr>
            <a:r>
              <a:t>ENTERPRISE PRODUCT SPECIFICATION  |  VISION &amp; CLEAN ENERGY</a:t>
            </a:r>
          </a:p>
          <a:p>
            <a:pPr>
              <a:spcAft>
                <a:spcPts val="600"/>
              </a:spcAft>
              <a:defRPr sz="4600" b="1">
                <a:solidFill>
                  <a:srgbClr val="FFFFFF"/>
                </a:solidFill>
              </a:defRPr>
            </a:pPr>
            <a:r>
              <a:t>Terra3rdEye</a:t>
            </a:r>
          </a:p>
          <a:p>
            <a:pPr>
              <a:spcAft>
                <a:spcPts val="1200"/>
              </a:spcAft>
              <a:defRPr sz="1900" b="1">
                <a:solidFill>
                  <a:srgbClr val="F5C842"/>
                </a:solidFill>
              </a:defRPr>
            </a:pPr>
            <a:r>
              <a:t>AI-Powered Visual Intelligence System for All Industrial Applications</a:t>
            </a:r>
          </a:p>
          <a:p>
            <a:pPr>
              <a:spcAft>
                <a:spcPts val="1200"/>
              </a:spcAft>
              <a:defRPr sz="1400">
                <a:solidFill>
                  <a:srgbClr val="C8D8F0"/>
                </a:solidFill>
              </a:defRPr>
            </a:pPr>
            <a:r>
              <a:t>Industrial Protocol: RTSP (Real-Time Streaming)    |    Domain Architecture: Terrestrial Deterministic Edge Core</a:t>
            </a:r>
          </a:p>
          <a:p>
            <a:pPr>
              <a:defRPr sz="1500">
                <a:solidFill>
                  <a:srgbClr val="94A3B8"/>
                </a:solidFill>
              </a:defRPr>
            </a:pPr>
            <a:r>
              <a:t>AI-Powered Visual Intelligence System for All Industrial Applications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663440"/>
            <a:ext cx="2523744" cy="12801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94A3B8"/>
                </a:solidFill>
              </a:defRPr>
            </a:pPr>
            <a:r>
              <a:t>INFERENCE LATENCY</a:t>
            </a:r>
          </a:p>
          <a:p>
            <a:pPr algn="ctr">
              <a:defRPr sz="1650" b="1">
                <a:solidFill>
                  <a:srgbClr val="00D4FF"/>
                </a:solidFill>
              </a:defRPr>
            </a:pPr>
            <a:r>
              <a:t>&lt; 45 ms Edge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4663440"/>
            <a:ext cx="2523744" cy="12801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94A3B8"/>
                </a:solidFill>
              </a:defRPr>
            </a:pPr>
            <a:r>
              <a:t>PPE COMPLIANCE</a:t>
            </a:r>
          </a:p>
          <a:p>
            <a:pPr algn="ctr">
              <a:defRPr sz="1650" b="1">
                <a:solidFill>
                  <a:srgbClr val="00D4FF"/>
                </a:solidFill>
              </a:defRPr>
            </a:pPr>
            <a:r>
              <a:t>99.4% Verified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4663440"/>
            <a:ext cx="2523744" cy="12801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94A3B8"/>
                </a:solidFill>
              </a:defRPr>
            </a:pPr>
            <a:r>
              <a:t>CAMERA PIPELINE</a:t>
            </a:r>
          </a:p>
          <a:p>
            <a:pPr algn="ctr">
              <a:defRPr sz="1650" b="1">
                <a:solidFill>
                  <a:srgbClr val="00D4FF"/>
                </a:solidFill>
              </a:defRPr>
            </a:pPr>
            <a:r>
              <a:t>64x RTSP Streams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4663440"/>
            <a:ext cx="2523744" cy="12801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94A3B8"/>
                </a:solidFill>
              </a:defRPr>
            </a:pPr>
            <a:r>
              <a:t>SAFETY RATING</a:t>
            </a:r>
          </a:p>
          <a:p>
            <a:pPr algn="ctr">
              <a:defRPr sz="1650" b="1">
                <a:solidFill>
                  <a:srgbClr val="00D4FF"/>
                </a:solidFill>
              </a:defRPr>
            </a:pPr>
            <a:r>
              <a:t>Class 1 / Div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TERRA3RDEYE  |  TERRESTRIAL PLATFORM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Core Functional Deliverables &amp; Architectural Pillars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TERRA3RDEYE CATALOGUE  |  CONFIDENTIAL - AUTHORISED SYSTEM INTEGRATORS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1488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00D4FF"/>
                </a:solidFill>
              </a:defRPr>
            </a:pPr>
            <a:r>
              <a:t>PILLAR 01</a:t>
            </a:r>
          </a:p>
          <a:p>
            <a:pPr>
              <a:spcAft>
                <a:spcPts val="600"/>
              </a:spcAft>
              <a:defRPr sz="1650" b="1">
                <a:solidFill>
                  <a:srgbClr val="FFFFFF"/>
                </a:solidFill>
              </a:defRPr>
            </a:pPr>
            <a:r>
              <a:t>Workplace Safety &amp; Compliance Monitoring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Detects missing PPE kits (helmets, gloves, vests, goggles), unsafe behaviors, social distancing, and person down emergencies.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1488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00D4FF"/>
                </a:solidFill>
              </a:defRPr>
            </a:pPr>
            <a:r>
              <a:t>PILLAR 02</a:t>
            </a:r>
          </a:p>
          <a:p>
            <a:pPr>
              <a:spcAft>
                <a:spcPts val="600"/>
              </a:spcAft>
              <a:defRPr sz="1650" b="1">
                <a:solidFill>
                  <a:srgbClr val="FFFFFF"/>
                </a:solidFill>
              </a:defRPr>
            </a:pPr>
            <a:r>
              <a:t>Production Quality Control AI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Identifies deformed products, broken packaging, label orientation errors, and color deviations directly on the conveyor.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69080"/>
            <a:ext cx="5212080" cy="21488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00D4FF"/>
                </a:solidFill>
              </a:defRPr>
            </a:pPr>
            <a:r>
              <a:t>PILLAR 03</a:t>
            </a:r>
          </a:p>
          <a:p>
            <a:pPr>
              <a:spcAft>
                <a:spcPts val="600"/>
              </a:spcAft>
              <a:defRPr sz="1650" b="1">
                <a:solidFill>
                  <a:srgbClr val="FFFFFF"/>
                </a:solidFill>
              </a:defRPr>
            </a:pPr>
            <a:r>
              <a:t>AI-Driven Security &amp; Surveillance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Detects unauthorized access, intruders, after-hours activity, facial recognition access control, and vehicle license plate tracking.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069080"/>
            <a:ext cx="5212080" cy="21488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00D4FF"/>
                </a:solidFill>
              </a:defRPr>
            </a:pPr>
            <a:r>
              <a:t>PILLAR 04</a:t>
            </a:r>
          </a:p>
          <a:p>
            <a:pPr>
              <a:spcAft>
                <a:spcPts val="600"/>
              </a:spcAft>
              <a:defRPr sz="1650" b="1">
                <a:solidFill>
                  <a:srgbClr val="FFFFFF"/>
                </a:solidFill>
              </a:defRPr>
            </a:pPr>
            <a:r>
              <a:t>24/7 Fire &amp; Leakage Surveillance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Monitors visual and thermal feeds for smoke, open flames, and fluid leakages in raw material and chemical storage warehouses.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TERRA3RDEYE  |  TERRESTRIAL PLATFORM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Field-Validated Operational Use Cases &amp; Quantifiable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TERRA3RDEYE CATALOGUE  |  CONFIDENTIAL - AUTHORISED SYSTEM INTEGRATORS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01568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QA &amp; INLINE PRODUCTION QUALITY CONTROL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QA &amp; Inline Production Quality Control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Detects damaged, deformed, or defective products on assembly lines; verifies labeling accuracy, packaging integrity, color mismatch, and alignment errors.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645920"/>
            <a:ext cx="3401568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SAFETY &amp; WORKPLACE PPE COMPLIANCE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Safety &amp; Workplace PPE Compliance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Detects workers without PPE kits (helmets, gloves, safety vests, goggles) and triggers instant alerts when personnel enter hazardous restricted zones.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2" y="1645920"/>
            <a:ext cx="3401568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REDUCED MANPOWER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Reduced Manpower (Facial Recognition &amp; Access Tracking)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Automated facial recognition for employee access control, attendance tracking, and vehicle tracking for plant material shipments, replacing manual security registers.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TERRA3RDEYE  |  TERRESTRIAL PLATFORM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Competitive Advantage: Terrestrial Platform vs. Legacy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TERRA3RDEYE CATALOGUE  |  CONFIDENTIAL - AUTHORISED SYSTEM INTEGRATORS ONLY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212080" cy="502920"/>
          </a:xfrm>
          <a:prstGeom prst="rect">
            <a:avLst/>
          </a:prstGeom>
          <a:solidFill>
            <a:srgbClr val="280F14"/>
          </a:solidFill>
          <a:ln>
            <a:solidFill>
              <a:srgbClr val="FF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5555"/>
                </a:solidFill>
              </a:defRPr>
            </a:pPr>
            <a:r>
              <a:t>TRADITIONAL LEGACY SCADA / SILOED SYSTEMS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5212080" cy="502920"/>
          </a:xfrm>
          <a:prstGeom prst="rect">
            <a:avLst/>
          </a:prstGeom>
          <a:solidFill>
            <a:srgbClr val="0A2D3C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00D4FF"/>
                </a:solidFill>
              </a:defRPr>
            </a:pPr>
            <a:r>
              <a:t>TERRA3RDEYE TERRESTRIAL PLATFORM ADVANTAGE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5212080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Security and safety personnel passively monitor dozens of CCTV screens, missing critical PPE violations and safety breaches.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240280"/>
            <a:ext cx="5212080" cy="960120"/>
          </a:xfrm>
          <a:prstGeom prst="roundRect">
            <a:avLst/>
          </a:prstGeom>
          <a:solidFill>
            <a:srgbClr val="141E37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Automated neural networks inspect every camera frame in real time, alerting instantly when safety helmets, gloves, or vests are missing.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91840"/>
            <a:ext cx="5212080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Product quality inspection relies on manual spot-checks, allowing deformed items and misaligned labels to ship to clients.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291840"/>
            <a:ext cx="5212080" cy="960120"/>
          </a:xfrm>
          <a:prstGeom prst="roundRect">
            <a:avLst/>
          </a:prstGeom>
          <a:solidFill>
            <a:srgbClr val="141E37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100% inline visual quality control detecting damaged, deformed, or defective products, color mismatches, and packaging flaws.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43400"/>
            <a:ext cx="5212080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Streaming heavy high-definition video feeds across plant networks causes severe IT bandwidth congestion.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343400"/>
            <a:ext cx="5212080" cy="960120"/>
          </a:xfrm>
          <a:prstGeom prst="roundRect">
            <a:avLst/>
          </a:prstGeom>
          <a:solidFill>
            <a:srgbClr val="141E37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Local edge inference: lightweight event metadata and bounding boxes transmitted via WebSockets without network overload.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94960"/>
            <a:ext cx="5212080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Static high/low threshold alarms trigger only after physical process degradation has occurred.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5394960"/>
            <a:ext cx="5212080" cy="960120"/>
          </a:xfrm>
          <a:prstGeom prst="roundRect">
            <a:avLst/>
          </a:prstGeom>
          <a:solidFill>
            <a:srgbClr val="141E37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Terra3rdEye physics-informed models forecast multi-variable trajectories up to 72 hours in advance.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TERRA3RDEYE  |  TERRESTRIAL PLATFORM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End-to-End System Architecture &amp; Real-Time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TERRA3RDEYE CATALOGUE  |  CONFIDENTIAL - AUTHORISED SYSTEM INTEGRATORS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23744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00D4FF"/>
                </a:solidFill>
              </a:defRPr>
            </a:pPr>
            <a:r>
              <a:t>LAYER 01</a:t>
            </a:r>
          </a:p>
          <a:p>
            <a:pPr>
              <a:spcAft>
                <a:spcPts val="1200"/>
              </a:spcAft>
              <a:defRPr sz="1550" b="1">
                <a:solidFill>
                  <a:srgbClr val="FFFFFF"/>
                </a:solidFill>
              </a:defRPr>
            </a:pPr>
            <a:r>
              <a:t>Optical &amp; Thermal Ingestion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Multi-camera visual acquisition aggregating high-speed GigE Vision, RTSP video streams, line-scan sensors, and thermal infrared cameras.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645920"/>
            <a:ext cx="2523744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00D4FF"/>
                </a:solidFill>
              </a:defRPr>
            </a:pPr>
            <a:r>
              <a:t>LAYER 02</a:t>
            </a:r>
          </a:p>
          <a:p>
            <a:pPr>
              <a:spcAft>
                <a:spcPts val="1200"/>
              </a:spcAft>
              <a:defRPr sz="1550" b="1">
                <a:solidFill>
                  <a:srgbClr val="FFFFFF"/>
                </a:solidFill>
              </a:defRPr>
            </a:pPr>
            <a:r>
              <a:t>Hardware Edge Preprocessing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Zero-copy frame ingestion, hardware-accelerated image normalization, spatial distortion correction, and sub-10ms frame dispatch.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645920"/>
            <a:ext cx="2523744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00D4FF"/>
                </a:solidFill>
              </a:defRPr>
            </a:pPr>
            <a:r>
              <a:t>LAYER 03</a:t>
            </a:r>
          </a:p>
          <a:p>
            <a:pPr>
              <a:spcAft>
                <a:spcPts val="1200"/>
              </a:spcAft>
              <a:defRPr sz="1550" b="1">
                <a:solidFill>
                  <a:srgbClr val="FFFFFF"/>
                </a:solidFill>
              </a:defRPr>
            </a:pPr>
            <a:r>
              <a:t>Defect Segmentation Core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Ultra-fast neural defect detection, micron-level dimensional tolerance verification, surface anomaly classification, and OCR label parsing.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645920"/>
            <a:ext cx="2523744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00D4FF"/>
                </a:solidFill>
              </a:defRPr>
            </a:pPr>
            <a:r>
              <a:t>LAYER 04</a:t>
            </a:r>
          </a:p>
          <a:p>
            <a:pPr>
              <a:spcAft>
                <a:spcPts val="1200"/>
              </a:spcAft>
              <a:defRPr sz="1550" b="1">
                <a:solidFill>
                  <a:srgbClr val="FFFFFF"/>
                </a:solidFill>
              </a:defRPr>
            </a:pPr>
            <a:r>
              <a:t>Automated Reject Cockpit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High-speed pneumatic reject gate actuation, robotic sorter guidance, QA traceability archiving, and ANSI/ISA-101 defect inspection consoles.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TERRA3RDEYE  |  TERRESTRIAL PLATFORM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System Integrator Deployment Playbook &amp; Commercial Enablement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TERRA3RDEYE CATALOGUE  |  CONFIDENTIAL - AUTHORISED SYSTEM INTEGRATORS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01568" cy="320040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PHASE 01 | CONNECTIVITY &amp; AUDIT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Zero Rip-and-Replace Onboarding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Deploy edge container onto existing industrial PC or VM. Connect to plant DCS/PLCs via RTSP (Real-Time Streaming). Ingest and normalize all telemetry in under 48 hours without halting production.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645920"/>
            <a:ext cx="3401568" cy="320040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PHASE 02 | TWIN CALIBRATION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Physics-Model Synchronization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Feed historical historian data into Terra3rdEye models. Automatically build directed causal relationship graphs, calibrate thermodynamics/kinematics, and train edge neural operators.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2" y="1645920"/>
            <a:ext cx="3401568" cy="320040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PHASE 03 | AUTONOMOUS GO-LIVE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Closed-Loop Setpoint Actuation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Transition from advisory warnings to sub-25ms supervisory actuation. Sync alarm suppressions with plant operators and link work orders into SAP/ERP for verifiable recurring ROI.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29200"/>
            <a:ext cx="10698480" cy="1188720"/>
          </a:xfrm>
          <a:prstGeom prst="roundRect">
            <a:avLst/>
          </a:prstGeom>
          <a:solidFill>
            <a:srgbClr val="0C1C34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COMMERCIAL VALUE PROPOSITION FOR SYSTEM INTEGRATORS (TERRA3RDEYE)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High recurring annual software margins (ARR)  |  Turnkey deployment in days, not months  |  Full co-selling &amp; pre-sales engineering support  |  Certified partner portal at platform.tpcloud.tech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