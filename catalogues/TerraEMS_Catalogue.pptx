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Enterprise Product Specification</a:t>
            </a:r>
          </a:p>
          <a:p>
            <a:r>
              <a:t>Tagline: Army of AI Agents Managing Entire Energy Ecosystems</a:t>
            </a:r>
          </a:p>
          <a:p/>
          <a:p>
            <a:r>
              <a:t>Outcome Quote:</a:t>
            </a:r>
          </a:p>
          <a:p>
            <a:r>
              <a:t>“24x7 conscious AI being analyzing your energy and taking action — not static utility bills, but predictive load balancing that eliminates peak demand penalties.” (— THE OUTCOME-BASED REVOLUTION)</a:t>
            </a:r>
          </a:p>
          <a:p/>
          <a:p>
            <a:r>
              <a:t>Executive Overview:</a:t>
            </a:r>
          </a:p>
          <a:p>
            <a:r>
              <a:t>Whether managing a factory floor, a commercial complex, or an airport navigation grid, TerraEMS brings the entire energy infrastructure into one intelligent platform. Ingesting data across Modbus, DLMS, MQTT, and LoRaWAN, it combines deep harmonics analysis, predictive peak demand management, and 24/7 GenAI energy awareness.</a:t>
            </a:r>
          </a:p>
          <a:p/>
          <a:p>
            <a:r>
              <a:t>Key Telemetry Metrics:</a:t>
            </a:r>
          </a:p>
          <a:p>
            <a:r>
              <a:t>- MFM CONFORMANCE:: Class 0.2S</a:t>
            </a:r>
          </a:p>
          <a:p>
            <a:r>
              <a:t>- HARMONIC SCOPE:: Up to 63rd Order</a:t>
            </a:r>
          </a:p>
          <a:p>
            <a:r>
              <a:t>- SLD ACCURACY:: 99.8% Nominal</a:t>
            </a:r>
          </a:p>
          <a:p>
            <a:r>
              <a:t>- BILLING CYCLE:: 15-Min Block Sync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ANSI/ISA-101 Verified Operational Interface</a:t>
            </a:r>
          </a:p>
          <a:p>
            <a:r>
              <a:t>Representation: TerraEMS ANSI/ISA-101 Operational Interface &amp; Real-Time System Representation</a:t>
            </a:r>
          </a:p>
          <a:p>
            <a:r>
              <a:t>Compliance: ANSI/ISA-101 Verified HMI</a:t>
            </a:r>
          </a:p>
          <a:p>
            <a:r>
              <a:t>Asset File: terra_ems_isa101_showcase.jpg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TerraEMS Will Do:</a:t>
            </a:r>
          </a:p>
          <a:p>
            <a:r>
              <a:t>[1] Multifunction Meter (MFM) &amp; Harmonics Engine:</a:t>
            </a:r>
          </a:p>
          <a:p>
            <a:r>
              <a:t>Captures fundamental parameters (kWh, voltage, current) alongside in-depth electrical harmonics analysis.</a:t>
            </a:r>
          </a:p>
          <a:p/>
          <a:p>
            <a:r>
              <a:t>[2] Substation Equipment Monitoring:</a:t>
            </a:r>
          </a:p>
          <a:p>
            <a:r>
              <a:t>Monitors relays, breaker panels, switchgear, and transformers with timely alerts adhering to ISA 18.2 compliance.</a:t>
            </a:r>
          </a:p>
          <a:p/>
          <a:p>
            <a:r>
              <a:t>[3] Self-Learning AI Optimization:</a:t>
            </a:r>
          </a:p>
          <a:p>
            <a:r>
              <a:t>AI models continuously learn from energy consumption patterns to adjust optimization strategies and adapt to seasonal shifts.</a:t>
            </a:r>
          </a:p>
          <a:p/>
          <a:p>
            <a:r>
              <a:t>[4] Mobile App &amp; Payment Gateway:</a:t>
            </a:r>
          </a:p>
          <a:p>
            <a:r>
              <a:t>Monitor energy consumption and securely pay bills using mobile application (Android, iOS, Windows) with instant receipts.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Operational Use Cases &amp; Field Impact:</a:t>
            </a:r>
          </a:p>
          <a:p>
            <a:r>
              <a:t>[Efficiency] Efficiency (Airport Peak Hour Surcharge Elimination):</a:t>
            </a:r>
          </a:p>
          <a:p>
            <a:r>
              <a:t>Demand management algorithms reduced peak hour utility surcharges, delivering direct financial savings of ₹2,40,000 (2022) and ₹3,10,000 (2023) at Airport of India.</a:t>
            </a:r>
          </a:p>
          <a:p/>
          <a:p>
            <a:r>
              <a:t>[QA &amp; Power Factor Penalty Avoidance] QA &amp; Power Factor Penalty Avoidance:</a:t>
            </a:r>
          </a:p>
          <a:p>
            <a:r>
              <a:t>Real-time Power Factor alerts successfully maintained levels above 0.95, capturing PF penalty avoidance savings of ₹1,15,000 (2022) and ₹1,25,000 (2023).</a:t>
            </a:r>
          </a:p>
          <a:p/>
          <a:p>
            <a:r>
              <a:t>[Efficiency] Efficiency (Untraced Utility Loss Slashed in Process Plant):</a:t>
            </a:r>
          </a:p>
          <a:p>
            <a:r>
              <a:t>Driven by automated meter visibility, untraced utility losses plummeted from 19.5% down to just 6.5%, saving ₹8,50,000 in direct utility costs in chemical manufacturing.</a:t>
            </a:r>
          </a:p>
          <a:p/>
          <a:p>
            <a:r>
              <a:t>[Reduced Manpower] Reduced Manpower (Automated Billing &amp; Administrative Savings):</a:t>
            </a:r>
          </a:p>
          <a:p>
            <a:r>
              <a:t>Automating bill generation and payment processing structurally yielded cash-flow savings of ₹25,000/month (₹3,00,000 per annum) in administrative overhead.</a:t>
            </a:r>
          </a:p>
          <a:p/>
          <a:p>
            <a:r>
              <a:t>[Asset Protection] Asset Protection (Phase Load Imbalance &amp; Harmonics Tracking):</a:t>
            </a:r>
          </a:p>
          <a:p>
            <a:r>
              <a:t>Identified and corrected a 12% phase load imbalance at the Localizer site, restoring transformer efficiency and protecting CNS room navigation hardware from premature electrical burnout.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Architectural Contrast (Legacy SCADA vs Terrestrial Platform):</a:t>
            </a:r>
          </a:p>
          <a:p>
            <a:r>
              <a:t>LEGACY:</a:t>
            </a:r>
          </a:p>
          <a:p>
            <a:r>
              <a:t>Reviewing monthly utility bills after the money is spent; zero granular visibility into where waste occurs.</a:t>
            </a:r>
          </a:p>
          <a:p/>
          <a:p>
            <a:r>
              <a:t>TERRESTRIAL ADVANTAGE:</a:t>
            </a:r>
          </a:p>
          <a:p>
            <a:r>
              <a:t>Real-time sub-metering across feeders, panels, and transformers with instant cost attribution and harmonic profiling.</a:t>
            </a:r>
          </a:p>
          <a:p/>
          <a:p>
            <a:r>
              <a:t>LEGACY:</a:t>
            </a:r>
          </a:p>
          <a:p>
            <a:r>
              <a:t>Incurring heavy contract demand penalties and power factor surcharges during sudden factory or facility ramp-ups.</a:t>
            </a:r>
          </a:p>
          <a:p/>
          <a:p>
            <a:r>
              <a:t>TERRESTRIAL ADVANTAGE:</a:t>
            </a:r>
          </a:p>
          <a:p>
            <a:r>
              <a:t>Continuous automated load balancing and predictive peak demand management to prevent all utility penalty conditions.</a:t>
            </a:r>
          </a:p>
          <a:p/>
          <a:p>
            <a:r>
              <a:t>LEGACY:</a:t>
            </a:r>
          </a:p>
          <a:p>
            <a:r>
              <a:t>Manual meter reading and fragmented paper billing leading to delayed cash flow and billing disputes.</a:t>
            </a:r>
          </a:p>
          <a:p/>
          <a:p>
            <a:r>
              <a:t>TERRESTRIAL ADVANTAGE:</a:t>
            </a:r>
          </a:p>
          <a:p>
            <a:r>
              <a:t>Integrated mobile application with in-built payment gateway, instant payment confirmations, and automated billing workflows.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End-to-End System Diagram &amp; Data Pipeline:</a:t>
            </a:r>
          </a:p>
          <a:p/>
          <a:p>
            <a:r>
              <a:t>Layer 01: Multi-Feeder Power Ingestion</a:t>
            </a:r>
          </a:p>
          <a:p>
            <a:r>
              <a:t>Sub-second electrical telemetry acquisition from smart power meters, digital protection relays, and transformer monitoring units.</a:t>
            </a:r>
          </a:p>
          <a:p>
            <a:r>
              <a:t>Protocols: DLMS/COSEM (IEC 62056), Modbus RTU/TCP, IEC 61850 MMS</a:t>
            </a:r>
          </a:p>
          <a:p/>
          <a:p>
            <a:r>
              <a:t>Layer 02: High-Frequency Power Stream</a:t>
            </a:r>
          </a:p>
          <a:p>
            <a:r>
              <a:t>Continuous 3-phase power telemetry buffering, harmonic distortion FFT computation, and sub-cycle power quality event capture.</a:t>
            </a:r>
          </a:p>
          <a:p>
            <a:r>
              <a:t>Protocols: Power Quality Stream, Harmonic FFT Buffer, Sub-Cycle Event Bus</a:t>
            </a:r>
          </a:p>
          <a:p/>
          <a:p>
            <a:r>
              <a:t>Layer 03: Peak Demand Optimizer</a:t>
            </a:r>
          </a:p>
          <a:p>
            <a:r>
              <a:t>Multi-horizon energy demand forecasting, dynamic tariff arbitrage algorithms, power factor correction, and transformer load balancing.</a:t>
            </a:r>
          </a:p>
          <a:p>
            <a:r>
              <a:t>Protocols: Demand Forecasting, Tariff Arbitrage AI, Power Factor Optimizer</a:t>
            </a:r>
          </a:p>
          <a:p/>
          <a:p>
            <a:r>
              <a:t>Layer 04: Microgrid Dispatch Cockpit</a:t>
            </a:r>
          </a:p>
          <a:p>
            <a:r>
              <a:t>Autonomous BESS battery charge/discharge dispatch, automated non-critical load shedding, and ANSI/ISA-101 energy supervisory displays.</a:t>
            </a:r>
          </a:p>
          <a:p>
            <a:r>
              <a:t>Protocols: BESS Inverter Dispatch, Automated Load Shedding, ISA-101 Energy HMI</a:t>
            </a:r>
          </a:p>
          <a:p/>
          <a:p>
            <a:r>
              <a:t>Pipeline Flow:</a:t>
            </a:r>
          </a:p>
          <a:p>
            <a:r>
              <a:t>DATA PIPELINE FLOW: 3-Phase Meter Telemetry ➔ High-Frequency Power Streaming ➔ Peak Demand &amp; Tariff Optimization ➔ Automated BESS &amp; Load Actuation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TerraEMS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TerraEMS: Army of AI Agents Managing Entire Energy Ecosystems</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““24x7 conscious AI being analyzing your energy and taking action — not static utility bills, but predictive load balancing that eliminates peak demand penalties.””</a:t>
            </a:r>
          </a:p>
          <a:p>
            <a:pPr>
              <a:spcBef>
                <a:spcPts val="400"/>
              </a:spcBef>
              <a:spcAft>
                <a:spcPts val="1200"/>
              </a:spcAft>
              <a:defRPr sz="950" b="1">
                <a:solidFill>
                  <a:srgbClr val="94A3B8"/>
                </a:solidFill>
              </a:defRPr>
            </a:pPr>
            <a:r>
              <a:t>— — THE OUTCOME-BASED REVOLUTION</a:t>
            </a:r>
          </a:p>
          <a:p>
            <a:pPr>
              <a:spcAft>
                <a:spcPts val="600"/>
              </a:spcAft>
              <a:defRPr sz="1050" b="1">
                <a:solidFill>
                  <a:srgbClr val="FFFFFF"/>
                </a:solidFill>
              </a:defRPr>
            </a:pPr>
            <a:r>
              <a:t>EXECUTIVE OPERATIONAL SYNOPSIS</a:t>
            </a:r>
          </a:p>
          <a:p>
            <a:pPr>
              <a:defRPr sz="1050">
                <a:solidFill>
                  <a:srgbClr val="F1F5F9"/>
                </a:solidFill>
              </a:defRPr>
            </a:pPr>
            <a:r>
              <a:t>Whether managing a factory floor, a commercial complex, or an airport navigation grid, TerraEMS brings the entire energy infrastructure into one intelligent platform. Ingesting data across Modbus, DLMS, MQTT, and LoRaWAN, it combines deep harmonics analysis, predictive peak demand management, and 24/7 GenAI energy awareness.</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MFM CONFORMANCE</a:t>
            </a:r>
          </a:p>
          <a:p>
            <a:pPr>
              <a:spcBef>
                <a:spcPts val="400"/>
              </a:spcBef>
              <a:defRPr sz="1400" b="1">
                <a:solidFill>
                  <a:srgbClr val="FFFFFF"/>
                </a:solidFill>
              </a:defRPr>
            </a:pPr>
            <a:r>
              <a:t>Class 0.2S</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HARMONIC SCOPE</a:t>
            </a:r>
          </a:p>
          <a:p>
            <a:pPr>
              <a:spcBef>
                <a:spcPts val="400"/>
              </a:spcBef>
              <a:defRPr sz="1400" b="1">
                <a:solidFill>
                  <a:srgbClr val="FFFFFF"/>
                </a:solidFill>
              </a:defRPr>
            </a:pPr>
            <a:r>
              <a:t>Up to 63rd Order</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SLD ACCURACY</a:t>
            </a:r>
          </a:p>
          <a:p>
            <a:pPr>
              <a:spcBef>
                <a:spcPts val="400"/>
              </a:spcBef>
              <a:defRPr sz="1400" b="1">
                <a:solidFill>
                  <a:srgbClr val="34D399"/>
                </a:solidFill>
              </a:defRPr>
            </a:pPr>
            <a:r>
              <a:t>99.8% Nominal</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BILLING CYCLE</a:t>
            </a:r>
          </a:p>
          <a:p>
            <a:pPr>
              <a:spcBef>
                <a:spcPts val="400"/>
              </a:spcBef>
              <a:defRPr sz="1400" b="1">
                <a:solidFill>
                  <a:srgbClr val="FFFFFF"/>
                </a:solidFill>
              </a:defRPr>
            </a:pPr>
            <a:r>
              <a:t>15-Min Block Sync</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TerraEMS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ems_isa101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TerraEMS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Multifunction Meter (MFM) &amp; Harmonics Engine</a:t>
            </a:r>
          </a:p>
          <a:p>
            <a:pPr>
              <a:defRPr sz="1000">
                <a:solidFill>
                  <a:srgbClr val="F1F5F9"/>
                </a:solidFill>
              </a:defRPr>
            </a:pPr>
            <a:r>
              <a:t>Captures fundamental parameters (kWh, voltage, current) alongside in-depth electrical harmonics analysis.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Substation Equipment Monitoring</a:t>
            </a:r>
          </a:p>
          <a:p>
            <a:pPr>
              <a:defRPr sz="1000">
                <a:solidFill>
                  <a:srgbClr val="F1F5F9"/>
                </a:solidFill>
              </a:defRPr>
            </a:pPr>
            <a:r>
              <a:t>Monitors relays, breaker panels, switchgear, and transformers with timely alerts adhering to ISA 18.2 compliance.</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Self-Learning AI Optimization</a:t>
            </a:r>
          </a:p>
          <a:p>
            <a:pPr>
              <a:defRPr sz="1000">
                <a:solidFill>
                  <a:srgbClr val="F1F5F9"/>
                </a:solidFill>
              </a:defRPr>
            </a:pPr>
            <a:r>
              <a:t>AI models continuously learn from energy consumption patterns to adjust optimization strategies and adapt to seasonal shifts.</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Mobile App &amp; Payment Gateway</a:t>
            </a:r>
          </a:p>
          <a:p>
            <a:pPr>
              <a:defRPr sz="1000">
                <a:solidFill>
                  <a:srgbClr val="F1F5F9"/>
                </a:solidFill>
              </a:defRPr>
            </a:pPr>
            <a:r>
              <a:t>Monitor energy consumption and securely pay bills using mobile application (Android, iOS, Windows) with instant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1865376"/>
          </a:xfrm>
          <a:prstGeom prst="rect">
            <a:avLst/>
          </a:prstGeom>
          <a:noFill/>
        </p:spPr>
        <p:txBody>
          <a:bodyPr wrap="square" lIns="0" rIns="0" tIns="0" bIns="0">
            <a:spAutoFit/>
          </a:bodyPr>
          <a:lstStyle/>
          <a:p>
            <a:pPr>
              <a:defRPr sz="850" b="1">
                <a:solidFill>
                  <a:srgbClr val="34D399"/>
                </a:solidFill>
              </a:defRPr>
            </a:pPr>
            <a:r>
              <a:t>CASE 01  |  EFFICIENCY</a:t>
            </a:r>
          </a:p>
          <a:p>
            <a:pPr>
              <a:spcBef>
                <a:spcPts val="200"/>
              </a:spcBef>
              <a:spcAft>
                <a:spcPts val="400"/>
              </a:spcAft>
              <a:defRPr sz="1200" b="1">
                <a:solidFill>
                  <a:srgbClr val="FFFFFF"/>
                </a:solidFill>
              </a:defRPr>
            </a:pPr>
            <a:r>
              <a:t>Efficiency (Airport Peak Hour Surcharge Elimination)</a:t>
            </a:r>
          </a:p>
          <a:p>
            <a:pPr>
              <a:defRPr sz="950">
                <a:solidFill>
                  <a:srgbClr val="F1F5F9"/>
                </a:solidFill>
              </a:defRPr>
            </a:pPr>
            <a:r>
              <a:t>Demand management algorithms reduced peak hour utility surcharges, delivering direct financial savings of ₹2,40,000 (2022) and ₹3,10,000 (2023) at Airport of India.</a:t>
            </a:r>
          </a:p>
        </p:txBody>
      </p:sp>
      <p:sp>
        <p:nvSpPr>
          <p:cNvPr id="9" name="Rounded Rectangle 8"/>
          <p:cNvSpPr/>
          <p:nvPr/>
        </p:nvSpPr>
        <p:spPr>
          <a:xfrm>
            <a:off x="4379976"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1865376"/>
          </a:xfrm>
          <a:prstGeom prst="rect">
            <a:avLst/>
          </a:prstGeom>
          <a:noFill/>
        </p:spPr>
        <p:txBody>
          <a:bodyPr wrap="square" lIns="0" rIns="0" tIns="0" bIns="0">
            <a:spAutoFit/>
          </a:bodyPr>
          <a:lstStyle/>
          <a:p>
            <a:pPr>
              <a:defRPr sz="850" b="1">
                <a:solidFill>
                  <a:srgbClr val="34D399"/>
                </a:solidFill>
              </a:defRPr>
            </a:pPr>
            <a:r>
              <a:t>CASE 02  |  QA &amp; POWER FACTOR PENALTY AVOIDANCE</a:t>
            </a:r>
          </a:p>
          <a:p>
            <a:pPr>
              <a:spcBef>
                <a:spcPts val="200"/>
              </a:spcBef>
              <a:spcAft>
                <a:spcPts val="400"/>
              </a:spcAft>
              <a:defRPr sz="1200" b="1">
                <a:solidFill>
                  <a:srgbClr val="FFFFFF"/>
                </a:solidFill>
              </a:defRPr>
            </a:pPr>
            <a:r>
              <a:t>QA &amp; Power Factor Penalty Avoidance</a:t>
            </a:r>
          </a:p>
          <a:p>
            <a:pPr>
              <a:defRPr sz="950">
                <a:solidFill>
                  <a:srgbClr val="F1F5F9"/>
                </a:solidFill>
              </a:defRPr>
            </a:pPr>
            <a:r>
              <a:t>Real-time Power Factor alerts successfully maintained levels above 0.95, capturing PF penalty avoidance savings of ₹1,15,000 (2022) and ₹1,25,000 (2023).</a:t>
            </a:r>
          </a:p>
        </p:txBody>
      </p:sp>
      <p:sp>
        <p:nvSpPr>
          <p:cNvPr id="11" name="Rounded Rectangle 10"/>
          <p:cNvSpPr/>
          <p:nvPr/>
        </p:nvSpPr>
        <p:spPr>
          <a:xfrm>
            <a:off x="8028432" y="1691640"/>
            <a:ext cx="3429000"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1865376"/>
          </a:xfrm>
          <a:prstGeom prst="rect">
            <a:avLst/>
          </a:prstGeom>
          <a:noFill/>
        </p:spPr>
        <p:txBody>
          <a:bodyPr wrap="square" lIns="0" rIns="0" tIns="0" bIns="0">
            <a:spAutoFit/>
          </a:bodyPr>
          <a:lstStyle/>
          <a:p>
            <a:pPr>
              <a:defRPr sz="850" b="1">
                <a:solidFill>
                  <a:srgbClr val="34D399"/>
                </a:solidFill>
              </a:defRPr>
            </a:pPr>
            <a:r>
              <a:t>CASE 03  |  EFFICIENCY</a:t>
            </a:r>
          </a:p>
          <a:p>
            <a:pPr>
              <a:spcBef>
                <a:spcPts val="200"/>
              </a:spcBef>
              <a:spcAft>
                <a:spcPts val="400"/>
              </a:spcAft>
              <a:defRPr sz="1200" b="1">
                <a:solidFill>
                  <a:srgbClr val="FFFFFF"/>
                </a:solidFill>
              </a:defRPr>
            </a:pPr>
            <a:r>
              <a:t>Efficiency (Untraced Utility Loss Slashed in Process Plant)</a:t>
            </a:r>
          </a:p>
          <a:p>
            <a:pPr>
              <a:defRPr sz="950">
                <a:solidFill>
                  <a:srgbClr val="F1F5F9"/>
                </a:solidFill>
              </a:defRPr>
            </a:pPr>
            <a:r>
              <a:t>Driven by automated meter visibility, untraced utility losses plummeted from 19.5% down to just 6.5%, saving ₹8,50,000 in direct utility costs in chemical manufacturing.</a:t>
            </a:r>
          </a:p>
        </p:txBody>
      </p:sp>
      <p:sp>
        <p:nvSpPr>
          <p:cNvPr id="13" name="Rounded Rectangle 12"/>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79392"/>
            <a:ext cx="4864608" cy="1865376"/>
          </a:xfrm>
          <a:prstGeom prst="rect">
            <a:avLst/>
          </a:prstGeom>
          <a:noFill/>
        </p:spPr>
        <p:txBody>
          <a:bodyPr wrap="square" lIns="0" rIns="0" tIns="0" bIns="0">
            <a:spAutoFit/>
          </a:bodyPr>
          <a:lstStyle/>
          <a:p>
            <a:pPr>
              <a:defRPr sz="850" b="1">
                <a:solidFill>
                  <a:srgbClr val="34D399"/>
                </a:solidFill>
              </a:defRPr>
            </a:pPr>
            <a:r>
              <a:t>CASE 04  |  REDUCED MANPOWER</a:t>
            </a:r>
          </a:p>
          <a:p>
            <a:pPr>
              <a:spcBef>
                <a:spcPts val="200"/>
              </a:spcBef>
              <a:spcAft>
                <a:spcPts val="400"/>
              </a:spcAft>
              <a:defRPr sz="1200" b="1">
                <a:solidFill>
                  <a:srgbClr val="FFFFFF"/>
                </a:solidFill>
              </a:defRPr>
            </a:pPr>
            <a:r>
              <a:t>Reduced Manpower (Automated Billing &amp; Administrative Savings)</a:t>
            </a:r>
          </a:p>
          <a:p>
            <a:pPr>
              <a:defRPr sz="950">
                <a:solidFill>
                  <a:srgbClr val="F1F5F9"/>
                </a:solidFill>
              </a:defRPr>
            </a:pPr>
            <a:r>
              <a:t>Automating bill generation and payment processing structurally yielded cash-flow savings of ₹25,000/month (₹3,00,000 per annum) in administrative overhead.</a:t>
            </a:r>
          </a:p>
        </p:txBody>
      </p:sp>
      <p:sp>
        <p:nvSpPr>
          <p:cNvPr id="15" name="Rounded Rectangle 14"/>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4279392"/>
            <a:ext cx="4864608" cy="1865376"/>
          </a:xfrm>
          <a:prstGeom prst="rect">
            <a:avLst/>
          </a:prstGeom>
          <a:noFill/>
        </p:spPr>
        <p:txBody>
          <a:bodyPr wrap="square" lIns="0" rIns="0" tIns="0" bIns="0">
            <a:spAutoFit/>
          </a:bodyPr>
          <a:lstStyle/>
          <a:p>
            <a:pPr>
              <a:defRPr sz="850" b="1">
                <a:solidFill>
                  <a:srgbClr val="34D399"/>
                </a:solidFill>
              </a:defRPr>
            </a:pPr>
            <a:r>
              <a:t>CASE 05  |  ASSET PROTECTION</a:t>
            </a:r>
          </a:p>
          <a:p>
            <a:pPr>
              <a:spcBef>
                <a:spcPts val="200"/>
              </a:spcBef>
              <a:spcAft>
                <a:spcPts val="400"/>
              </a:spcAft>
              <a:defRPr sz="1200" b="1">
                <a:solidFill>
                  <a:srgbClr val="FFFFFF"/>
                </a:solidFill>
              </a:defRPr>
            </a:pPr>
            <a:r>
              <a:t>Asset Protection (Phase Load Imbalance &amp; Harmonics Tracking)</a:t>
            </a:r>
          </a:p>
          <a:p>
            <a:pPr>
              <a:defRPr sz="950">
                <a:solidFill>
                  <a:srgbClr val="F1F5F9"/>
                </a:solidFill>
              </a:defRPr>
            </a:pPr>
            <a:r>
              <a:t>Identified and corrected a 12% phase load imbalance at the Localizer site, restoring transformer efficiency and protecting CNS room navigation hardware from premature electrical burnout.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TERRAEMS TERRESTRIAL PLATFORM ADVANTAGE</a:t>
            </a:r>
          </a:p>
        </p:txBody>
      </p:sp>
      <p:sp>
        <p:nvSpPr>
          <p:cNvPr id="11" name="Rounded Rectangle 10"/>
          <p:cNvSpPr/>
          <p:nvPr/>
        </p:nvSpPr>
        <p:spPr>
          <a:xfrm>
            <a:off x="731520" y="2286000"/>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1152144"/>
          </a:xfrm>
          <a:prstGeom prst="rect">
            <a:avLst/>
          </a:prstGeom>
          <a:noFill/>
        </p:spPr>
        <p:txBody>
          <a:bodyPr wrap="square" lIns="0" rIns="0" tIns="0" bIns="0">
            <a:spAutoFit/>
          </a:bodyPr>
          <a:lstStyle/>
          <a:p>
            <a:pPr>
              <a:defRPr sz="1000">
                <a:solidFill>
                  <a:srgbClr val="F1F5F9"/>
                </a:solidFill>
              </a:defRPr>
            </a:pPr>
            <a:r>
              <a:t>Reviewing monthly utility bills after the money is spent; zero granular visibility into where waste occurs.</a:t>
            </a:r>
          </a:p>
        </p:txBody>
      </p:sp>
      <p:sp>
        <p:nvSpPr>
          <p:cNvPr id="13" name="Rounded Rectangle 12"/>
          <p:cNvSpPr/>
          <p:nvPr/>
        </p:nvSpPr>
        <p:spPr>
          <a:xfrm>
            <a:off x="6227064" y="2286000"/>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1152144"/>
          </a:xfrm>
          <a:prstGeom prst="rect">
            <a:avLst/>
          </a:prstGeom>
          <a:noFill/>
        </p:spPr>
        <p:txBody>
          <a:bodyPr wrap="square" lIns="0" rIns="0" tIns="0" bIns="0">
            <a:spAutoFit/>
          </a:bodyPr>
          <a:lstStyle/>
          <a:p>
            <a:pPr>
              <a:defRPr sz="1000" b="1">
                <a:solidFill>
                  <a:srgbClr val="34D399"/>
                </a:solidFill>
              </a:defRPr>
            </a:pPr>
            <a:r>
              <a:t>Real-time sub-metering across feeders, panels, and transformers with instant cost attribution and harmonic profiling.</a:t>
            </a:r>
          </a:p>
        </p:txBody>
      </p:sp>
      <p:sp>
        <p:nvSpPr>
          <p:cNvPr id="15" name="Rounded Rectangle 14"/>
          <p:cNvSpPr/>
          <p:nvPr/>
        </p:nvSpPr>
        <p:spPr>
          <a:xfrm>
            <a:off x="731520" y="3694176"/>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4956048" cy="1152144"/>
          </a:xfrm>
          <a:prstGeom prst="rect">
            <a:avLst/>
          </a:prstGeom>
          <a:noFill/>
        </p:spPr>
        <p:txBody>
          <a:bodyPr wrap="square" lIns="0" rIns="0" tIns="0" bIns="0">
            <a:spAutoFit/>
          </a:bodyPr>
          <a:lstStyle/>
          <a:p>
            <a:pPr>
              <a:defRPr sz="1000">
                <a:solidFill>
                  <a:srgbClr val="F1F5F9"/>
                </a:solidFill>
              </a:defRPr>
            </a:pPr>
            <a:r>
              <a:t>Incurring heavy contract demand penalties and power factor surcharges during sudden factory or facility ramp-ups.</a:t>
            </a:r>
          </a:p>
        </p:txBody>
      </p:sp>
      <p:sp>
        <p:nvSpPr>
          <p:cNvPr id="17" name="Rounded Rectangle 16"/>
          <p:cNvSpPr/>
          <p:nvPr/>
        </p:nvSpPr>
        <p:spPr>
          <a:xfrm>
            <a:off x="6227064" y="3694176"/>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67328"/>
            <a:ext cx="4956048" cy="1152144"/>
          </a:xfrm>
          <a:prstGeom prst="rect">
            <a:avLst/>
          </a:prstGeom>
          <a:noFill/>
        </p:spPr>
        <p:txBody>
          <a:bodyPr wrap="square" lIns="0" rIns="0" tIns="0" bIns="0">
            <a:spAutoFit/>
          </a:bodyPr>
          <a:lstStyle/>
          <a:p>
            <a:pPr>
              <a:defRPr sz="1000" b="1">
                <a:solidFill>
                  <a:srgbClr val="34D399"/>
                </a:solidFill>
              </a:defRPr>
            </a:pPr>
            <a:r>
              <a:t>Continuous automated load balancing and predictive peak demand management to prevent all utility penalty conditions.</a:t>
            </a:r>
          </a:p>
        </p:txBody>
      </p:sp>
      <p:sp>
        <p:nvSpPr>
          <p:cNvPr id="19" name="Rounded Rectangle 18"/>
          <p:cNvSpPr/>
          <p:nvPr/>
        </p:nvSpPr>
        <p:spPr>
          <a:xfrm>
            <a:off x="731520" y="5102352"/>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5504"/>
            <a:ext cx="4956048" cy="1152144"/>
          </a:xfrm>
          <a:prstGeom prst="rect">
            <a:avLst/>
          </a:prstGeom>
          <a:noFill/>
        </p:spPr>
        <p:txBody>
          <a:bodyPr wrap="square" lIns="0" rIns="0" tIns="0" bIns="0">
            <a:spAutoFit/>
          </a:bodyPr>
          <a:lstStyle/>
          <a:p>
            <a:pPr>
              <a:defRPr sz="1000">
                <a:solidFill>
                  <a:srgbClr val="F1F5F9"/>
                </a:solidFill>
              </a:defRPr>
            </a:pPr>
            <a:r>
              <a:t>Manual meter reading and fragmented paper billing leading to delayed cash flow and billing disputes.</a:t>
            </a:r>
          </a:p>
        </p:txBody>
      </p:sp>
      <p:sp>
        <p:nvSpPr>
          <p:cNvPr id="21" name="Rounded Rectangle 20"/>
          <p:cNvSpPr/>
          <p:nvPr/>
        </p:nvSpPr>
        <p:spPr>
          <a:xfrm>
            <a:off x="6227064" y="5102352"/>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5175504"/>
            <a:ext cx="4956048" cy="1152144"/>
          </a:xfrm>
          <a:prstGeom prst="rect">
            <a:avLst/>
          </a:prstGeom>
          <a:noFill/>
        </p:spPr>
        <p:txBody>
          <a:bodyPr wrap="square" lIns="0" rIns="0" tIns="0" bIns="0">
            <a:spAutoFit/>
          </a:bodyPr>
          <a:lstStyle/>
          <a:p>
            <a:pPr>
              <a:defRPr sz="1000" b="1">
                <a:solidFill>
                  <a:srgbClr val="34D399"/>
                </a:solidFill>
              </a:defRPr>
            </a:pPr>
            <a:r>
              <a:t>Integrated mobile application with in-built payment gateway, instant payment confirmations, and automated billing workflows.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Multi-Feeder Power Ingestion</a:t>
            </a:r>
          </a:p>
          <a:p>
            <a:pPr>
              <a:spcAft>
                <a:spcPts val="800"/>
              </a:spcAft>
              <a:defRPr sz="900">
                <a:solidFill>
                  <a:srgbClr val="F1F5F9"/>
                </a:solidFill>
              </a:defRPr>
            </a:pPr>
            <a:r>
              <a:t>Sub-second electrical telemetry acquisition from smart power meters, digital protection relays, and transformer monitoring units.</a:t>
            </a:r>
          </a:p>
          <a:p>
            <a:pPr>
              <a:spcBef>
                <a:spcPts val="400"/>
              </a:spcBef>
              <a:defRPr sz="800" b="1">
                <a:solidFill>
                  <a:srgbClr val="94A3B8"/>
                </a:solidFill>
              </a:defRPr>
            </a:pPr>
            <a:r>
              <a:t>PROTOCOLS &amp; STANDARDS:</a:t>
            </a:r>
          </a:p>
          <a:p>
            <a:pPr>
              <a:spcBef>
                <a:spcPts val="200"/>
              </a:spcBef>
              <a:defRPr sz="850">
                <a:solidFill>
                  <a:srgbClr val="34D399"/>
                </a:solidFill>
              </a:defRPr>
            </a:pPr>
            <a:r>
              <a:t> • DLMS/COSEM (IEC 62056)</a:t>
            </a:r>
            <a:br/>
            <a:r>
              <a:t> • Modbus RTU/TCP</a:t>
            </a:r>
            <a:br/>
            <a:r>
              <a:t> • IEC 61850 MMS</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High-Frequency Power Stream</a:t>
            </a:r>
          </a:p>
          <a:p>
            <a:pPr>
              <a:spcAft>
                <a:spcPts val="800"/>
              </a:spcAft>
              <a:defRPr sz="900">
                <a:solidFill>
                  <a:srgbClr val="F1F5F9"/>
                </a:solidFill>
              </a:defRPr>
            </a:pPr>
            <a:r>
              <a:t>Continuous 3-phase power telemetry buffering, harmonic distortion FFT computation, and sub-cycle power quality event capture.</a:t>
            </a:r>
          </a:p>
          <a:p>
            <a:pPr>
              <a:spcBef>
                <a:spcPts val="400"/>
              </a:spcBef>
              <a:defRPr sz="800" b="1">
                <a:solidFill>
                  <a:srgbClr val="94A3B8"/>
                </a:solidFill>
              </a:defRPr>
            </a:pPr>
            <a:r>
              <a:t>PROTOCOLS &amp; STANDARDS:</a:t>
            </a:r>
          </a:p>
          <a:p>
            <a:pPr>
              <a:spcBef>
                <a:spcPts val="200"/>
              </a:spcBef>
              <a:defRPr sz="850">
                <a:solidFill>
                  <a:srgbClr val="34D399"/>
                </a:solidFill>
              </a:defRPr>
            </a:pPr>
            <a:r>
              <a:t> • Power Quality Stream</a:t>
            </a:r>
            <a:br/>
            <a:r>
              <a:t> • Harmonic FFT Buffer</a:t>
            </a:r>
            <a:br/>
            <a:r>
              <a:t> • Sub-Cycle Event Bus</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Peak Demand Optimizer</a:t>
            </a:r>
          </a:p>
          <a:p>
            <a:pPr>
              <a:spcAft>
                <a:spcPts val="800"/>
              </a:spcAft>
              <a:defRPr sz="900">
                <a:solidFill>
                  <a:srgbClr val="F1F5F9"/>
                </a:solidFill>
              </a:defRPr>
            </a:pPr>
            <a:r>
              <a:t>Multi-horizon energy demand forecasting, dynamic tariff arbitrage algorithms, power factor correction, and transformer load balancing.</a:t>
            </a:r>
          </a:p>
          <a:p>
            <a:pPr>
              <a:spcBef>
                <a:spcPts val="400"/>
              </a:spcBef>
              <a:defRPr sz="800" b="1">
                <a:solidFill>
                  <a:srgbClr val="94A3B8"/>
                </a:solidFill>
              </a:defRPr>
            </a:pPr>
            <a:r>
              <a:t>PROTOCOLS &amp; STANDARDS:</a:t>
            </a:r>
          </a:p>
          <a:p>
            <a:pPr>
              <a:spcBef>
                <a:spcPts val="200"/>
              </a:spcBef>
              <a:defRPr sz="850">
                <a:solidFill>
                  <a:srgbClr val="34D399"/>
                </a:solidFill>
              </a:defRPr>
            </a:pPr>
            <a:r>
              <a:t> • Demand Forecasting</a:t>
            </a:r>
            <a:br/>
            <a:r>
              <a:t> • Tariff Arbitrage AI</a:t>
            </a:r>
            <a:br/>
            <a:r>
              <a:t> • Power Factor Optimizer</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Microgrid Dispatch Cockpit</a:t>
            </a:r>
          </a:p>
          <a:p>
            <a:pPr>
              <a:spcAft>
                <a:spcPts val="800"/>
              </a:spcAft>
              <a:defRPr sz="900">
                <a:solidFill>
                  <a:srgbClr val="F1F5F9"/>
                </a:solidFill>
              </a:defRPr>
            </a:pPr>
            <a:r>
              <a:t>Autonomous BESS battery charge/discharge dispatch, automated non-critical load shedding, and ANSI/ISA-101 energy supervisory displays.</a:t>
            </a:r>
          </a:p>
          <a:p>
            <a:pPr>
              <a:spcBef>
                <a:spcPts val="400"/>
              </a:spcBef>
              <a:defRPr sz="800" b="1">
                <a:solidFill>
                  <a:srgbClr val="94A3B8"/>
                </a:solidFill>
              </a:defRPr>
            </a:pPr>
            <a:r>
              <a:t>PROTOCOLS &amp; STANDARDS:</a:t>
            </a:r>
          </a:p>
          <a:p>
            <a:pPr>
              <a:spcBef>
                <a:spcPts val="200"/>
              </a:spcBef>
              <a:defRPr sz="850">
                <a:solidFill>
                  <a:srgbClr val="34D399"/>
                </a:solidFill>
              </a:defRPr>
            </a:pPr>
            <a:r>
              <a:t> • BESS Inverter Dispatch</a:t>
            </a:r>
            <a:br/>
            <a:r>
              <a:t> • Automated Load Shedding</a:t>
            </a:r>
            <a:br/>
            <a:r>
              <a:t> • ISA-101 Energy HMI</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3-Phase Meter Telemetry ➔ High-Frequency Power Streaming ➔ Peak Demand &amp; Tariff Optimization ➔ Automated BESS &amp; Load Actuation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TERRAEMS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(TERRAEMS)</a:t>
            </a:r>
          </a:p>
          <a:p>
            <a:pPr>
              <a:spcBef>
                <a:spcPts val="300"/>
              </a:spcBef>
              <a:defRPr sz="950">
                <a:solidFill>
                  <a:srgbClr val="F1F5F9"/>
                </a:solidFill>
              </a:defRPr>
            </a:pPr>
            <a:r>
              <a:t>• High-Margin Software Recurring Revenue: Earn 25%–35% continuous recurring margin on every TerraEMS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