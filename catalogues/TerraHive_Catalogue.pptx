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TerraHive - Enterprise Product Specification</a:t>
            </a:r>
          </a:p>
          <a:p>
            <a:r>
              <a:t>Tagline: Enterprise-Grade Multi-Agent Swarm Orchestration System</a:t>
            </a:r>
          </a:p>
          <a:p/>
          <a:p>
            <a:r>
              <a:t>Outcome Quote:</a:t>
            </a:r>
          </a:p>
          <a:p>
            <a:r>
              <a:t>“Creating multi agent enterprise grade systems to run enterprise with AI — replacing departmental silos with autonomous collaborative swarms.” (— THE OUTCOME-BASED REVOLUTION)</a:t>
            </a:r>
          </a:p>
          <a:p/>
          <a:p>
            <a:r>
              <a:t>Executive Overview:</a:t>
            </a:r>
          </a:p>
          <a:p>
            <a:r>
              <a:t>TerraHive establishes a coordinated ecosystem of autonomous software agents collaborating seamlessly to orchestrate production, asset health, and dispatch pipelines. Engineered with an autonomous agent orchestration engine and distributed state persistence, it conducts real-time consensus rounds to resolve cross-departmental bottlenecks.</a:t>
            </a:r>
          </a:p>
          <a:p/>
          <a:p>
            <a:r>
              <a:t>Key Telemetry Metrics:</a:t>
            </a:r>
          </a:p>
          <a:p>
            <a:r>
              <a:t>- DECENTRALIZED MESH:: Zero Single-Point</a:t>
            </a:r>
          </a:p>
          <a:p>
            <a:r>
              <a:t>- CONSENSUS PROTOCOL:: Raft / Industrial</a:t>
            </a:r>
          </a:p>
          <a:p>
            <a:r>
              <a:t>- FAILOVER WINDOW:: &lt; 200 ms Edge</a:t>
            </a:r>
          </a:p>
          <a:p>
            <a:r>
              <a:t>- ACTIVE NODES:: 256 Auto-Synced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TerraHive - ANSI/ISA-101 Verified Operational Interface</a:t>
            </a:r>
          </a:p>
          <a:p>
            <a:r>
              <a:t>Representation: TerraHive ANSI/ISA-101 Operational Interface &amp; Real-Time System Representation</a:t>
            </a:r>
          </a:p>
          <a:p>
            <a:r>
              <a:t>Compliance: ANSI/ISA-101 Verified HMI</a:t>
            </a:r>
          </a:p>
          <a:p>
            <a:r>
              <a:t>Asset File: terra_hive_isa101_showcase.jpg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TerraHive Will Do:</a:t>
            </a:r>
          </a:p>
          <a:p>
            <a:r>
              <a:t>[1] Decentralized Swarm Architecture:</a:t>
            </a:r>
          </a:p>
          <a:p>
            <a:r>
              <a:t>Specialized autonomous agents for diagnostics, maintenance coordination, and dispatch optimization.</a:t>
            </a:r>
          </a:p>
          <a:p/>
          <a:p>
            <a:r>
              <a:t>[2] Dynamic Consensus Engine:</a:t>
            </a:r>
          </a:p>
          <a:p>
            <a:r>
              <a:t>AI-driven cross-departmental negotiation based on real-time operational constraints.</a:t>
            </a:r>
          </a:p>
          <a:p/>
          <a:p>
            <a:r>
              <a:t>[3] Audited Governance &amp; Traceability:</a:t>
            </a:r>
          </a:p>
          <a:p>
            <a:r>
              <a:t>Comprehensive action logging, deterministic execution tracing, and human-in-the-loop permission gates.</a:t>
            </a:r>
          </a:p>
          <a:p/>
          <a:p>
            <a:r>
              <a:t>[4] Deterministic Swarm State Machine:</a:t>
            </a:r>
          </a:p>
          <a:p>
            <a:r>
              <a:t>Autonomous state engine managing agent goals, collaborative sessions, tools, operational memories, and reflection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TerraHive - Operational Use Cases &amp; Field Impact:</a:t>
            </a:r>
          </a:p>
          <a:p>
            <a:r>
              <a:t>[Reduced Manpower] Reduced Manpower (Decentralized Swarm Coordination):</a:t>
            </a:r>
          </a:p>
          <a:p>
            <a:r>
              <a:t>Specialized agents for diagnostics, maintenance coordination, and dispatch optimization collaborate automatically.</a:t>
            </a:r>
          </a:p>
          <a:p/>
          <a:p>
            <a:r>
              <a:t>[Efficiency] Efficiency (Dynamic Consensus Negotiation):</a:t>
            </a:r>
          </a:p>
          <a:p>
            <a:r>
              <a:t>AI-driven cross-departmental negotiation resolves trade-offs between production throughput and power tariffs.</a:t>
            </a:r>
          </a:p>
          <a:p/>
          <a:p>
            <a:r>
              <a:t>[QA &amp; Compliance] QA &amp; Compliance (Audited Governance):</a:t>
            </a:r>
          </a:p>
          <a:p>
            <a:r>
              <a:t>Comprehensive action logging and human-in-the-loop permission gates with complete state tracing.</a:t>
            </a:r>
          </a:p>
          <a:p/>
          <a:p>
            <a:r>
              <a:t>[Productivity] Productivity (Automated ERP Spare Parts Cycle):</a:t>
            </a:r>
          </a:p>
          <a:p>
            <a:r>
              <a:t>When asset wear is detected, inventory agents check ERP stock, book procurement, and reserve maintenance downtime.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TerraHive - Architectural Contrast (Legacy SCADA vs Terrestrial Platform):</a:t>
            </a:r>
          </a:p>
          <a:p>
            <a:r>
              <a:t>LEGACY:</a:t>
            </a:r>
          </a:p>
          <a:p>
            <a:r>
              <a:t>Maintenance, operations, and procurement teams communicate via emails, spreadsheets, and delayed meetings.</a:t>
            </a:r>
          </a:p>
          <a:p/>
          <a:p>
            <a:r>
              <a:t>TERRESTRIAL ADVANTAGE:</a:t>
            </a:r>
          </a:p>
          <a:p>
            <a:r>
              <a:t>Autonomous agents negotiate constraints instantly across departments in real-time consensus rounds.</a:t>
            </a:r>
          </a:p>
          <a:p/>
          <a:p>
            <a:r>
              <a:t>LEGACY:</a:t>
            </a:r>
          </a:p>
          <a:p>
            <a:r>
              <a:t>Static maintenance schedules that either over-service assets or miss sudden accelerated wear.</a:t>
            </a:r>
          </a:p>
          <a:p/>
          <a:p>
            <a:r>
              <a:t>TERRESTRIAL ADVANTAGE:</a:t>
            </a:r>
          </a:p>
          <a:p>
            <a:r>
              <a:t>Dynamic dispatch balancing asset wear, fuel costs, market prices, and inventory availability.</a:t>
            </a:r>
          </a:p>
          <a:p/>
          <a:p>
            <a:r>
              <a:t>LEGACY:</a:t>
            </a:r>
          </a:p>
          <a:p>
            <a:r>
              <a:t>Black-box decisions with no traceability or compliance record.</a:t>
            </a:r>
          </a:p>
          <a:p/>
          <a:p>
            <a:r>
              <a:t>TERRESTRIAL ADVANTAGE:</a:t>
            </a:r>
          </a:p>
          <a:p>
            <a:r>
              <a:t>Audited cryptographic consensus log with configurable human-in-the-loop authorization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TerraHive - End-to-End System Diagram &amp; Data Pipeline:</a:t>
            </a:r>
          </a:p>
          <a:p/>
          <a:p>
            <a:r>
              <a:t>Layer 01: Distributed Agent Ingestion</a:t>
            </a:r>
          </a:p>
          <a:p>
            <a:r>
              <a:t>High-throughput ingestion connecting autonomous departmental agent streams, ERP transactions, operational event queues, and SCADA state tags.</a:t>
            </a:r>
          </a:p>
          <a:p>
            <a:r>
              <a:t>Protocols: Agent Swarm Protocol, Real-Time State Stream, Enterprise Messaging</a:t>
            </a:r>
          </a:p>
          <a:p/>
          <a:p>
            <a:r>
              <a:t>Layer 02: Swarm State Convergence Bus</a:t>
            </a:r>
          </a:p>
          <a:p>
            <a:r>
              <a:t>Low-latency consensus broadcast fabric, distributed memory synchronization, and deterministic state-machine transaction sequencing.</a:t>
            </a:r>
          </a:p>
          <a:p>
            <a:r>
              <a:t>Protocols: Consensus Broadcast Bus, Distributed Vector Memory, Sub-20ms State Sync</a:t>
            </a:r>
          </a:p>
          <a:p/>
          <a:p>
            <a:r>
              <a:t>Layer 03: Swarm Consensus Core</a:t>
            </a:r>
          </a:p>
          <a:p>
            <a:r>
              <a:t>Game-theoretic multi-agent negotiation, cross-departmental constraint arbitration, dynamic goal decomposition, and autonomous policy synthesis.</a:t>
            </a:r>
          </a:p>
          <a:p>
            <a:r>
              <a:t>Protocols: Game-Theoretic Arbitration, Constraint Resolver AI, Swarm Consensus Engine</a:t>
            </a:r>
          </a:p>
          <a:p/>
          <a:p>
            <a:r>
              <a:t>Layer 04: Autonomous Dispatch Cockpit</a:t>
            </a:r>
          </a:p>
          <a:p>
            <a:r>
              <a:t>Automated cross-system work order dispatch, autonomous operational setpoint execution, and ANSI/ISA-101 human-in-the-loop supervisor consoles.</a:t>
            </a:r>
          </a:p>
          <a:p>
            <a:r>
              <a:t>Protocols: Autonomous Work Orders, Cross-System Setpoints, ISA-101 Swarm HMI</a:t>
            </a:r>
          </a:p>
          <a:p/>
          <a:p>
            <a:r>
              <a:t>Pipeline Flow:</a:t>
            </a:r>
          </a:p>
          <a:p>
            <a:r>
              <a:t>DATA PIPELINE FLOW: Enterprise Agent Event Ingestion ➔ Swarm Consensus Convergence Bus ➔ Multi-Agent Constraint Arbitration ➔ Autonomous Cross-System Execution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TerraHive - System Integrator Deployment Framework &amp; Commercial Model:</a:t>
            </a:r>
          </a:p>
          <a:p/>
          <a:p>
            <a:r>
              <a:t>Phase 1: Connectivity &amp; Audit</a:t>
            </a:r>
          </a:p>
          <a:p>
            <a:r>
              <a:t>Phase 2: Twin Calibration</a:t>
            </a:r>
          </a:p>
          <a:p>
            <a:r>
              <a:t>Phase 3: Autonomous Go-Live</a:t>
            </a:r>
          </a:p>
          <a:p/>
          <a:p>
            <a:r>
              <a:t>Commercial Enablement:</a:t>
            </a:r>
          </a:p>
          <a:p>
            <a:r>
              <a:t>- 25%-35% recurring SaaS margins</a:t>
            </a:r>
          </a:p>
          <a:p>
            <a:r>
              <a:t>- 7-14 day rapid commissioning</a:t>
            </a:r>
          </a:p>
          <a:p>
            <a:r>
              <a:t>- Co-selling and enterprise enablement 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TERRAHIVE  |  ENTERPRISE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TerraHive: Enterprise-Grade Multi-Agent Swarm Orchestration System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Autonomous Industrial Intelligence Suite · Tier-1 Plant Architecture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6217920" cy="46634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57607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i="1" b="1">
                <a:solidFill>
                  <a:srgbClr val="38BDF8"/>
                </a:solidFill>
              </a:defRPr>
            </a:pPr>
            <a:r>
              <a:t>““Creating multi agent enterprise grade systems to run enterprise with AI — replacing departmental silos with autonomous collaborative swarms.””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950" b="1">
                <a:solidFill>
                  <a:srgbClr val="94A3B8"/>
                </a:solidFill>
              </a:defRPr>
            </a:pPr>
            <a:r>
              <a:t>— — THE OUTCOME-BASED REVOLUTION</a:t>
            </a:r>
          </a:p>
          <a:p>
            <a:pPr>
              <a:spcAft>
                <a:spcPts val="600"/>
              </a:spcAft>
              <a:defRPr sz="1050" b="1">
                <a:solidFill>
                  <a:srgbClr val="FFFFFF"/>
                </a:solidFill>
              </a:defRPr>
            </a:pPr>
            <a:r>
              <a:t>EXECUTIVE OPERATIONAL SYNOPSIS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TerraHive establishes a coordinated ecosystem of autonomous software agents collaborating seamlessly to orchestrate production, asset health, and dispatch pipelines. Engineered with an autonomous agent orchestration engine and distributed state persistence, it conducts real-time consensus rounds to resolve cross-departmental bottlenecks.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691640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828800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DECENTRALIZED MESH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Zero Single-Point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81743" y="1691640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18903" y="1828800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CONSENSUS PROTOCOL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Raft / Industrial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044952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3182112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FAILOVER WINDOW</a:t>
            </a:r>
          </a:p>
          <a:p>
            <a:pPr>
              <a:spcBef>
                <a:spcPts val="400"/>
              </a:spcBef>
              <a:defRPr sz="1400" b="1">
                <a:solidFill>
                  <a:srgbClr val="38BDF8"/>
                </a:solidFill>
              </a:defRPr>
            </a:pPr>
            <a:r>
              <a:t>&lt; 200 ms Edge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81743" y="3044952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18903" y="3182112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ACTIVE NODES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256 Auto-Synced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434840"/>
            <a:ext cx="4334256" cy="19202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461772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CORE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Edge-to-Cloud Cognitive Nervous System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Physics-informed mathematical twin running sub-25ms closed-loop supervisory control with full ISA-95/101 conformity.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TERRAHIVE  |  OPERATIONAL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TerraHive ANSI/ISA-101 Operational Interface &amp; Real-Time System Representation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ANSI/ISA-101 Ergonomic High-Performance HMI · Real-Time System Representation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45920"/>
            <a:ext cx="10728655" cy="47091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ra_hive_isa101_showca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10637215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TERRAHIVE  | 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What TerraHive Will Do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Specific operational functions and engineering capabilities directly sourced from technical documentation.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01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Decentralized Swarm Architecture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Specialized autonomous agents for diagnostics, maintenance coordination, and dispatch optimization.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02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Dynamic Consensus Engine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AI-driven cross-departmental negotiation based on real-time operational constraints.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03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Audited Governance &amp; Traceability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Comprehensive action logging, deterministic execution tracing, and human-in-the-loop permission gates.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04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Deterministic Swarm State Machine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Autonomous state engine managing agent goals, collaborative sessions, tools, operational memories, and reflection loops.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TERRAHIVE  |  FIELD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Operational Use Cases &amp; Field Impact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Actual documented use cases across Quality Assurance, Reduced Manpower, Efficiency, and Asset Productivity.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01  |  REDUCED MANPOWER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Reduced Manpower (Decentralized Swarm Coordination)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Specialized agents for diagnostics, maintenance coordination, and dispatch optimization collaborate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02  |  EFFICIENCY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Efficiency (Dynamic Consensus Negotiation)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AI-driven cross-departmental negotiation resolves trade-offs between production throughput and power tariffs.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03  |  QA &amp; COMPLIANCE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QA &amp; Compliance (Audited Governance)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Comprehensive action logging and human-in-the-loop permission gates with complete state tracing.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04  |  PRODUCTIVITY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Productivity (Automated ERP Spare Parts Cycle)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When asset wear is detected, inventory agents check ERP stock, book procurement, and reserve maintenance downtime.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TERRAHIVE  |  ARCHITECTURAL CONTRAST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Comparison with Traditional SCADA / Legacy Systems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Point-by-point contrast demonstrating the technological shift from legacy industrial automation to the Terrestrial Platform.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502920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TRADITIONAL LEGACY SYSTEMS / SILOED SCADA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502920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7830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TERRAHIVE TERRESTRIAL PLATFORM ADVANTAGE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59152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Maintenance, operations, and procurement teams communicate via emails, spreadsheets, and delayed meetings.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2286000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59152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Autonomous agents negotiate constraints instantly across departments in real-time consensus rounds.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94176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67328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Static maintenance schedules that either over-service assets or miss sudden accelerated wear.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3694176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3767328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Dynamic dispatch balancing asset wear, fuel costs, market prices, and inventory availability.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02352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75504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Black-box decisions with no traceability or compliance record.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5102352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5175504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Audited cryptographic consensus log with configurable human-in-the-loop authorization gates.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TERRAHIVE  |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End-to-End System Diagram &amp; Data Pipeline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Visual architecture diagram representing field telemetry ingestion, deterministic edge fabric, AI reasoning, and closed-loop actuation.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01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Distributed Agent Ingestion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High-throughput ingestion connecting autonomous departmental agent streams, ERP transactions, operational event queues, and SCADA state tags.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Agent Swarm Protocol</a:t>
            </a:r>
            <a:br/>
            <a:r>
              <a:t> • Real-Time State Stream</a:t>
            </a:r>
            <a:br/>
            <a:r>
              <a:t> • Enterprise Messaging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02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Swarm State Convergence Bus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Low-latency consensus broadcast fabric, distributed memory synchronization, and deterministic state-machine transaction sequencing.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Consensus Broadcast Bus</a:t>
            </a:r>
            <a:br/>
            <a:r>
              <a:t> • Distributed Vector Memory</a:t>
            </a:r>
            <a:br/>
            <a:r>
              <a:t> • Sub-20ms State Sync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03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Swarm Consensus Core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Game-theoretic multi-agent negotiation, cross-departmental constraint arbitration, dynamic goal decomposition, and autonomous policy synthesis.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Game-Theoretic Arbitration</a:t>
            </a:r>
            <a:br/>
            <a:r>
              <a:t> • Constraint Resolver AI</a:t>
            </a:r>
            <a:br/>
            <a:r>
              <a:t> • Swarm Consensus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3688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04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Autonomous Dispatch Cockpit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Automated cross-system work order dispatch, autonomous operational setpoint execution, and ANSI/ISA-101 human-in-the-loop supervisor consoles.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Autonomous Work Orders</a:t>
            </a:r>
            <a:br/>
            <a:r>
              <a:t> • Cross-System Setpoints</a:t>
            </a:r>
            <a:br/>
            <a:r>
              <a:t> • ISA-101 Swarm HMI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59612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UNIFIED DATA PIPELINE FLOW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</a:defRPr>
            </a:pPr>
            <a:r>
              <a:t>Enterprise Agent Event Ingestion ➔ Swarm Consensus Convergence Bus ➔ Multi-Agent Constraint Arbitration ➔ Autonomous Cross-System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TERRAHIVE  |  DEPLOYMENT &amp; SI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System Integrator Deployment Framework &amp; Commercial Model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Zero rip-and-replace turnkey onboarding with recurring enterprise margins and co-selling enablement.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01 | CONNECTIVITY &amp; AUDIT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Zero Rip-and-Replace Onboarding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Non-intrusive protocol discovery across field PLCs, RTUs, and historians. Plug-and-play mapping of tags into the unified TPIM semantic namespace without stopping ongoing plant production.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02 | TWIN CALIBRATION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Physics-Model Synchronization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Deploy high-frequency Edge Gateway on premise. Calibrate first-principles thermodynamic and kinematic models against historical telemetry to achieve 99.4%+ deterministic accuracy.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03 | AUTONOMOUS GO-LIVE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Closed-Loop Setpoint Actuation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Supervisory closed-loop setpoint dispatch with bumpless transfer. Comprehensive ISA-101 verified cockpit handoff with continuous SI recurring monitoring and support tiers.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26280"/>
            <a:ext cx="10728655" cy="182880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663440"/>
            <a:ext cx="10241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COMMERCIAL VALUE PROPOSITION FOR SYSTEM INTEGRATORS (TERRAHIVE)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High-Margin Software Recurring Revenue: Earn 25%–35% continuous recurring margin on every TerraHive software deployment, maintenance tier, and AI compute instance.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Turnkey Engineering Velocity: Deploy within 7 to 14 days leveraging pre-trained neural networks and automated semantic tag mapping, avoiding expensive months-long custom PLC code rewrites.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Enterprise Co-Selling &amp; Ecosystem: Access joint executive pipeline opportunities, certified engineering documentation, and board-level C-Suite presentation toolkits.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