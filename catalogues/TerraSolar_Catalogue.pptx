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TerraSolar - Enterprise Product Specification</a:t>
            </a:r>
          </a:p>
          <a:p>
            <a:r>
              <a:t>Tagline: Utility-Scale Solar Fleet Performance Optimization &amp; Yield Management</a:t>
            </a:r>
          </a:p>
          <a:p/>
          <a:p>
            <a:r>
              <a:t>Outcome Quote:</a:t>
            </a:r>
          </a:p>
          <a:p>
            <a:r>
              <a:t>“Solar management should not be blind daily manual logging, but autonomous gigawatt-scale optimization delivering 96.5% plant availability and eliminating string-level downtime.” (— THE OUTCOME-BASED REVOLUTION)</a:t>
            </a:r>
          </a:p>
          <a:p/>
          <a:p>
            <a:r>
              <a:t>Executive Overview:</a:t>
            </a:r>
          </a:p>
          <a:p>
            <a:r>
              <a:t>Deployed across massive 250MW utility footprints, TerraSolar unifies distributed solar infrastructure into a central Common Monitoring and Control Station (CMCS). Featuring LoRaWAN wireless tracking for String Monitoring Boxes (SMB), DLMS/COSEM energy meter integration, and real-time CUF/PR calculations, it drives generation efficiency and eliminates data blind spots.</a:t>
            </a:r>
          </a:p>
          <a:p/>
          <a:p>
            <a:r>
              <a:t>Key Telemetry Metrics:</a:t>
            </a:r>
          </a:p>
          <a:p>
            <a:r>
              <a:t>- FLEET PR RATIO:: 82.4% Optimal</a:t>
            </a:r>
          </a:p>
          <a:p>
            <a:r>
              <a:t>- PLANT AVAILABILITY:: 96.5% Target</a:t>
            </a:r>
          </a:p>
          <a:p>
            <a:r>
              <a:t>- SMB TELEMETRY:: LoRaWAN 868MHz</a:t>
            </a:r>
          </a:p>
          <a:p>
            <a:r>
              <a:t>- STRING JITTER:: &lt; 1.2 ms 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TerraSolar - ANSI/ISA-101 Verified Operational Interface</a:t>
            </a:r>
          </a:p>
          <a:p>
            <a:r>
              <a:t>Representation: TerraSolar ANSI/ISA-101 Operational Interface &amp; Real-Time System Representation</a:t>
            </a:r>
          </a:p>
          <a:p>
            <a:r>
              <a:t>Compliance: ANSI/ISA-101 Verified HMI</a:t>
            </a:r>
          </a:p>
          <a:p>
            <a:r>
              <a:t>Asset File: terra_solar_showcase.jpg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TerraSolar Will Do:</a:t>
            </a:r>
          </a:p>
          <a:p>
            <a:r>
              <a:t>[1] Solar RMS Electrical Parameters:</a:t>
            </a:r>
          </a:p>
          <a:p>
            <a:r>
              <a:t>Monitors Grid Status, Inverter Status, Line Energy, Runtime, Power, Frequency, Line Voltage/Current, DC Voltage/Current, Irradiation, Ambient/Inverter Temp.</a:t>
            </a:r>
          </a:p>
          <a:p/>
          <a:p>
            <a:r>
              <a:t>[2] Capacity Utilization Factor (CUF) &amp; PR Engine:</a:t>
            </a:r>
          </a:p>
          <a:p>
            <a:r>
              <a:t>Continuous weather-corrected Performance Ratio (PR) and CUF benchmarking against theoretical irradiance curves.</a:t>
            </a:r>
          </a:p>
          <a:p/>
          <a:p>
            <a:r>
              <a:t>[3] ISA-18.2 Compliance Alarm Handling:</a:t>
            </a:r>
          </a:p>
          <a:p>
            <a:r>
              <a:t>Filters secondary nuisance alerts during grid disruptions, focusing operator attention strictly on critical inverter or transformer trips.</a:t>
            </a:r>
          </a:p>
          <a:p/>
          <a:p>
            <a:r>
              <a:t>[4] Attribute-Based Access Control (ABAC):</a:t>
            </a:r>
          </a:p>
          <a:p>
            <a:r>
              <a:t>Dynamic access permissions evaluated by user role, structural attributes, and device location with encrypted audit trails.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TerraSolar - Operational Use Cases &amp; Field Impact:</a:t>
            </a:r>
          </a:p>
          <a:p>
            <a:r>
              <a:t>[Productivity] Productivity (96.5% Plant Availability Milestone):</a:t>
            </a:r>
          </a:p>
          <a:p>
            <a:r>
              <a:t>Achieved a 96.5% availability benchmark on a 250MW utility solar footprint by continuously scanning inverters and step-up transformers, eliminating generation field blind spots.</a:t>
            </a:r>
          </a:p>
          <a:p/>
          <a:p>
            <a:r>
              <a:t>[QA &amp; String-Level Anomaly Detection] QA &amp; String-Level Anomaly Detection:</a:t>
            </a:r>
          </a:p>
          <a:p>
            <a:r>
              <a:t>Continuous LoRaWAN monitoring paired with automated anomaly detection identifies minor string current drops instantly, eliminating string-level downtime.</a:t>
            </a:r>
          </a:p>
          <a:p/>
          <a:p>
            <a:r>
              <a:t>[Reduced Manpower] Reduced Manpower (Workforce Multiplier Effect):</a:t>
            </a:r>
          </a:p>
          <a:p>
            <a:r>
              <a:t>Consolidated 5 separate block control centers into 1 CMCS, removing redundant field staffing requirements and centralizing operations under a core engineering team.</a:t>
            </a:r>
          </a:p>
          <a:p/>
          <a:p>
            <a:r>
              <a:t>[Efficiency] Efficiency (Continuous Power Quality Auditing):</a:t>
            </a:r>
          </a:p>
          <a:p>
            <a:r>
              <a:t>Continuous electrical diagnostics identify early-stage power harmonics and insulation resistance issues, protecting multi-crore transformers from grid-side thermal stress.</a:t>
            </a:r>
          </a:p>
          <a:p/>
          <a:p>
            <a:r>
              <a:t>[Natural Language Energy Querying] Natural Language Energy Querying:</a:t>
            </a:r>
          </a:p>
          <a:p>
            <a:r>
              <a:t>Engineers query live solar telemetry using natural language (e.g. 'Show me chart for voltage of all phases in March' or 'What was peak harmonic distortion on Block P3 yesterday?').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TerraSolar - Architectural Contrast (Legacy SCADA vs Terrestrial Platform):</a:t>
            </a:r>
          </a:p>
          <a:p>
            <a:r>
              <a:t>LEGACY:</a:t>
            </a:r>
          </a:p>
          <a:p>
            <a:r>
              <a:t>Decentralized silos: five separate control rooms across blocks requiring redundant 24/7 technician shifts and manual paper log entries.</a:t>
            </a:r>
          </a:p>
          <a:p/>
          <a:p>
            <a:r>
              <a:t>TERRESTRIAL ADVANTAGE:</a:t>
            </a:r>
          </a:p>
          <a:p>
            <a:r>
              <a:t>Consolidated single Common Monitoring and Control Station (CMCS) with centralized domain expertise monitoring the entire 250MW footprint.</a:t>
            </a:r>
          </a:p>
          <a:p/>
          <a:p>
            <a:r>
              <a:t>LEGACY:</a:t>
            </a:r>
          </a:p>
          <a:p>
            <a:r>
              <a:t>String-level blown fuses or dirt-induced dropouts go unnoticed for days until periodic manual testing is conducted.</a:t>
            </a:r>
          </a:p>
          <a:p/>
          <a:p>
            <a:r>
              <a:t>TERRESTRIAL ADVANTAGE:</a:t>
            </a:r>
          </a:p>
          <a:p>
            <a:r>
              <a:t>Continuous LoRaWAN wireless tracking down to discrete DC string currents with automated anomaly detection triggering immediate tickets.</a:t>
            </a:r>
          </a:p>
          <a:p/>
          <a:p>
            <a:r>
              <a:t>LEGACY:</a:t>
            </a:r>
          </a:p>
          <a:p>
            <a:r>
              <a:t>Fragmented communication networks unable to bridge field inverters, DLMS meters, and high-voltage grid substations.</a:t>
            </a:r>
          </a:p>
          <a:p/>
          <a:p>
            <a:r>
              <a:t>TERRESTRIAL ADVANTAGE:</a:t>
            </a:r>
          </a:p>
          <a:p>
            <a:r>
              <a:t>Unified multi-protocol fabric combining OPC UA, Modbus, LoRaWAN, DLMS/COSEM, and IEC 61850 into ISA-101 compliant mimics.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TerraSolar - End-to-End System Diagram &amp; Data Pipeline:</a:t>
            </a:r>
          </a:p>
          <a:p/>
          <a:p>
            <a:r>
              <a:t>Layer 01: Inverter &amp; Met Ingestion</a:t>
            </a:r>
          </a:p>
          <a:p>
            <a:r>
              <a:t>Multi-string telemetry acquisition connecting central inverters, tracker inclinometers, pyranometers, and meteorological weather stations.</a:t>
            </a:r>
          </a:p>
          <a:p>
            <a:r>
              <a:t>Protocols: SunSpec Modbus RS485, LoRaWAN Field Mesh, IEC 60870-5-104</a:t>
            </a:r>
          </a:p>
          <a:p/>
          <a:p>
            <a:r>
              <a:t>Layer 02: Solar Edge Aggregation</a:t>
            </a:r>
          </a:p>
          <a:p>
            <a:r>
              <a:t>Lossless high-frequency solar irradiance streaming, MPPT curve normalization, and sub-second tracker telemetry aggregation.</a:t>
            </a:r>
          </a:p>
          <a:p>
            <a:r>
              <a:t>Protocols: Solar Telemetry Bus, MPPT Data Pipeline, Lossless Edge Stream</a:t>
            </a:r>
          </a:p>
          <a:p/>
          <a:p>
            <a:r>
              <a:t>Layer 03: Yield &amp; Soiling Forecaster</a:t>
            </a:r>
          </a:p>
          <a:p>
            <a:r>
              <a:t>Machine learning solar irradiance forecasting, drone thermography string degradation modeling, and dynamic soiling loss calculations.</a:t>
            </a:r>
          </a:p>
          <a:p>
            <a:r>
              <a:t>Protocols: Irradiance Forecasting, Soiling Loss Model, String Health AI</a:t>
            </a:r>
          </a:p>
          <a:p/>
          <a:p>
            <a:r>
              <a:t>Layer 04: Tracker &amp; Dispatch Cockpit</a:t>
            </a:r>
          </a:p>
          <a:p>
            <a:r>
              <a:t>Autonomous single-axis tracker backtracking angles, grid curtailment setpoint execution, and ANSI/ISA-101 solar plant cockpits.</a:t>
            </a:r>
          </a:p>
          <a:p>
            <a:r>
              <a:t>Protocols: Tracker Tilt Actuation, Curtailment Dispatch, ISA-101 Solar HMI</a:t>
            </a:r>
          </a:p>
          <a:p/>
          <a:p>
            <a:r>
              <a:t>Pipeline Flow:</a:t>
            </a:r>
          </a:p>
          <a:p>
            <a:r>
              <a:t>DATA PIPELINE FLOW: Inverter &amp; Pyranometer Telemetry ➔ High-Speed Solar Edge Stream ➔ ML Yield &amp; Soiling Forecasting ➔ Automated Tracker &amp; Grid Dispatch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TerraSolar - System Integrator Deployment Framework &amp; Commercial Model:</a:t>
            </a:r>
          </a:p>
          <a:p/>
          <a:p>
            <a:r>
              <a:t>Phase 1: Connectivity &amp; Audit</a:t>
            </a:r>
          </a:p>
          <a:p>
            <a:r>
              <a:t>Phase 2: Twin Calibration</a:t>
            </a:r>
          </a:p>
          <a:p>
            <a:r>
              <a:t>Phase 3: Autonomous Go-Live</a:t>
            </a:r>
          </a:p>
          <a:p/>
          <a:p>
            <a:r>
              <a:t>Commercial Enablement:</a:t>
            </a:r>
          </a:p>
          <a:p>
            <a:r>
              <a:t>- 25%-35% recurring SaaS margins</a:t>
            </a:r>
          </a:p>
          <a:p>
            <a:r>
              <a:t>- 7-14 day rapid commissioning</a:t>
            </a:r>
          </a:p>
          <a:p>
            <a:r>
              <a:t>- Co-selling and enterprise enablement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TERRASOLAR  |  ENTERPRISE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TerraSolar: Utility-Scale Solar Fleet Performance Optimization &amp; Yield Management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Autonomous Industrial Intelligence Suite · Tier-1 Plant Architecture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6217920" cy="46634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7607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i="1" b="1">
                <a:solidFill>
                  <a:srgbClr val="38BDF8"/>
                </a:solidFill>
              </a:defRPr>
            </a:pPr>
            <a:r>
              <a:t>““Solar management should not be blind daily manual logging, but autonomous gigawatt-scale optimization delivering 96.5% plant availability and eliminating string-level downtime.””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950" b="1">
                <a:solidFill>
                  <a:srgbClr val="94A3B8"/>
                </a:solidFill>
              </a:defRPr>
            </a:pPr>
            <a:r>
              <a:t>— — THE OUTCOME-BASED REVOLUTION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</a:defRPr>
            </a:pPr>
            <a:r>
              <a:t>EXECUTIVE OPERATIONAL SYNOPSIS</a:t>
            </a:r>
          </a:p>
          <a:p>
            <a:pPr>
              <a:defRPr sz="1050">
                <a:solidFill>
                  <a:srgbClr val="F1F5F9"/>
                </a:solidFill>
              </a:defRPr>
            </a:pPr>
            <a:r>
              <a:t>Deployed across massive 250MW utility footprints, TerraSolar unifies distributed solar infrastructure into a central Common Monitoring and Control Station (CMCS). Featuring LoRaWAN wireless tracking for String Monitoring Boxes (SMB), DLMS/COSEM energy meter integration, and real-time CUF/PR calculations, it drives generation efficiency and eliminates data blind spots.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FLEET PR RATIO</a:t>
            </a:r>
          </a:p>
          <a:p>
            <a:pPr>
              <a:spcBef>
                <a:spcPts val="400"/>
              </a:spcBef>
              <a:defRPr sz="1400" b="1">
                <a:solidFill>
                  <a:srgbClr val="34D399"/>
                </a:solidFill>
              </a:defRPr>
            </a:pPr>
            <a:r>
              <a:t>82.4% Optimal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81743" y="1691640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18903" y="1828800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PLANT AVAILABILITY</a:t>
            </a:r>
          </a:p>
          <a:p>
            <a:pPr>
              <a:spcBef>
                <a:spcPts val="400"/>
              </a:spcBef>
              <a:defRPr sz="1400" b="1">
                <a:solidFill>
                  <a:srgbClr val="34D399"/>
                </a:solidFill>
              </a:defRPr>
            </a:pPr>
            <a:r>
              <a:t>96.5%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SMB TELEMETRY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LoRaWAN 868MHz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81743" y="3044952"/>
            <a:ext cx="2084831" cy="118872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18903" y="3182112"/>
            <a:ext cx="18105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STRING JITTER</a:t>
            </a:r>
          </a:p>
          <a:p>
            <a:pPr>
              <a:spcBef>
                <a:spcPts val="400"/>
              </a:spcBef>
              <a:defRPr sz="1400" b="1">
                <a:solidFill>
                  <a:srgbClr val="38BDF8"/>
                </a:solidFill>
              </a:defRPr>
            </a:pPr>
            <a:r>
              <a:t>&lt; 1.2 ms Edge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434840"/>
            <a:ext cx="4334256" cy="192024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4617720"/>
            <a:ext cx="3840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CORE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</a:defRPr>
            </a:pPr>
            <a:r>
              <a:t>Edge-to-Cloud Cognitive Nervous System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Physics-informed mathematical twin running sub-25ms closed-loop supervisory control with full ISA-95/101 conformity.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TERRASOLAR  |  OPERATIONAL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TerraSolar ANSI/ISA-101 Operational Interface &amp; Real-Time System Representation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ANSI/ISA-101 Ergonomic High-Performance HMI · Real-Time System Representation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10728655" cy="47091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rra_solar_show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91640"/>
            <a:ext cx="1063721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TERRASOLAR  | 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What TerraSolar Will Do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Specific operational functions and engineering capabilities directly sourced from technical documentation.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01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Solar RMS Electrical Parameters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Monitors Grid Status, Inverter Status, Line Energy, Runtime, Power, Frequency, Line Voltage/Current, DC Voltage/Current, Irradiation, Ambient/Inverter Temp.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87452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02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Capacity Utilization Factor (CUF) &amp; PR Engine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Continuous weather-corrected Performance Ratio (PR) and CUF benchmarking against theoretical irradiance curves.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03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ISA-18.2 Compliance Alarm Handling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Filters secondary nuisance alerts during grid disruptions, focusing operator attention strictly on critical inverter or transformer trips.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4297680"/>
            <a:ext cx="477316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PILLAR 04  |  ENGINEERING CAPABILITY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</a:defRPr>
            </a:pPr>
            <a:r>
              <a:t>Attribute-Based Access Control (ABAC)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Dynamic access permissions evaluated by user role, structural attributes, and device location with encrypted audit trails.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TERRASOLAR  |  FIELD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Operational Use Cases &amp; Field Impact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Actual documented use cases across Quality Assurance, Reduced Manpower, Efficiency, and Asset Productivity.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3429000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63240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01  |  PRODUCTIVITY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Productivity (96.5% Plant Availability Milestone)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Achieved a 96.5% availability benchmark on a 250MW utility solar footprint by continuously scanning inverters and step-up transformers, eliminating generation field blind spots.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91640"/>
            <a:ext cx="3429000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56232"/>
            <a:ext cx="3063240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02  |  QA &amp; STRING-LEVEL ANOMALY DETECTION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QA &amp; String-Level Anomaly Detection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Continuous LoRaWAN monitoring paired with automated anomaly detection identifies minor string current drops instantly, eliminating string-level downtime.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91640"/>
            <a:ext cx="3429000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56232"/>
            <a:ext cx="3063240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03  |  REDUCED MANPOWER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Reduced Manpower (Workforce Multiplier Effect)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Consolidated 5 separate block control centers into 1 CMCS, removing redundant field staffing requirements and centralizing operations under a core engineering team.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9392"/>
            <a:ext cx="486460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04  |  EFFICIENCY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Efficiency (Continuous Power Quality Auditing)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Continuous electrical diagnostics identify early-stage power harmonics and insulation resistance issues, protecting multi-crore transformers from grid-side thermal stress.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4114800"/>
            <a:ext cx="5230368" cy="21945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4279392"/>
            <a:ext cx="4864608" cy="18653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CASE 05  |  NATURAL LANGUAGE ENERGY QUERYING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</a:defRPr>
            </a:pPr>
            <a:r>
              <a:t>Natural Language Energy Querying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Engineers query live solar telemetry using natural language (e.g. 'Show me chart for voltage of all phases in March' or 'What was peak harmonic distortion on Block P3 yesterday?').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TERRASOLAR  |  ARCHITECTURAL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Comparison with Traditional SCADA / Legacy Systems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Point-by-point contrast demonstrating the technological shift from legacy industrial automation to the Terrestrial Platform.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5230368" cy="502920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TRADITIONAL LEGACY SYSTEMS / SILOED SCADA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691640"/>
            <a:ext cx="5230368" cy="502920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78308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TERRASOLAR TERRESTRIAL PLATFORM ADVANTAGE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Decentralized silos: five separate control rooms across blocks requiring redundant 24/7 technician shifts and manual paper log entries.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286000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59152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Consolidated single Common Monitoring and Control Station (CMCS) with centralized domain expertise monitoring the entire 250MW footprint.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94176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String-level blown fuses or dirt-induced dropouts go unnoticed for days until periodic manual testing is conducted.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3694176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767328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Continuous LoRaWAN wireless tracking down to discrete DC string currents with automated anomaly detection triggering immediate tickets.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102352"/>
            <a:ext cx="5230368" cy="1298448"/>
          </a:xfrm>
          <a:prstGeom prst="roundRect">
            <a:avLst/>
          </a:prstGeom>
          <a:solidFill>
            <a:srgbClr val="1C1216"/>
          </a:solidFill>
          <a:ln w="12700">
            <a:solidFill>
              <a:srgbClr val="501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Fragmented communication networks unable to bridge field inverters, DLMS meters, and high-voltage grid substations.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7064" y="5102352"/>
            <a:ext cx="5230368" cy="1298448"/>
          </a:xfrm>
          <a:prstGeom prst="roundRect">
            <a:avLst/>
          </a:prstGeom>
          <a:solidFill>
            <a:srgbClr val="0F1C26"/>
          </a:solidFill>
          <a:ln w="12700">
            <a:solidFill>
              <a:srgbClr val="194B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5175504"/>
            <a:ext cx="4956048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Unified multi-protocol fabric combining OPC UA, Modbus, LoRaWAN, DLMS/COSEM, and IEC 61850 into ISA-101 compliant mimics.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TERRASOLAR  |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End-to-End System Diagram &amp; Data Pipeline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Visual architecture diagram representing field telemetry ingestion, deterministic edge fabric, AI reasoning, and closed-loop actuation.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01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Inverter &amp; Met Ingestion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Multi-string telemetry acquisition connecting central inverters, tracker inclinometers, pyranometers, and meteorological weather stations.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SunSpec Modbus RS485</a:t>
            </a:r>
            <a:br/>
            <a:r>
              <a:t> • LoRaWAN Field Mesh</a:t>
            </a:r>
            <a:br/>
            <a:r>
              <a:t> • IEC 60870-5-104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02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Solar Edge Aggregation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Lossless high-frequency solar irradiance streaming, MPPT curve normalization, and sub-second tracker telemetry aggregation.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Solar Telemetry Bus</a:t>
            </a:r>
            <a:br/>
            <a:r>
              <a:t> • MPPT Data Pipeline</a:t>
            </a:r>
            <a:br/>
            <a:r>
              <a:t> • Lossless Edge 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03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Yield &amp; Soiling Forecaster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Machine learning solar irradiance forecasting, drone thermography string degradation modeling, and dynamic soiling loss calculations.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Irradiance Forecasting</a:t>
            </a:r>
            <a:br/>
            <a:r>
              <a:t> • Soiling Loss Model</a:t>
            </a:r>
            <a:br/>
            <a:r>
              <a:t> • String Health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691640"/>
            <a:ext cx="2514600" cy="36118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856232"/>
            <a:ext cx="2185416" cy="32826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LAYER 04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Tracker &amp; Dispatch Cockpit</a:t>
            </a:r>
          </a:p>
          <a:p>
            <a:pPr>
              <a:spcAft>
                <a:spcPts val="800"/>
              </a:spcAft>
              <a:defRPr sz="900">
                <a:solidFill>
                  <a:srgbClr val="F1F5F9"/>
                </a:solidFill>
              </a:defRPr>
            </a:pPr>
            <a:r>
              <a:t>Autonomous single-axis tracker backtracking angles, grid curtailment setpoint execution, and ANSI/ISA-101 solar plant cockpits.</a:t>
            </a:r>
          </a:p>
          <a:p>
            <a:pPr>
              <a:spcBef>
                <a:spcPts val="400"/>
              </a:spcBef>
              <a:defRPr sz="800" b="1">
                <a:solidFill>
                  <a:srgbClr val="94A3B8"/>
                </a:solidFill>
              </a:defRPr>
            </a:pPr>
            <a:r>
              <a:t>PROTOCOLS &amp; STANDARDS: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 • Tracker Tilt Actuation</a:t>
            </a:r>
            <a:br/>
            <a:r>
              <a:t> • Curtailment Dispatch</a:t>
            </a:r>
            <a:br/>
            <a:r>
              <a:t> • ISA-101 Solar HMI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9612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UNIFIED DATA PIPELINE FLOW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Inverter &amp; Pyranometer Telemetry ➔ High-Speed Solar Edge Stream ➔ ML Yield &amp; Soiling Forecasting ➔ Automated Tracker &amp; Grid Dispatch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TERRESTRIAL PLATFORM  |  TERRASOLAR  |  DEPLOYMENT &amp; SI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System Integrator Deployment Framework &amp; Commercial Model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Zero rip-and-replace turnkey onboarding with recurring enterprise margins and co-selling enablement.</a:t>
            </a:r>
          </a:p>
        </p:txBody>
      </p:sp>
      <p:pic>
        <p:nvPicPr>
          <p:cNvPr id="6" name="Picture 5" descr="tp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87552" cy="3840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01 | CONNECTIVITY &amp; AUDIT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Non-intrusive protocol discovery across field PLCs, RTUs, and historians. Plug-and-play mapping of tags into the unified TPIM semantic namespace without stopping ongoing plant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02 | TWIN CALIBRATION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Deploy high-frequency Edge Gateway on premise. Calibrate first-principles thermodynamic and kinematic models against historical telemetry to achieve 99.4%+ deterministic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1691640"/>
            <a:ext cx="3429000" cy="265176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28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856232"/>
            <a:ext cx="3063240" cy="2322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PHASE 03 | AUTONOMOUS GO-LIVE</a:t>
            </a:r>
          </a:p>
          <a:p>
            <a:pPr>
              <a:spcBef>
                <a:spcPts val="300"/>
              </a:spcBef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Supervisory closed-loop setpoint dispatch with bumpless transfer. Comprehensive ISA-101 verified cockpit handoff with continuous SI recurring monitoring and support tiers.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10728655" cy="1828800"/>
          </a:xfrm>
          <a:prstGeom prst="roundRect">
            <a:avLst/>
          </a:prstGeom>
          <a:solidFill>
            <a:srgbClr val="1319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COMMERCIAL VALUE PROPOSITION FOR SYSTEM INTEGRATORS (TERRASOLAR)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High-Margin Software Recurring Revenue: Earn 25%–35% continuous recurring margin on every TerraSolar software deployment, maintenance tier, and AI compute instance.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Turnkey Engineering Velocity: Deploy within 7 to 14 days leveraging pre-trained neural networks and automated semantic tag mapping, avoiding expensive months-long custom PLC code rewrites.</a:t>
            </a:r>
          </a:p>
          <a:p>
            <a:pPr>
              <a:spcBef>
                <a:spcPts val="300"/>
              </a:spcBef>
              <a:defRPr sz="950">
                <a:solidFill>
                  <a:srgbClr val="F1F5F9"/>
                </a:solidFill>
              </a:defRPr>
            </a:pPr>
            <a:r>
              <a:t>• Enterprise Co-Selling &amp; Ecosystem: Access joint executive pipeline opportunities, certified engineering documentation, and board-level C-Suite presentation toolkits.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