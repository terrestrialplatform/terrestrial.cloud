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TerraAI - Enterprise Product Specification</a:t>
            </a:r>
          </a:p>
          <a:p>
            <a:r>
              <a:t>Tagline: Autonomous Industrial Intelligence &amp; Physics-Informed Predictive Operations Engine</a:t>
            </a:r>
          </a:p>
          <a:p/>
          <a:p>
            <a:r>
              <a:t>Outcome Quote:</a:t>
            </a:r>
          </a:p>
          <a:p>
            <a:r>
              <a:t>“Industrial autonomy is not mere alerting or passive dashboards — it is continuous predictive synthesis where physics-informed intelligence anticipates faults hours before inception, dynamically recalculates optimal setpoints, and executes closed-loop plant control with zero human latency.” (— THE AUTONOMOUS INDUSTRIAL REVOLUTION)</a:t>
            </a:r>
          </a:p>
          <a:p/>
          <a:p>
            <a:r>
              <a:t>Executive Overview:</a:t>
            </a:r>
          </a:p>
          <a:p>
            <a:r>
              <a:t>TerraAI serves as the central autonomous nervous system and deep analytics engine for mission-critical industrial infrastructure. Bridging physical asset dynamics with advanced computational intelligence, it continuously ingests high-frequency telemetry across distributed control systems (DCS, PLC, SCADA, BMS, EMS) and enterprise systems (ERP, CMMS). Leveraging Physics-Informed Neural Operators (PINO), multivariate time-series forecasting, and causal fault propagation graphs, TerraAI transitions industrial plants from reactive intervention to fully autonomous, self-optimizing closed-loop operations.</a:t>
            </a:r>
          </a:p>
          <a:p/>
          <a:p>
            <a:r>
              <a:t>Key Telemetry Metrics:</a:t>
            </a:r>
          </a:p>
          <a:p>
            <a:r>
              <a:t>- AUTONOMOUS CONTROL:: Level 4 Supervisory Autonomy</a:t>
            </a:r>
          </a:p>
          <a:p>
            <a:r>
              <a:t>- PREDICTIVE HORIZON:: 72h Multi-Variable Lookahead</a:t>
            </a:r>
          </a:p>
          <a:p>
            <a:r>
              <a:t>- ANALYTICS ENGINE:: PINO Neural Operators</a:t>
            </a:r>
          </a:p>
          <a:p>
            <a:r>
              <a:t>- CLOSED-LOOP LATENCY:: Sub-25ms Deterministic Actuation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TerraAI - ANSI/ISA-101 Verified Operational Interface</a:t>
            </a:r>
          </a:p>
          <a:p>
            <a:r>
              <a:t>Representation: TerraAI ANSI/ISA-101 Operational Interface &amp; Real-Time System Representation</a:t>
            </a:r>
          </a:p>
          <a:p>
            <a:r>
              <a:t>Compliance: ANSI/ISA-101 Verified HMI</a:t>
            </a:r>
          </a:p>
          <a:p>
            <a:r>
              <a:t>Asset File: terra_ai_showcase.jpg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TerraAI Will Do:</a:t>
            </a:r>
          </a:p>
          <a:p>
            <a:r>
              <a:t>[1] Autonomous Closed-Loop Control &amp; Production Optimization:</a:t>
            </a:r>
          </a:p>
          <a:p>
            <a:r>
              <a:t>Transitions plant operations from passive monitoring to autonomous action. 24x7 AI engine continuously analyzes machine telemetry, dynamically adjusts PLC/DCS setpoints, mitigates vibration anomalies on critical production lines, and maintains peak throughput without manual delays.</a:t>
            </a:r>
          </a:p>
          <a:p/>
          <a:p>
            <a:r>
              <a:t>[2] Reduced Manpower &amp; Workforce Multiplier:</a:t>
            </a:r>
          </a:p>
          <a:p>
            <a:r>
              <a:t>Drastically reduces the need for routine floor monitoring, desk watchstanders, and manual paperwork. Automatically generates maintenance work orders in ERP, correlates shift attendance shortages, and recommends optimal worker reallocation when staffing is low.</a:t>
            </a:r>
          </a:p>
          <a:p/>
          <a:p>
            <a:r>
              <a:t>[3] Raw Material &amp; Inventory Optimization:</a:t>
            </a:r>
          </a:p>
          <a:p>
            <a:r>
              <a:t>Continuously forecasts material consumption and monitors warehouse levels. Automatically generates purchase requisitions in SAP ERP when stock drops below reorder points, calculates optimal order quantities, and cuts raw material scrap during line changeovers.</a:t>
            </a:r>
          </a:p>
          <a:p/>
          <a:p>
            <a:r>
              <a:t>[4] Energy &amp; Operational Cost Efficiency:</a:t>
            </a:r>
          </a:p>
          <a:p>
            <a:r>
              <a:t>Correlates real-time power, fuel, compressed air, and water telemetry to eliminate utility waste. Instantly pinpoints pipeline leaks, balances peak electrical demand to avoid billing penalties, and optimizes thermodynamic chiller/boiler staging to lower operating costs.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TerraAI - Operational Use Cases &amp; Field Impact:</a:t>
            </a:r>
          </a:p>
          <a:p>
            <a:r>
              <a:t>[Predictive Analytics &amp; Machine Reliability] Supercritical Turbine Train: Autonomous Torsional Vibration &amp; Bearing Oil Whirl Mitigation:</a:t>
            </a:r>
          </a:p>
          <a:p>
            <a:r>
              <a:t>Analyzes high-frequency (10 kHz) proximity probe spectra; detects incipient sub-synchronous oil whirl resonance 48 hours prior to alarm thresholds; autonomously trims governor steam admission valves via PLC and dispatches vibration engineering work orders in SAP, averting catastrophic rotor rub and $2.4M in downtime.</a:t>
            </a:r>
          </a:p>
          <a:p/>
          <a:p>
            <a:r>
              <a:t>[Autonomous Process Optimization] Chemical Refining &amp; Utilities: Closed-Loop Multi-Variable Combustion &amp; Emission Optimization:</a:t>
            </a:r>
          </a:p>
          <a:p>
            <a:r>
              <a:t>Ingests 32 continuous process variables (stack O2, NOx, fuel gas BTU, furnace draft); runs dynamic neural MPC to modulate primary air dampers and fuel staging in real time, driving a 2.1% thermal efficiency improvement and reducing NOx emissions by 14.8% without manual operator trim.</a:t>
            </a:r>
          </a:p>
          <a:p/>
          <a:p>
            <a:r>
              <a:t>[Mission-Critical Grid Autonomy] Extra-High Voltage (EHV) Transmission: Autonomous Substation Islanding &amp; Synchrophasor PMU Analytics:</a:t>
            </a:r>
          </a:p>
          <a:p>
            <a:r>
              <a:t>Continuously computes Rate of Change of Frequency (ROCOF) and voltage vector phase angles from IEEE C37.118 PMUs; autonomously isolates faulty 400kV bus sections and re-balances localized microgrid generation within 18 milliseconds during sudden line tripping, preventing regional cascading blackouts.</a:t>
            </a:r>
          </a:p>
          <a:p/>
          <a:p>
            <a:r>
              <a:t>[Thermodynamic Energy Analytics] District Energy &amp; Industrial Chillers: Autonomous Low Delta-T Elimination &amp; Thermodynamic Staging:</a:t>
            </a:r>
          </a:p>
          <a:p>
            <a:r>
              <a:t>Evaluates real-time chiller COP curves, condenser approach temperatures, and variable secondary pumping hydraulics; autonomously shifts chiller staging sequences and resets chilled water supply temperature, eliminating low delta-T syndrome and cutting campus cooling power by 23.6%.</a:t>
            </a:r>
          </a:p>
          <a:p/>
          <a:p>
            <a:r>
              <a:t>[Autonomous Vision &amp; Life-Safety] Hazardous Hydrocarbon Processing: Vision-Interlocked Autonomous Vapor Containment &amp; Emergency Isolation:</a:t>
            </a:r>
          </a:p>
          <a:p>
            <a:r>
              <a:t>Multi-spectral optical gas imaging combined with acoustic leak sensor arrays detects volatile organic compound (VOC) micro-fugitive leaks; autonomously isolates pneumatic pipeline block valves, activates targeted nitrogen purges, and dispatches safety alarms with geotagged thermal snapshots within 1.2 seconds.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TerraAI - Architectural Contrast (Legacy SCADA vs Terrestrial Platform):</a:t>
            </a:r>
          </a:p>
          <a:p>
            <a:r>
              <a:t>LEGACY:</a:t>
            </a:r>
          </a:p>
          <a:p>
            <a:r>
              <a:t>Reactive high/low threshold limit alarms trigger only after physical process degradation has already breached safety margins.</a:t>
            </a:r>
          </a:p>
          <a:p/>
          <a:p>
            <a:r>
              <a:t>TERRESTRIAL ADVANTAGE:</a:t>
            </a:r>
          </a:p>
          <a:p>
            <a:r>
              <a:t>Physics-Informed Neural Operators (PINO) forecast multi-variable thermal, electrical, and mechanical asset trajectories up to 72 hours ahead.</a:t>
            </a:r>
          </a:p>
          <a:p/>
          <a:p>
            <a:r>
              <a:t>LEGACY:</a:t>
            </a:r>
          </a:p>
          <a:p>
            <a:r>
              <a:t>Operators must manually adjust setpoints, radio field technicians, and type manual maintenance tickets across separate software silos.</a:t>
            </a:r>
          </a:p>
          <a:p/>
          <a:p>
            <a:r>
              <a:t>TERRESTRIAL ADVANTAGE:</a:t>
            </a:r>
          </a:p>
          <a:p>
            <a:r>
              <a:t>Automated Alert-to-Action pipeline executes sub-25ms supervisory setpoint optimization and auto-generates ERP work orders without human latency.</a:t>
            </a:r>
          </a:p>
          <a:p/>
          <a:p>
            <a:r>
              <a:t>LEGACY:</a:t>
            </a:r>
          </a:p>
          <a:p>
            <a:r>
              <a:t>Operators must memorize hundreds of cryptic tag IDs and navigate rigid, siloed hierarchical software menus across dozens of monitors.</a:t>
            </a:r>
          </a:p>
          <a:p/>
          <a:p>
            <a:r>
              <a:t>TERRESTRIAL ADVANTAGE:</a:t>
            </a:r>
          </a:p>
          <a:p>
            <a:r>
              <a:t>Unified cross-system semantic knowledge fabric allows natural language queries (e.g. 'Correlate heat exchanger fouling against fuel blend changes over 30 days').</a:t>
            </a:r>
          </a:p>
          <a:p/>
          <a:p>
            <a:r>
              <a:t>LEGACY:</a:t>
            </a:r>
          </a:p>
          <a:p>
            <a:r>
              <a:t>Single-input single-output (SISO) PID controllers struggle with non-linear cross-coupling, dead times, and seasonal ambient fluctuations.</a:t>
            </a:r>
          </a:p>
          <a:p/>
          <a:p>
            <a:r>
              <a:t>TERRESTRIAL ADVANTAGE:</a:t>
            </a:r>
          </a:p>
          <a:p>
            <a:r>
              <a:t>Dynamic multi-input multi-output (MIMO) Model Predictive Control constantly re-evaluates multi-variable trade-offs to maximize efficiency within safety envelopes.</a:t>
            </a:r>
          </a:p>
          <a:p/>
          <a:p>
            <a:r>
              <a:t>LEGACY:</a:t>
            </a:r>
          </a:p>
          <a:p>
            <a:r>
              <a:t>Alarm floods of 2,000+ alarms per minute during plant trips overwhelm operators, requiring days of manual post-mortem trip log forensics.</a:t>
            </a:r>
          </a:p>
          <a:p/>
          <a:p>
            <a:r>
              <a:t>TERRESTRIAL ADVANTAGE:</a:t>
            </a:r>
          </a:p>
          <a:p>
            <a:r>
              <a:t>Real-time directed causal graphs (DAGs) automatically de-duplicate alarm avalanches, pinpointing the single initiating root cause within 50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TerraAI - End-to-End System Diagram &amp; Data Pipeline:</a:t>
            </a:r>
          </a:p>
          <a:p/>
          <a:p>
            <a:r>
              <a:t>Layer 01: Multi-Protocol Field Ingestion</a:t>
            </a:r>
          </a:p>
          <a:p>
            <a:r>
              <a:t>Sub-millisecond multi-protocol telemetry acquisition aggregating DCS, PLCs, RTUs, smart transmitters, and plant-wide sensor networks.</a:t>
            </a:r>
          </a:p>
          <a:p>
            <a:r>
              <a:t>Protocols: OPC UA / TSN, IEC 61850 MMS, MQTT Sparkplug B</a:t>
            </a:r>
          </a:p>
          <a:p/>
          <a:p>
            <a:r>
              <a:t>Layer 02: Deterministic Edge Stream Bus</a:t>
            </a:r>
          </a:p>
          <a:p>
            <a:r>
              <a:t>Ultra-high-throughput event streaming fabric, lossless telemetry compression, dynamic jitter smoothing, and unified schema normalization.</a:t>
            </a:r>
          </a:p>
          <a:p>
            <a:r>
              <a:t>Protocols: Event Stream Bus, Lossless Compression, Sub-25ms Stream</a:t>
            </a:r>
          </a:p>
          <a:p/>
          <a:p>
            <a:r>
              <a:t>Layer 03: Physics-Informed Predictive Core</a:t>
            </a:r>
          </a:p>
          <a:p>
            <a:r>
              <a:t>Physics-Informed Neural Operators (PINO), 72h multivariate lookahead forecasting, dynamic MIMO MPC, and causal graph root-cause attribution.</a:t>
            </a:r>
          </a:p>
          <a:p>
            <a:r>
              <a:t>Protocols: PINO Neural Ops, MIMO MPC Engine, Causal Graph RCFA</a:t>
            </a:r>
          </a:p>
          <a:p/>
          <a:p>
            <a:r>
              <a:t>Layer 04: Autonomous Closed-Loop Cockpit</a:t>
            </a:r>
          </a:p>
          <a:p>
            <a:r>
              <a:t>Deterministic supervisory setpoint modulation, automated ERP/CMMS work order orchestration, and ANSI/ISA-101 high-performance operational cockpits.</a:t>
            </a:r>
          </a:p>
          <a:p>
            <a:r>
              <a:t>Protocols: Supervisory Setpoints, ERP Auto-Orchestration, ISA-101 Cockpit</a:t>
            </a:r>
          </a:p>
          <a:p/>
          <a:p>
            <a:r>
              <a:t>Pipeline Flow:</a:t>
            </a:r>
          </a:p>
          <a:p>
            <a:r>
              <a:t>DATA PIPELINE FLOW: Sub-Millisecond Multi-Protocol Telemetry ➔ High-Throughput Normalized Stream ➔ Physics-Informed Predictive &amp; Anomaly Engine ➔ Autonomous Closed-Loop Setpoint &amp; Enterprise Actuation (&lt; 25ms Determinism)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TerraAI - System Integrator Deployment Framework &amp; Commercial Model:</a:t>
            </a:r>
          </a:p>
          <a:p/>
          <a:p>
            <a:r>
              <a:t>Phase 1: Connectivity &amp; Audit</a:t>
            </a:r>
          </a:p>
          <a:p>
            <a:r>
              <a:t>Phase 2: Twin Calibration</a:t>
            </a:r>
          </a:p>
          <a:p>
            <a:r>
              <a:t>Phase 3: Autonomous Go-Live</a:t>
            </a:r>
          </a:p>
          <a:p/>
          <a:p>
            <a:r>
              <a:t>Commercial Enablement:</a:t>
            </a:r>
          </a:p>
          <a:p>
            <a:r>
              <a:t>- 25%-35% recurring SaaS margins</a:t>
            </a:r>
          </a:p>
          <a:p>
            <a:r>
              <a:t>- 7-14 day rapid commissioning</a:t>
            </a:r>
          </a:p>
          <a:p>
            <a:r>
              <a:t>- Co-selling and enterprise enablement support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TERRAAI  |  ENTERPRISE SPECIFICATION</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TerraAI: Autonomous Industrial Intelligence &amp; Physics-Informed Predictive Operations Engine</a:t>
            </a:r>
          </a:p>
          <a:p>
            <a:pPr>
              <a:spcBef>
                <a:spcPts val="300"/>
              </a:spcBef>
              <a:defRPr sz="1050">
                <a:solidFill>
                  <a:srgbClr val="94A3B8"/>
                </a:solidFill>
              </a:defRPr>
            </a:pPr>
            <a:r>
              <a:t>Autonomous Industrial Intelligence Suite · Tier-1 Plant Architecture</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6217920" cy="466344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74519"/>
            <a:ext cx="5760720" cy="4297680"/>
          </a:xfrm>
          <a:prstGeom prst="rect">
            <a:avLst/>
          </a:prstGeom>
          <a:noFill/>
        </p:spPr>
        <p:txBody>
          <a:bodyPr wrap="square" lIns="0" rIns="0" tIns="0" bIns="0">
            <a:spAutoFit/>
          </a:bodyPr>
          <a:lstStyle/>
          <a:p>
            <a:pPr>
              <a:defRPr sz="1200" i="1" b="1">
                <a:solidFill>
                  <a:srgbClr val="38BDF8"/>
                </a:solidFill>
              </a:defRPr>
            </a:pPr>
            <a:r>
              <a:t>““Industrial autonomy is not mere alerting or passive dashboards — it is continuous predictive synthesis where physics-informed intelligence anticipates faults hours before inception, dynamically recalculates optimal setpoints, and executes closed-loop plant control with zero human latency.””</a:t>
            </a:r>
          </a:p>
          <a:p>
            <a:pPr>
              <a:spcBef>
                <a:spcPts val="400"/>
              </a:spcBef>
              <a:spcAft>
                <a:spcPts val="1200"/>
              </a:spcAft>
              <a:defRPr sz="950" b="1">
                <a:solidFill>
                  <a:srgbClr val="94A3B8"/>
                </a:solidFill>
              </a:defRPr>
            </a:pPr>
            <a:r>
              <a:t>— — THE AUTONOMOUS INDUSTRIAL REVOLUTION</a:t>
            </a:r>
          </a:p>
          <a:p>
            <a:pPr>
              <a:spcAft>
                <a:spcPts val="600"/>
              </a:spcAft>
              <a:defRPr sz="1050" b="1">
                <a:solidFill>
                  <a:srgbClr val="FFFFFF"/>
                </a:solidFill>
              </a:defRPr>
            </a:pPr>
            <a:r>
              <a:t>EXECUTIVE OPERATIONAL SYNOPSIS</a:t>
            </a:r>
          </a:p>
          <a:p>
            <a:pPr>
              <a:defRPr sz="1050">
                <a:solidFill>
                  <a:srgbClr val="F1F5F9"/>
                </a:solidFill>
              </a:defRPr>
            </a:pPr>
            <a:r>
              <a:t>TerraAI serves as the central autonomous nervous system and deep analytics engine for mission-critical industrial infrastructure. Bridging physical asset dynamics with advanced computational intelligence, it continuously ingests high-frequency telemetry across distributed control systems (DCS, PLC, SCADA, BMS, EMS) and enterprise systems (ERP, CMMS). Leveraging Physics-Informed Neural Operators (PINO), multivariate time-series forecasting, and causal fault propagation graphs, TerraAI transitions industrial plants from reactive intervention to fully autonomous, self-optimizing closed-loop operations.</a:t>
            </a:r>
          </a:p>
        </p:txBody>
      </p:sp>
      <p:sp>
        <p:nvSpPr>
          <p:cNvPr id="9" name="Rounded Rectangle 8"/>
          <p:cNvSpPr/>
          <p:nvPr/>
        </p:nvSpPr>
        <p:spPr>
          <a:xfrm>
            <a:off x="7132320" y="1691640"/>
            <a:ext cx="2084831" cy="118872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69480" y="1828800"/>
            <a:ext cx="1810511" cy="914400"/>
          </a:xfrm>
          <a:prstGeom prst="rect">
            <a:avLst/>
          </a:prstGeom>
          <a:noFill/>
        </p:spPr>
        <p:txBody>
          <a:bodyPr wrap="square" lIns="0" rIns="0" tIns="0" bIns="0">
            <a:spAutoFit/>
          </a:bodyPr>
          <a:lstStyle/>
          <a:p>
            <a:pPr>
              <a:defRPr sz="850" b="1">
                <a:solidFill>
                  <a:srgbClr val="94A3B8"/>
                </a:solidFill>
              </a:defRPr>
            </a:pPr>
            <a:r>
              <a:t>AUTONOMOUS CONTROL</a:t>
            </a:r>
          </a:p>
          <a:p>
            <a:pPr>
              <a:spcBef>
                <a:spcPts val="400"/>
              </a:spcBef>
              <a:defRPr sz="1400" b="1">
                <a:solidFill>
                  <a:srgbClr val="FFFFFF"/>
                </a:solidFill>
              </a:defRPr>
            </a:pPr>
            <a:r>
              <a:t>Level 4 Supervisory Autonomy</a:t>
            </a:r>
          </a:p>
        </p:txBody>
      </p:sp>
      <p:sp>
        <p:nvSpPr>
          <p:cNvPr id="11" name="Rounded Rectangle 10"/>
          <p:cNvSpPr/>
          <p:nvPr/>
        </p:nvSpPr>
        <p:spPr>
          <a:xfrm>
            <a:off x="9381743" y="1691640"/>
            <a:ext cx="2084831" cy="118872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18903" y="1828800"/>
            <a:ext cx="1810511" cy="914400"/>
          </a:xfrm>
          <a:prstGeom prst="rect">
            <a:avLst/>
          </a:prstGeom>
          <a:noFill/>
        </p:spPr>
        <p:txBody>
          <a:bodyPr wrap="square" lIns="0" rIns="0" tIns="0" bIns="0">
            <a:spAutoFit/>
          </a:bodyPr>
          <a:lstStyle/>
          <a:p>
            <a:pPr>
              <a:defRPr sz="850" b="1">
                <a:solidFill>
                  <a:srgbClr val="94A3B8"/>
                </a:solidFill>
              </a:defRPr>
            </a:pPr>
            <a:r>
              <a:t>PREDICTIVE HORIZON</a:t>
            </a:r>
          </a:p>
          <a:p>
            <a:pPr>
              <a:spcBef>
                <a:spcPts val="400"/>
              </a:spcBef>
              <a:defRPr sz="1400" b="1">
                <a:solidFill>
                  <a:srgbClr val="FFFFFF"/>
                </a:solidFill>
              </a:defRPr>
            </a:pPr>
            <a:r>
              <a:t>72h Multi-Variable Lookahead</a:t>
            </a:r>
          </a:p>
        </p:txBody>
      </p:sp>
      <p:sp>
        <p:nvSpPr>
          <p:cNvPr id="13" name="Rounded Rectangle 12"/>
          <p:cNvSpPr/>
          <p:nvPr/>
        </p:nvSpPr>
        <p:spPr>
          <a:xfrm>
            <a:off x="7132320" y="3044952"/>
            <a:ext cx="2084831" cy="118872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9480" y="3182112"/>
            <a:ext cx="1810511" cy="914400"/>
          </a:xfrm>
          <a:prstGeom prst="rect">
            <a:avLst/>
          </a:prstGeom>
          <a:noFill/>
        </p:spPr>
        <p:txBody>
          <a:bodyPr wrap="square" lIns="0" rIns="0" tIns="0" bIns="0">
            <a:spAutoFit/>
          </a:bodyPr>
          <a:lstStyle/>
          <a:p>
            <a:pPr>
              <a:defRPr sz="850" b="1">
                <a:solidFill>
                  <a:srgbClr val="94A3B8"/>
                </a:solidFill>
              </a:defRPr>
            </a:pPr>
            <a:r>
              <a:t>ANALYTICS ENGINE</a:t>
            </a:r>
          </a:p>
          <a:p>
            <a:pPr>
              <a:spcBef>
                <a:spcPts val="400"/>
              </a:spcBef>
              <a:defRPr sz="1400" b="1">
                <a:solidFill>
                  <a:srgbClr val="FFFFFF"/>
                </a:solidFill>
              </a:defRPr>
            </a:pPr>
            <a:r>
              <a:t>PINO Neural Operators</a:t>
            </a:r>
          </a:p>
        </p:txBody>
      </p:sp>
      <p:sp>
        <p:nvSpPr>
          <p:cNvPr id="15" name="Rounded Rectangle 14"/>
          <p:cNvSpPr/>
          <p:nvPr/>
        </p:nvSpPr>
        <p:spPr>
          <a:xfrm>
            <a:off x="9381743" y="3044952"/>
            <a:ext cx="2084831" cy="118872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18903" y="3182112"/>
            <a:ext cx="1810511" cy="914400"/>
          </a:xfrm>
          <a:prstGeom prst="rect">
            <a:avLst/>
          </a:prstGeom>
          <a:noFill/>
        </p:spPr>
        <p:txBody>
          <a:bodyPr wrap="square" lIns="0" rIns="0" tIns="0" bIns="0">
            <a:spAutoFit/>
          </a:bodyPr>
          <a:lstStyle/>
          <a:p>
            <a:pPr>
              <a:defRPr sz="850" b="1">
                <a:solidFill>
                  <a:srgbClr val="94A3B8"/>
                </a:solidFill>
              </a:defRPr>
            </a:pPr>
            <a:r>
              <a:t>CLOSED-LOOP LATENCY</a:t>
            </a:r>
          </a:p>
          <a:p>
            <a:pPr>
              <a:spcBef>
                <a:spcPts val="400"/>
              </a:spcBef>
              <a:defRPr sz="1400" b="1">
                <a:solidFill>
                  <a:srgbClr val="38BDF8"/>
                </a:solidFill>
              </a:defRPr>
            </a:pPr>
            <a:r>
              <a:t>Sub-25ms Deterministic Actuation</a:t>
            </a:r>
          </a:p>
        </p:txBody>
      </p:sp>
      <p:sp>
        <p:nvSpPr>
          <p:cNvPr id="17" name="Rounded Rectangle 16"/>
          <p:cNvSpPr/>
          <p:nvPr/>
        </p:nvSpPr>
        <p:spPr>
          <a:xfrm>
            <a:off x="7132320" y="4434840"/>
            <a:ext cx="4334256" cy="192024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0920" y="4617720"/>
            <a:ext cx="3840480" cy="1554480"/>
          </a:xfrm>
          <a:prstGeom prst="rect">
            <a:avLst/>
          </a:prstGeom>
          <a:noFill/>
        </p:spPr>
        <p:txBody>
          <a:bodyPr wrap="square" lIns="0" rIns="0" tIns="0" bIns="0">
            <a:spAutoFit/>
          </a:bodyPr>
          <a:lstStyle/>
          <a:p>
            <a:pPr>
              <a:defRPr sz="950" b="1">
                <a:solidFill>
                  <a:srgbClr val="38BDF8"/>
                </a:solidFill>
              </a:defRPr>
            </a:pPr>
            <a:r>
              <a:t>TERRESTRIAL PLATFORM CORE</a:t>
            </a:r>
          </a:p>
          <a:p>
            <a:pPr>
              <a:spcBef>
                <a:spcPts val="200"/>
              </a:spcBef>
              <a:defRPr sz="1100" b="1">
                <a:solidFill>
                  <a:srgbClr val="FFFFFF"/>
                </a:solidFill>
              </a:defRPr>
            </a:pPr>
            <a:r>
              <a:t>Edge-to-Cloud Cognitive Nervous System</a:t>
            </a:r>
          </a:p>
          <a:p>
            <a:pPr>
              <a:spcBef>
                <a:spcPts val="400"/>
              </a:spcBef>
              <a:defRPr sz="900">
                <a:solidFill>
                  <a:srgbClr val="94A3B8"/>
                </a:solidFill>
              </a:defRPr>
            </a:pPr>
            <a:r>
              <a:t>Physics-informed mathematical twin running sub-25ms closed-loop supervisory control with full ISA-95/101 conformity.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TERRAAI  |  OPERATIONAL INTERFACE</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TerraAI ANSI/ISA-101 Operational Interface &amp; Real-Time System Representation</a:t>
            </a:r>
          </a:p>
          <a:p>
            <a:pPr>
              <a:spcBef>
                <a:spcPts val="300"/>
              </a:spcBef>
              <a:defRPr sz="1050">
                <a:solidFill>
                  <a:srgbClr val="94A3B8"/>
                </a:solidFill>
              </a:defRPr>
            </a:pPr>
            <a:r>
              <a:t>ANSI/ISA-101 Ergonomic High-Performance HMI · Real-Time System Representation</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45920"/>
            <a:ext cx="10728655" cy="470916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erra_ai_showcase.jpg"/>
          <p:cNvPicPr>
            <a:picLocks noChangeAspect="1"/>
          </p:cNvPicPr>
          <p:nvPr/>
        </p:nvPicPr>
        <p:blipFill>
          <a:blip r:embed="rId3"/>
          <a:stretch>
            <a:fillRect/>
          </a:stretch>
        </p:blipFill>
        <p:spPr>
          <a:xfrm>
            <a:off x="777240" y="1691640"/>
            <a:ext cx="10637215" cy="46177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TERRAAI  |  CORE CAPABILITIES</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What TerraAI Will Do</a:t>
            </a:r>
          </a:p>
          <a:p>
            <a:pPr>
              <a:spcBef>
                <a:spcPts val="300"/>
              </a:spcBef>
              <a:defRPr sz="1050">
                <a:solidFill>
                  <a:srgbClr val="94A3B8"/>
                </a:solidFill>
              </a:defRPr>
            </a:pPr>
            <a:r>
              <a:t>Specific operational functions and engineering capabilities directly sourced from technical documentation.</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74520"/>
            <a:ext cx="4773168" cy="1828800"/>
          </a:xfrm>
          <a:prstGeom prst="rect">
            <a:avLst/>
          </a:prstGeom>
          <a:noFill/>
        </p:spPr>
        <p:txBody>
          <a:bodyPr wrap="square" lIns="0" rIns="0" tIns="0" bIns="0">
            <a:spAutoFit/>
          </a:bodyPr>
          <a:lstStyle/>
          <a:p>
            <a:pPr>
              <a:defRPr sz="850" b="1">
                <a:solidFill>
                  <a:srgbClr val="38BDF8"/>
                </a:solidFill>
              </a:defRPr>
            </a:pPr>
            <a:r>
              <a:t>PILLAR 01  |  ENGINEERING CAPABILITY</a:t>
            </a:r>
          </a:p>
          <a:p>
            <a:pPr>
              <a:spcBef>
                <a:spcPts val="300"/>
              </a:spcBef>
              <a:spcAft>
                <a:spcPts val="600"/>
              </a:spcAft>
              <a:defRPr sz="1300" b="1">
                <a:solidFill>
                  <a:srgbClr val="FFFFFF"/>
                </a:solidFill>
              </a:defRPr>
            </a:pPr>
            <a:r>
              <a:t>Autonomous Closed-Loop Control &amp; Production Optimization</a:t>
            </a:r>
          </a:p>
          <a:p>
            <a:pPr>
              <a:defRPr sz="1000">
                <a:solidFill>
                  <a:srgbClr val="F1F5F9"/>
                </a:solidFill>
              </a:defRPr>
            </a:pPr>
            <a:r>
              <a:t>Transitions plant operations from passive monitoring to autonomous action. 24x7 AI engine continuously analyzes machine telemetry, dynamically adjusts PLC/DCS setpoints, mitigates vibration anomalies on critical production lines, and maintains peak throughput without manual delays.</a:t>
            </a:r>
          </a:p>
        </p:txBody>
      </p:sp>
      <p:sp>
        <p:nvSpPr>
          <p:cNvPr id="9" name="Rounded Rectangle 8"/>
          <p:cNvSpPr/>
          <p:nvPr/>
        </p:nvSpPr>
        <p:spPr>
          <a:xfrm>
            <a:off x="6227064" y="169164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5664" y="1874520"/>
            <a:ext cx="4773168" cy="1828800"/>
          </a:xfrm>
          <a:prstGeom prst="rect">
            <a:avLst/>
          </a:prstGeom>
          <a:noFill/>
        </p:spPr>
        <p:txBody>
          <a:bodyPr wrap="square" lIns="0" rIns="0" tIns="0" bIns="0">
            <a:spAutoFit/>
          </a:bodyPr>
          <a:lstStyle/>
          <a:p>
            <a:pPr>
              <a:defRPr sz="850" b="1">
                <a:solidFill>
                  <a:srgbClr val="38BDF8"/>
                </a:solidFill>
              </a:defRPr>
            </a:pPr>
            <a:r>
              <a:t>PILLAR 02  |  ENGINEERING CAPABILITY</a:t>
            </a:r>
          </a:p>
          <a:p>
            <a:pPr>
              <a:spcBef>
                <a:spcPts val="300"/>
              </a:spcBef>
              <a:spcAft>
                <a:spcPts val="600"/>
              </a:spcAft>
              <a:defRPr sz="1300" b="1">
                <a:solidFill>
                  <a:srgbClr val="FFFFFF"/>
                </a:solidFill>
              </a:defRPr>
            </a:pPr>
            <a:r>
              <a:t>Reduced Manpower &amp; Workforce Multiplier</a:t>
            </a:r>
          </a:p>
          <a:p>
            <a:pPr>
              <a:defRPr sz="1000">
                <a:solidFill>
                  <a:srgbClr val="F1F5F9"/>
                </a:solidFill>
              </a:defRPr>
            </a:pPr>
            <a:r>
              <a:t>Drastically reduces the need for routine floor monitoring, desk watchstanders, and manual paperwork. Automatically generates maintenance work orders in ERP, correlates shift attendance shortages, and recommends optimal worker reallocation when staffing is low.</a:t>
            </a:r>
          </a:p>
        </p:txBody>
      </p:sp>
      <p:sp>
        <p:nvSpPr>
          <p:cNvPr id="11" name="Rounded Rectangle 10"/>
          <p:cNvSpPr/>
          <p:nvPr/>
        </p:nvSpPr>
        <p:spPr>
          <a:xfrm>
            <a:off x="731520" y="411480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97680"/>
            <a:ext cx="4773168" cy="1828800"/>
          </a:xfrm>
          <a:prstGeom prst="rect">
            <a:avLst/>
          </a:prstGeom>
          <a:noFill/>
        </p:spPr>
        <p:txBody>
          <a:bodyPr wrap="square" lIns="0" rIns="0" tIns="0" bIns="0">
            <a:spAutoFit/>
          </a:bodyPr>
          <a:lstStyle/>
          <a:p>
            <a:pPr>
              <a:defRPr sz="850" b="1">
                <a:solidFill>
                  <a:srgbClr val="38BDF8"/>
                </a:solidFill>
              </a:defRPr>
            </a:pPr>
            <a:r>
              <a:t>PILLAR 03  |  ENGINEERING CAPABILITY</a:t>
            </a:r>
          </a:p>
          <a:p>
            <a:pPr>
              <a:spcBef>
                <a:spcPts val="300"/>
              </a:spcBef>
              <a:spcAft>
                <a:spcPts val="600"/>
              </a:spcAft>
              <a:defRPr sz="1300" b="1">
                <a:solidFill>
                  <a:srgbClr val="FFFFFF"/>
                </a:solidFill>
              </a:defRPr>
            </a:pPr>
            <a:r>
              <a:t>Raw Material &amp; Inventory Optimization</a:t>
            </a:r>
          </a:p>
          <a:p>
            <a:pPr>
              <a:defRPr sz="1000">
                <a:solidFill>
                  <a:srgbClr val="F1F5F9"/>
                </a:solidFill>
              </a:defRPr>
            </a:pPr>
            <a:r>
              <a:t>Continuously forecasts material consumption and monitors warehouse levels. Automatically generates purchase requisitions in SAP ERP when stock drops below reorder points, calculates optimal order quantities, and cuts raw material scrap during line changeovers.</a:t>
            </a:r>
          </a:p>
        </p:txBody>
      </p:sp>
      <p:sp>
        <p:nvSpPr>
          <p:cNvPr id="13" name="Rounded Rectangle 12"/>
          <p:cNvSpPr/>
          <p:nvPr/>
        </p:nvSpPr>
        <p:spPr>
          <a:xfrm>
            <a:off x="6227064" y="411480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4297680"/>
            <a:ext cx="4773168" cy="1828800"/>
          </a:xfrm>
          <a:prstGeom prst="rect">
            <a:avLst/>
          </a:prstGeom>
          <a:noFill/>
        </p:spPr>
        <p:txBody>
          <a:bodyPr wrap="square" lIns="0" rIns="0" tIns="0" bIns="0">
            <a:spAutoFit/>
          </a:bodyPr>
          <a:lstStyle/>
          <a:p>
            <a:pPr>
              <a:defRPr sz="850" b="1">
                <a:solidFill>
                  <a:srgbClr val="38BDF8"/>
                </a:solidFill>
              </a:defRPr>
            </a:pPr>
            <a:r>
              <a:t>PILLAR 04  |  ENGINEERING CAPABILITY</a:t>
            </a:r>
          </a:p>
          <a:p>
            <a:pPr>
              <a:spcBef>
                <a:spcPts val="300"/>
              </a:spcBef>
              <a:spcAft>
                <a:spcPts val="600"/>
              </a:spcAft>
              <a:defRPr sz="1300" b="1">
                <a:solidFill>
                  <a:srgbClr val="FFFFFF"/>
                </a:solidFill>
              </a:defRPr>
            </a:pPr>
            <a:r>
              <a:t>Energy &amp; Operational Cost Efficiency</a:t>
            </a:r>
          </a:p>
          <a:p>
            <a:pPr>
              <a:defRPr sz="1000">
                <a:solidFill>
                  <a:srgbClr val="F1F5F9"/>
                </a:solidFill>
              </a:defRPr>
            </a:pPr>
            <a:r>
              <a:t>Correlates real-time power, fuel, compressed air, and water telemetry to eliminate utility waste. Instantly pinpoints pipeline leaks, balances peak electrical demand to avoid billing penalties, and optimizes thermodynamic chiller/boiler staging to lower operating costs.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TERRAAI  |  FIELD USE CASES</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Operational Use Cases &amp; Field Impact</a:t>
            </a:r>
          </a:p>
          <a:p>
            <a:pPr>
              <a:spcBef>
                <a:spcPts val="300"/>
              </a:spcBef>
              <a:defRPr sz="1050">
                <a:solidFill>
                  <a:srgbClr val="94A3B8"/>
                </a:solidFill>
              </a:defRPr>
            </a:pPr>
            <a:r>
              <a:t>Actual documented use cases across Quality Assurance, Reduced Manpower, Efficiency, and Asset Productivity.</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3429000"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56232"/>
            <a:ext cx="3063240" cy="1865376"/>
          </a:xfrm>
          <a:prstGeom prst="rect">
            <a:avLst/>
          </a:prstGeom>
          <a:noFill/>
        </p:spPr>
        <p:txBody>
          <a:bodyPr wrap="square" lIns="0" rIns="0" tIns="0" bIns="0">
            <a:spAutoFit/>
          </a:bodyPr>
          <a:lstStyle/>
          <a:p>
            <a:pPr>
              <a:defRPr sz="850" b="1">
                <a:solidFill>
                  <a:srgbClr val="34D399"/>
                </a:solidFill>
              </a:defRPr>
            </a:pPr>
            <a:r>
              <a:t>CASE 01  |  PREDICTIVE ANALYTICS &amp; MACHINE RELIABILITY</a:t>
            </a:r>
          </a:p>
          <a:p>
            <a:pPr>
              <a:spcBef>
                <a:spcPts val="200"/>
              </a:spcBef>
              <a:spcAft>
                <a:spcPts val="400"/>
              </a:spcAft>
              <a:defRPr sz="1200" b="1">
                <a:solidFill>
                  <a:srgbClr val="FFFFFF"/>
                </a:solidFill>
              </a:defRPr>
            </a:pPr>
            <a:r>
              <a:t>Supercritical Turbine Train: Autonomous Torsional Vibration &amp; Bearing Oil Whirl Mitigation</a:t>
            </a:r>
          </a:p>
          <a:p>
            <a:pPr>
              <a:defRPr sz="950">
                <a:solidFill>
                  <a:srgbClr val="F1F5F9"/>
                </a:solidFill>
              </a:defRPr>
            </a:pPr>
            <a:r>
              <a:t>Analyzes high-frequency (10 kHz) proximity probe spectra; detects incipient sub-synchronous oil whirl resonance 48 hours prior to alarm thresholds; autonomously trims governor steam admission valves via PLC and dispatches vibration engineering work orders in SAP, averting catastrophic rotor rub and $2.4M in downtime.</a:t>
            </a:r>
          </a:p>
        </p:txBody>
      </p:sp>
      <p:sp>
        <p:nvSpPr>
          <p:cNvPr id="9" name="Rounded Rectangle 8"/>
          <p:cNvSpPr/>
          <p:nvPr/>
        </p:nvSpPr>
        <p:spPr>
          <a:xfrm>
            <a:off x="4379976" y="1691640"/>
            <a:ext cx="3429000"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2856" y="1856232"/>
            <a:ext cx="3063240" cy="1865376"/>
          </a:xfrm>
          <a:prstGeom prst="rect">
            <a:avLst/>
          </a:prstGeom>
          <a:noFill/>
        </p:spPr>
        <p:txBody>
          <a:bodyPr wrap="square" lIns="0" rIns="0" tIns="0" bIns="0">
            <a:spAutoFit/>
          </a:bodyPr>
          <a:lstStyle/>
          <a:p>
            <a:pPr>
              <a:defRPr sz="850" b="1">
                <a:solidFill>
                  <a:srgbClr val="34D399"/>
                </a:solidFill>
              </a:defRPr>
            </a:pPr>
            <a:r>
              <a:t>CASE 02  |  AUTONOMOUS PROCESS OPTIMIZATION</a:t>
            </a:r>
          </a:p>
          <a:p>
            <a:pPr>
              <a:spcBef>
                <a:spcPts val="200"/>
              </a:spcBef>
              <a:spcAft>
                <a:spcPts val="400"/>
              </a:spcAft>
              <a:defRPr sz="1200" b="1">
                <a:solidFill>
                  <a:srgbClr val="FFFFFF"/>
                </a:solidFill>
              </a:defRPr>
            </a:pPr>
            <a:r>
              <a:t>Chemical Refining &amp; Utilities: Closed-Loop Multi-Variable Combustion &amp; Emission Optimization</a:t>
            </a:r>
          </a:p>
          <a:p>
            <a:pPr>
              <a:defRPr sz="950">
                <a:solidFill>
                  <a:srgbClr val="F1F5F9"/>
                </a:solidFill>
              </a:defRPr>
            </a:pPr>
            <a:r>
              <a:t>Ingests 32 continuous process variables (stack O2, NOx, fuel gas BTU, furnace draft); runs dynamic neural MPC to modulate primary air dampers and fuel staging in real time, driving a 2.1% thermal efficiency improvement and reducing NOx emissions by 14.8% without manual operator trim.</a:t>
            </a:r>
          </a:p>
        </p:txBody>
      </p:sp>
      <p:sp>
        <p:nvSpPr>
          <p:cNvPr id="11" name="Rounded Rectangle 10"/>
          <p:cNvSpPr/>
          <p:nvPr/>
        </p:nvSpPr>
        <p:spPr>
          <a:xfrm>
            <a:off x="8028432" y="1691640"/>
            <a:ext cx="3429000"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1312" y="1856232"/>
            <a:ext cx="3063240" cy="1865376"/>
          </a:xfrm>
          <a:prstGeom prst="rect">
            <a:avLst/>
          </a:prstGeom>
          <a:noFill/>
        </p:spPr>
        <p:txBody>
          <a:bodyPr wrap="square" lIns="0" rIns="0" tIns="0" bIns="0">
            <a:spAutoFit/>
          </a:bodyPr>
          <a:lstStyle/>
          <a:p>
            <a:pPr>
              <a:defRPr sz="850" b="1">
                <a:solidFill>
                  <a:srgbClr val="34D399"/>
                </a:solidFill>
              </a:defRPr>
            </a:pPr>
            <a:r>
              <a:t>CASE 03  |  MISSION-CRITICAL GRID AUTONOMY</a:t>
            </a:r>
          </a:p>
          <a:p>
            <a:pPr>
              <a:spcBef>
                <a:spcPts val="200"/>
              </a:spcBef>
              <a:spcAft>
                <a:spcPts val="400"/>
              </a:spcAft>
              <a:defRPr sz="1200" b="1">
                <a:solidFill>
                  <a:srgbClr val="FFFFFF"/>
                </a:solidFill>
              </a:defRPr>
            </a:pPr>
            <a:r>
              <a:t>Extra-High Voltage (EHV) Transmission: Autonomous Substation Islanding &amp; Synchrophasor PMU Analytics</a:t>
            </a:r>
          </a:p>
          <a:p>
            <a:pPr>
              <a:defRPr sz="950">
                <a:solidFill>
                  <a:srgbClr val="F1F5F9"/>
                </a:solidFill>
              </a:defRPr>
            </a:pPr>
            <a:r>
              <a:t>Continuously computes Rate of Change of Frequency (ROCOF) and voltage vector phase angles from IEEE C37.118 PMUs; autonomously isolates faulty 400kV bus sections and re-balances localized microgrid generation within 18 milliseconds during sudden line tripping, preventing regional cascading blackouts.</a:t>
            </a:r>
          </a:p>
        </p:txBody>
      </p:sp>
      <p:sp>
        <p:nvSpPr>
          <p:cNvPr id="13" name="Rounded Rectangle 12"/>
          <p:cNvSpPr/>
          <p:nvPr/>
        </p:nvSpPr>
        <p:spPr>
          <a:xfrm>
            <a:off x="731520" y="411480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279392"/>
            <a:ext cx="4864608" cy="1865376"/>
          </a:xfrm>
          <a:prstGeom prst="rect">
            <a:avLst/>
          </a:prstGeom>
          <a:noFill/>
        </p:spPr>
        <p:txBody>
          <a:bodyPr wrap="square" lIns="0" rIns="0" tIns="0" bIns="0">
            <a:spAutoFit/>
          </a:bodyPr>
          <a:lstStyle/>
          <a:p>
            <a:pPr>
              <a:defRPr sz="850" b="1">
                <a:solidFill>
                  <a:srgbClr val="34D399"/>
                </a:solidFill>
              </a:defRPr>
            </a:pPr>
            <a:r>
              <a:t>CASE 04  |  THERMODYNAMIC ENERGY ANALYTICS</a:t>
            </a:r>
          </a:p>
          <a:p>
            <a:pPr>
              <a:spcBef>
                <a:spcPts val="200"/>
              </a:spcBef>
              <a:spcAft>
                <a:spcPts val="400"/>
              </a:spcAft>
              <a:defRPr sz="1200" b="1">
                <a:solidFill>
                  <a:srgbClr val="FFFFFF"/>
                </a:solidFill>
              </a:defRPr>
            </a:pPr>
            <a:r>
              <a:t>District Energy &amp; Industrial Chillers: Autonomous Low Delta-T Elimination &amp; Thermodynamic Staging</a:t>
            </a:r>
          </a:p>
          <a:p>
            <a:pPr>
              <a:defRPr sz="950">
                <a:solidFill>
                  <a:srgbClr val="F1F5F9"/>
                </a:solidFill>
              </a:defRPr>
            </a:pPr>
            <a:r>
              <a:t>Evaluates real-time chiller COP curves, condenser approach temperatures, and variable secondary pumping hydraulics; autonomously shifts chiller staging sequences and resets chilled water supply temperature, eliminating low delta-T syndrome and cutting campus cooling power by 23.6%.</a:t>
            </a:r>
          </a:p>
        </p:txBody>
      </p:sp>
      <p:sp>
        <p:nvSpPr>
          <p:cNvPr id="15" name="Rounded Rectangle 14"/>
          <p:cNvSpPr/>
          <p:nvPr/>
        </p:nvSpPr>
        <p:spPr>
          <a:xfrm>
            <a:off x="6227064" y="411480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9944" y="4279392"/>
            <a:ext cx="4864608" cy="1865376"/>
          </a:xfrm>
          <a:prstGeom prst="rect">
            <a:avLst/>
          </a:prstGeom>
          <a:noFill/>
        </p:spPr>
        <p:txBody>
          <a:bodyPr wrap="square" lIns="0" rIns="0" tIns="0" bIns="0">
            <a:spAutoFit/>
          </a:bodyPr>
          <a:lstStyle/>
          <a:p>
            <a:pPr>
              <a:defRPr sz="850" b="1">
                <a:solidFill>
                  <a:srgbClr val="34D399"/>
                </a:solidFill>
              </a:defRPr>
            </a:pPr>
            <a:r>
              <a:t>CASE 05  |  AUTONOMOUS VISION &amp; LIFE-SAFETY</a:t>
            </a:r>
          </a:p>
          <a:p>
            <a:pPr>
              <a:spcBef>
                <a:spcPts val="200"/>
              </a:spcBef>
              <a:spcAft>
                <a:spcPts val="400"/>
              </a:spcAft>
              <a:defRPr sz="1200" b="1">
                <a:solidFill>
                  <a:srgbClr val="FFFFFF"/>
                </a:solidFill>
              </a:defRPr>
            </a:pPr>
            <a:r>
              <a:t>Hazardous Hydrocarbon Processing: Vision-Interlocked Autonomous Vapor Containment &amp; Emergency Isolation</a:t>
            </a:r>
          </a:p>
          <a:p>
            <a:pPr>
              <a:defRPr sz="950">
                <a:solidFill>
                  <a:srgbClr val="F1F5F9"/>
                </a:solidFill>
              </a:defRPr>
            </a:pPr>
            <a:r>
              <a:t>Multi-spectral optical gas imaging combined with acoustic leak sensor arrays detects volatile organic compound (VOC) micro-fugitive leaks; autonomously isolates pneumatic pipeline block valves, activates targeted nitrogen purges, and dispatches safety alarms with geotagged thermal snapshots within 1.2 seconds.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TERRAAI  |  ARCHITECTURAL CONTRAST</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Comparison with Traditional SCADA / Legacy Systems</a:t>
            </a:r>
          </a:p>
          <a:p>
            <a:pPr>
              <a:spcBef>
                <a:spcPts val="300"/>
              </a:spcBef>
              <a:defRPr sz="1050">
                <a:solidFill>
                  <a:srgbClr val="94A3B8"/>
                </a:solidFill>
              </a:defRPr>
            </a:pPr>
            <a:r>
              <a:t>Point-by-point contrast demonstrating the technological shift from legacy industrial automation to the Terrestrial Platform.</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5230368" cy="502920"/>
          </a:xfrm>
          <a:prstGeom prst="roundRect">
            <a:avLst/>
          </a:prstGeom>
          <a:solidFill>
            <a:srgbClr val="1C1216"/>
          </a:solidFill>
          <a:ln w="12700">
            <a:solidFill>
              <a:srgbClr val="501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83080"/>
            <a:ext cx="4937760" cy="320040"/>
          </a:xfrm>
          <a:prstGeom prst="rect">
            <a:avLst/>
          </a:prstGeom>
          <a:noFill/>
        </p:spPr>
        <p:txBody>
          <a:bodyPr wrap="none">
            <a:spAutoFit/>
          </a:bodyPr>
          <a:lstStyle/>
          <a:p>
            <a:pPr>
              <a:defRPr sz="1100" b="1">
                <a:solidFill>
                  <a:srgbClr val="EF4444"/>
                </a:solidFill>
              </a:defRPr>
            </a:pPr>
            <a:r>
              <a:t>TRADITIONAL LEGACY SYSTEMS / SILOED SCADA</a:t>
            </a:r>
          </a:p>
        </p:txBody>
      </p:sp>
      <p:sp>
        <p:nvSpPr>
          <p:cNvPr id="9" name="Rounded Rectangle 8"/>
          <p:cNvSpPr/>
          <p:nvPr/>
        </p:nvSpPr>
        <p:spPr>
          <a:xfrm>
            <a:off x="6227064" y="1691640"/>
            <a:ext cx="5230368" cy="502920"/>
          </a:xfrm>
          <a:prstGeom prst="roundRect">
            <a:avLst/>
          </a:prstGeom>
          <a:solidFill>
            <a:srgbClr val="0F1C26"/>
          </a:solidFill>
          <a:ln w="12700">
            <a:solidFill>
              <a:srgbClr val="194B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1783080"/>
            <a:ext cx="4937760" cy="320040"/>
          </a:xfrm>
          <a:prstGeom prst="rect">
            <a:avLst/>
          </a:prstGeom>
          <a:noFill/>
        </p:spPr>
        <p:txBody>
          <a:bodyPr wrap="none">
            <a:spAutoFit/>
          </a:bodyPr>
          <a:lstStyle/>
          <a:p>
            <a:pPr>
              <a:defRPr sz="1100" b="1">
                <a:solidFill>
                  <a:srgbClr val="38BDF8"/>
                </a:solidFill>
              </a:defRPr>
            </a:pPr>
            <a:r>
              <a:t>TERRAAI TERRESTRIAL PLATFORM ADVANTAGE</a:t>
            </a:r>
          </a:p>
        </p:txBody>
      </p:sp>
      <p:sp>
        <p:nvSpPr>
          <p:cNvPr id="11" name="Rounded Rectangle 10"/>
          <p:cNvSpPr/>
          <p:nvPr/>
        </p:nvSpPr>
        <p:spPr>
          <a:xfrm>
            <a:off x="731520" y="2286000"/>
            <a:ext cx="5230368" cy="735177"/>
          </a:xfrm>
          <a:prstGeom prst="roundRect">
            <a:avLst/>
          </a:prstGeom>
          <a:solidFill>
            <a:srgbClr val="1C1216"/>
          </a:solidFill>
          <a:ln w="12700">
            <a:solidFill>
              <a:srgbClr val="501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359152"/>
            <a:ext cx="4956048" cy="588873"/>
          </a:xfrm>
          <a:prstGeom prst="rect">
            <a:avLst/>
          </a:prstGeom>
          <a:noFill/>
        </p:spPr>
        <p:txBody>
          <a:bodyPr wrap="square" lIns="0" rIns="0" tIns="0" bIns="0">
            <a:spAutoFit/>
          </a:bodyPr>
          <a:lstStyle/>
          <a:p>
            <a:pPr>
              <a:defRPr sz="900">
                <a:solidFill>
                  <a:srgbClr val="F1F5F9"/>
                </a:solidFill>
              </a:defRPr>
            </a:pPr>
            <a:r>
              <a:t>Reactive high/low threshold limit alarms trigger only after physical process degradation has already breached safety margins.</a:t>
            </a:r>
          </a:p>
        </p:txBody>
      </p:sp>
      <p:sp>
        <p:nvSpPr>
          <p:cNvPr id="13" name="Rounded Rectangle 12"/>
          <p:cNvSpPr/>
          <p:nvPr/>
        </p:nvSpPr>
        <p:spPr>
          <a:xfrm>
            <a:off x="6227064" y="2286000"/>
            <a:ext cx="5230368" cy="735177"/>
          </a:xfrm>
          <a:prstGeom prst="roundRect">
            <a:avLst/>
          </a:prstGeom>
          <a:solidFill>
            <a:srgbClr val="0F1C26"/>
          </a:solidFill>
          <a:ln w="12700">
            <a:solidFill>
              <a:srgbClr val="194B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4224" y="2359152"/>
            <a:ext cx="4956048" cy="588873"/>
          </a:xfrm>
          <a:prstGeom prst="rect">
            <a:avLst/>
          </a:prstGeom>
          <a:noFill/>
        </p:spPr>
        <p:txBody>
          <a:bodyPr wrap="square" lIns="0" rIns="0" tIns="0" bIns="0">
            <a:spAutoFit/>
          </a:bodyPr>
          <a:lstStyle/>
          <a:p>
            <a:pPr>
              <a:defRPr sz="900" b="1">
                <a:solidFill>
                  <a:srgbClr val="34D399"/>
                </a:solidFill>
              </a:defRPr>
            </a:pPr>
            <a:r>
              <a:t>Physics-Informed Neural Operators (PINO) forecast multi-variable thermal, electrical, and mechanical asset trajectories up to 72 hours ahead.</a:t>
            </a:r>
          </a:p>
        </p:txBody>
      </p:sp>
      <p:sp>
        <p:nvSpPr>
          <p:cNvPr id="15" name="Rounded Rectangle 14"/>
          <p:cNvSpPr/>
          <p:nvPr/>
        </p:nvSpPr>
        <p:spPr>
          <a:xfrm>
            <a:off x="731520" y="3130905"/>
            <a:ext cx="5230368" cy="735177"/>
          </a:xfrm>
          <a:prstGeom prst="roundRect">
            <a:avLst/>
          </a:prstGeom>
          <a:solidFill>
            <a:srgbClr val="1C1216"/>
          </a:solidFill>
          <a:ln w="12700">
            <a:solidFill>
              <a:srgbClr val="501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204057"/>
            <a:ext cx="4956048" cy="588873"/>
          </a:xfrm>
          <a:prstGeom prst="rect">
            <a:avLst/>
          </a:prstGeom>
          <a:noFill/>
        </p:spPr>
        <p:txBody>
          <a:bodyPr wrap="square" lIns="0" rIns="0" tIns="0" bIns="0">
            <a:spAutoFit/>
          </a:bodyPr>
          <a:lstStyle/>
          <a:p>
            <a:pPr>
              <a:defRPr sz="900">
                <a:solidFill>
                  <a:srgbClr val="F1F5F9"/>
                </a:solidFill>
              </a:defRPr>
            </a:pPr>
            <a:r>
              <a:t>Operators must manually adjust setpoints, radio field technicians, and type manual maintenance tickets across separate software silos.</a:t>
            </a:r>
          </a:p>
        </p:txBody>
      </p:sp>
      <p:sp>
        <p:nvSpPr>
          <p:cNvPr id="17" name="Rounded Rectangle 16"/>
          <p:cNvSpPr/>
          <p:nvPr/>
        </p:nvSpPr>
        <p:spPr>
          <a:xfrm>
            <a:off x="6227064" y="3130905"/>
            <a:ext cx="5230368" cy="735177"/>
          </a:xfrm>
          <a:prstGeom prst="roundRect">
            <a:avLst/>
          </a:prstGeom>
          <a:solidFill>
            <a:srgbClr val="0F1C26"/>
          </a:solidFill>
          <a:ln w="12700">
            <a:solidFill>
              <a:srgbClr val="194B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3204057"/>
            <a:ext cx="4956048" cy="588873"/>
          </a:xfrm>
          <a:prstGeom prst="rect">
            <a:avLst/>
          </a:prstGeom>
          <a:noFill/>
        </p:spPr>
        <p:txBody>
          <a:bodyPr wrap="square" lIns="0" rIns="0" tIns="0" bIns="0">
            <a:spAutoFit/>
          </a:bodyPr>
          <a:lstStyle/>
          <a:p>
            <a:pPr>
              <a:defRPr sz="900" b="1">
                <a:solidFill>
                  <a:srgbClr val="34D399"/>
                </a:solidFill>
              </a:defRPr>
            </a:pPr>
            <a:r>
              <a:t>Automated Alert-to-Action pipeline executes sub-25ms supervisory setpoint optimization and auto-generates ERP work orders without human latency.</a:t>
            </a:r>
          </a:p>
        </p:txBody>
      </p:sp>
      <p:sp>
        <p:nvSpPr>
          <p:cNvPr id="19" name="Rounded Rectangle 18"/>
          <p:cNvSpPr/>
          <p:nvPr/>
        </p:nvSpPr>
        <p:spPr>
          <a:xfrm>
            <a:off x="731520" y="3975811"/>
            <a:ext cx="5230368" cy="735177"/>
          </a:xfrm>
          <a:prstGeom prst="roundRect">
            <a:avLst/>
          </a:prstGeom>
          <a:solidFill>
            <a:srgbClr val="1C1216"/>
          </a:solidFill>
          <a:ln w="12700">
            <a:solidFill>
              <a:srgbClr val="501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048963"/>
            <a:ext cx="4956048" cy="588873"/>
          </a:xfrm>
          <a:prstGeom prst="rect">
            <a:avLst/>
          </a:prstGeom>
          <a:noFill/>
        </p:spPr>
        <p:txBody>
          <a:bodyPr wrap="square" lIns="0" rIns="0" tIns="0" bIns="0">
            <a:spAutoFit/>
          </a:bodyPr>
          <a:lstStyle/>
          <a:p>
            <a:pPr>
              <a:defRPr sz="900">
                <a:solidFill>
                  <a:srgbClr val="F1F5F9"/>
                </a:solidFill>
              </a:defRPr>
            </a:pPr>
            <a:r>
              <a:t>Operators must memorize hundreds of cryptic tag IDs and navigate rigid, siloed hierarchical software menus across dozens of monitors.</a:t>
            </a:r>
          </a:p>
        </p:txBody>
      </p:sp>
      <p:sp>
        <p:nvSpPr>
          <p:cNvPr id="21" name="Rounded Rectangle 20"/>
          <p:cNvSpPr/>
          <p:nvPr/>
        </p:nvSpPr>
        <p:spPr>
          <a:xfrm>
            <a:off x="6227064" y="3975811"/>
            <a:ext cx="5230368" cy="735177"/>
          </a:xfrm>
          <a:prstGeom prst="roundRect">
            <a:avLst/>
          </a:prstGeom>
          <a:solidFill>
            <a:srgbClr val="0F1C26"/>
          </a:solidFill>
          <a:ln w="12700">
            <a:solidFill>
              <a:srgbClr val="194B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4048963"/>
            <a:ext cx="4956048" cy="588873"/>
          </a:xfrm>
          <a:prstGeom prst="rect">
            <a:avLst/>
          </a:prstGeom>
          <a:noFill/>
        </p:spPr>
        <p:txBody>
          <a:bodyPr wrap="square" lIns="0" rIns="0" tIns="0" bIns="0">
            <a:spAutoFit/>
          </a:bodyPr>
          <a:lstStyle/>
          <a:p>
            <a:pPr>
              <a:defRPr sz="900" b="1">
                <a:solidFill>
                  <a:srgbClr val="34D399"/>
                </a:solidFill>
              </a:defRPr>
            </a:pPr>
            <a:r>
              <a:t>Unified cross-system semantic knowledge fabric allows natural language queries (e.g. 'Correlate heat exchanger fouling against fuel blend changes over 30 days').</a:t>
            </a:r>
          </a:p>
        </p:txBody>
      </p:sp>
      <p:sp>
        <p:nvSpPr>
          <p:cNvPr id="23" name="Rounded Rectangle 22"/>
          <p:cNvSpPr/>
          <p:nvPr/>
        </p:nvSpPr>
        <p:spPr>
          <a:xfrm>
            <a:off x="731520" y="4820716"/>
            <a:ext cx="5230368" cy="735177"/>
          </a:xfrm>
          <a:prstGeom prst="roundRect">
            <a:avLst/>
          </a:prstGeom>
          <a:solidFill>
            <a:srgbClr val="1C1216"/>
          </a:solidFill>
          <a:ln w="12700">
            <a:solidFill>
              <a:srgbClr val="501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4893868"/>
            <a:ext cx="4956048" cy="588873"/>
          </a:xfrm>
          <a:prstGeom prst="rect">
            <a:avLst/>
          </a:prstGeom>
          <a:noFill/>
        </p:spPr>
        <p:txBody>
          <a:bodyPr wrap="square" lIns="0" rIns="0" tIns="0" bIns="0">
            <a:spAutoFit/>
          </a:bodyPr>
          <a:lstStyle/>
          <a:p>
            <a:pPr>
              <a:defRPr sz="900">
                <a:solidFill>
                  <a:srgbClr val="F1F5F9"/>
                </a:solidFill>
              </a:defRPr>
            </a:pPr>
            <a:r>
              <a:t>Single-input single-output (SISO) PID controllers struggle with non-linear cross-coupling, dead times, and seasonal ambient fluctuations.</a:t>
            </a:r>
          </a:p>
        </p:txBody>
      </p:sp>
      <p:sp>
        <p:nvSpPr>
          <p:cNvPr id="25" name="Rounded Rectangle 24"/>
          <p:cNvSpPr/>
          <p:nvPr/>
        </p:nvSpPr>
        <p:spPr>
          <a:xfrm>
            <a:off x="6227064" y="4820716"/>
            <a:ext cx="5230368" cy="735177"/>
          </a:xfrm>
          <a:prstGeom prst="roundRect">
            <a:avLst/>
          </a:prstGeom>
          <a:solidFill>
            <a:srgbClr val="0F1C26"/>
          </a:solidFill>
          <a:ln w="12700">
            <a:solidFill>
              <a:srgbClr val="194B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4893868"/>
            <a:ext cx="4956048" cy="588873"/>
          </a:xfrm>
          <a:prstGeom prst="rect">
            <a:avLst/>
          </a:prstGeom>
          <a:noFill/>
        </p:spPr>
        <p:txBody>
          <a:bodyPr wrap="square" lIns="0" rIns="0" tIns="0" bIns="0">
            <a:spAutoFit/>
          </a:bodyPr>
          <a:lstStyle/>
          <a:p>
            <a:pPr>
              <a:defRPr sz="900" b="1">
                <a:solidFill>
                  <a:srgbClr val="34D399"/>
                </a:solidFill>
              </a:defRPr>
            </a:pPr>
            <a:r>
              <a:t>Dynamic multi-input multi-output (MIMO) Model Predictive Control constantly re-evaluates multi-variable trade-offs to maximize efficiency within safety envelopes.</a:t>
            </a:r>
          </a:p>
        </p:txBody>
      </p:sp>
      <p:sp>
        <p:nvSpPr>
          <p:cNvPr id="27" name="Rounded Rectangle 26"/>
          <p:cNvSpPr/>
          <p:nvPr/>
        </p:nvSpPr>
        <p:spPr>
          <a:xfrm>
            <a:off x="731520" y="5665622"/>
            <a:ext cx="5230368" cy="735177"/>
          </a:xfrm>
          <a:prstGeom prst="roundRect">
            <a:avLst/>
          </a:prstGeom>
          <a:solidFill>
            <a:srgbClr val="1C1216"/>
          </a:solidFill>
          <a:ln w="12700">
            <a:solidFill>
              <a:srgbClr val="501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8680" y="5738774"/>
            <a:ext cx="4956048" cy="588873"/>
          </a:xfrm>
          <a:prstGeom prst="rect">
            <a:avLst/>
          </a:prstGeom>
          <a:noFill/>
        </p:spPr>
        <p:txBody>
          <a:bodyPr wrap="square" lIns="0" rIns="0" tIns="0" bIns="0">
            <a:spAutoFit/>
          </a:bodyPr>
          <a:lstStyle/>
          <a:p>
            <a:pPr>
              <a:defRPr sz="900">
                <a:solidFill>
                  <a:srgbClr val="F1F5F9"/>
                </a:solidFill>
              </a:defRPr>
            </a:pPr>
            <a:r>
              <a:t>Alarm floods of 2,000+ alarms per minute during plant trips overwhelm operators, requiring days of manual post-mortem trip log forensics.</a:t>
            </a:r>
          </a:p>
        </p:txBody>
      </p:sp>
      <p:sp>
        <p:nvSpPr>
          <p:cNvPr id="29" name="Rounded Rectangle 28"/>
          <p:cNvSpPr/>
          <p:nvPr/>
        </p:nvSpPr>
        <p:spPr>
          <a:xfrm>
            <a:off x="6227064" y="5665622"/>
            <a:ext cx="5230368" cy="735177"/>
          </a:xfrm>
          <a:prstGeom prst="roundRect">
            <a:avLst/>
          </a:prstGeom>
          <a:solidFill>
            <a:srgbClr val="0F1C26"/>
          </a:solidFill>
          <a:ln w="12700">
            <a:solidFill>
              <a:srgbClr val="194B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64224" y="5738774"/>
            <a:ext cx="4956048" cy="588873"/>
          </a:xfrm>
          <a:prstGeom prst="rect">
            <a:avLst/>
          </a:prstGeom>
          <a:noFill/>
        </p:spPr>
        <p:txBody>
          <a:bodyPr wrap="square" lIns="0" rIns="0" tIns="0" bIns="0">
            <a:spAutoFit/>
          </a:bodyPr>
          <a:lstStyle/>
          <a:p>
            <a:pPr>
              <a:defRPr sz="900" b="1">
                <a:solidFill>
                  <a:srgbClr val="34D399"/>
                </a:solidFill>
              </a:defRPr>
            </a:pPr>
            <a:r>
              <a:t>Real-time directed causal graphs (DAGs) automatically de-duplicate alarm avalanches, pinpointing the single initiating root cause within 50 milliseconds.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TERRAAI  |  SYSTEM ARCHITECTURE</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End-to-End System Diagram &amp; Data Pipeline</a:t>
            </a:r>
          </a:p>
          <a:p>
            <a:pPr>
              <a:spcBef>
                <a:spcPts val="300"/>
              </a:spcBef>
              <a:defRPr sz="1050">
                <a:solidFill>
                  <a:srgbClr val="94A3B8"/>
                </a:solidFill>
              </a:defRPr>
            </a:pPr>
            <a:r>
              <a:t>Visual architecture diagram representing field telemetry ingestion, deterministic edge fabric, AI reasoning, and closed-loop actuation.</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2514600" cy="36118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856232"/>
            <a:ext cx="2185416" cy="3282696"/>
          </a:xfrm>
          <a:prstGeom prst="rect">
            <a:avLst/>
          </a:prstGeom>
          <a:noFill/>
        </p:spPr>
        <p:txBody>
          <a:bodyPr wrap="square" lIns="0" rIns="0" tIns="0" bIns="0">
            <a:spAutoFit/>
          </a:bodyPr>
          <a:lstStyle/>
          <a:p>
            <a:pPr>
              <a:defRPr sz="850" b="1">
                <a:solidFill>
                  <a:srgbClr val="38BDF8"/>
                </a:solidFill>
              </a:defRPr>
            </a:pPr>
            <a:r>
              <a:t>LAYER 01</a:t>
            </a:r>
          </a:p>
          <a:p>
            <a:pPr>
              <a:spcBef>
                <a:spcPts val="300"/>
              </a:spcBef>
              <a:spcAft>
                <a:spcPts val="600"/>
              </a:spcAft>
              <a:defRPr sz="1200" b="1">
                <a:solidFill>
                  <a:srgbClr val="FFFFFF"/>
                </a:solidFill>
              </a:defRPr>
            </a:pPr>
            <a:r>
              <a:t>Multi-Protocol Field Ingestion</a:t>
            </a:r>
          </a:p>
          <a:p>
            <a:pPr>
              <a:spcAft>
                <a:spcPts val="800"/>
              </a:spcAft>
              <a:defRPr sz="900">
                <a:solidFill>
                  <a:srgbClr val="F1F5F9"/>
                </a:solidFill>
              </a:defRPr>
            </a:pPr>
            <a:r>
              <a:t>Sub-millisecond multi-protocol telemetry acquisition aggregating DCS, PLCs, RTUs, smart transmitters, and plant-wide sensor networks.</a:t>
            </a:r>
          </a:p>
          <a:p>
            <a:pPr>
              <a:spcBef>
                <a:spcPts val="400"/>
              </a:spcBef>
              <a:defRPr sz="800" b="1">
                <a:solidFill>
                  <a:srgbClr val="94A3B8"/>
                </a:solidFill>
              </a:defRPr>
            </a:pPr>
            <a:r>
              <a:t>PROTOCOLS &amp; STANDARDS:</a:t>
            </a:r>
          </a:p>
          <a:p>
            <a:pPr>
              <a:spcBef>
                <a:spcPts val="200"/>
              </a:spcBef>
              <a:defRPr sz="850">
                <a:solidFill>
                  <a:srgbClr val="34D399"/>
                </a:solidFill>
              </a:defRPr>
            </a:pPr>
            <a:r>
              <a:t> • OPC UA / TSN</a:t>
            </a:r>
            <a:br/>
            <a:r>
              <a:t> • IEC 61850 MMS</a:t>
            </a:r>
            <a:br/>
            <a:r>
              <a:t> • MQTT Sparkplug B</a:t>
            </a:r>
          </a:p>
        </p:txBody>
      </p:sp>
      <p:sp>
        <p:nvSpPr>
          <p:cNvPr id="9" name="Rounded Rectangle 8"/>
          <p:cNvSpPr/>
          <p:nvPr/>
        </p:nvSpPr>
        <p:spPr>
          <a:xfrm>
            <a:off x="3465576" y="1691640"/>
            <a:ext cx="2514600" cy="36118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30168" y="1856232"/>
            <a:ext cx="2185416" cy="3282696"/>
          </a:xfrm>
          <a:prstGeom prst="rect">
            <a:avLst/>
          </a:prstGeom>
          <a:noFill/>
        </p:spPr>
        <p:txBody>
          <a:bodyPr wrap="square" lIns="0" rIns="0" tIns="0" bIns="0">
            <a:spAutoFit/>
          </a:bodyPr>
          <a:lstStyle/>
          <a:p>
            <a:pPr>
              <a:defRPr sz="850" b="1">
                <a:solidFill>
                  <a:srgbClr val="38BDF8"/>
                </a:solidFill>
              </a:defRPr>
            </a:pPr>
            <a:r>
              <a:t>LAYER 02</a:t>
            </a:r>
          </a:p>
          <a:p>
            <a:pPr>
              <a:spcBef>
                <a:spcPts val="300"/>
              </a:spcBef>
              <a:spcAft>
                <a:spcPts val="600"/>
              </a:spcAft>
              <a:defRPr sz="1200" b="1">
                <a:solidFill>
                  <a:srgbClr val="FFFFFF"/>
                </a:solidFill>
              </a:defRPr>
            </a:pPr>
            <a:r>
              <a:t>Deterministic Edge Stream Bus</a:t>
            </a:r>
          </a:p>
          <a:p>
            <a:pPr>
              <a:spcAft>
                <a:spcPts val="800"/>
              </a:spcAft>
              <a:defRPr sz="900">
                <a:solidFill>
                  <a:srgbClr val="F1F5F9"/>
                </a:solidFill>
              </a:defRPr>
            </a:pPr>
            <a:r>
              <a:t>Ultra-high-throughput event streaming fabric, lossless telemetry compression, dynamic jitter smoothing, and unified schema normalization.</a:t>
            </a:r>
          </a:p>
          <a:p>
            <a:pPr>
              <a:spcBef>
                <a:spcPts val="400"/>
              </a:spcBef>
              <a:defRPr sz="800" b="1">
                <a:solidFill>
                  <a:srgbClr val="94A3B8"/>
                </a:solidFill>
              </a:defRPr>
            </a:pPr>
            <a:r>
              <a:t>PROTOCOLS &amp; STANDARDS:</a:t>
            </a:r>
          </a:p>
          <a:p>
            <a:pPr>
              <a:spcBef>
                <a:spcPts val="200"/>
              </a:spcBef>
              <a:defRPr sz="850">
                <a:solidFill>
                  <a:srgbClr val="34D399"/>
                </a:solidFill>
              </a:defRPr>
            </a:pPr>
            <a:r>
              <a:t> • Event Stream Bus</a:t>
            </a:r>
            <a:br/>
            <a:r>
              <a:t> • Lossless Compression</a:t>
            </a:r>
            <a:br/>
            <a:r>
              <a:t> • Sub-25ms Stream</a:t>
            </a:r>
          </a:p>
        </p:txBody>
      </p:sp>
      <p:sp>
        <p:nvSpPr>
          <p:cNvPr id="11" name="Rounded Rectangle 10"/>
          <p:cNvSpPr/>
          <p:nvPr/>
        </p:nvSpPr>
        <p:spPr>
          <a:xfrm>
            <a:off x="6199632" y="1691640"/>
            <a:ext cx="2514600" cy="36118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4224" y="1856232"/>
            <a:ext cx="2185416" cy="3282696"/>
          </a:xfrm>
          <a:prstGeom prst="rect">
            <a:avLst/>
          </a:prstGeom>
          <a:noFill/>
        </p:spPr>
        <p:txBody>
          <a:bodyPr wrap="square" lIns="0" rIns="0" tIns="0" bIns="0">
            <a:spAutoFit/>
          </a:bodyPr>
          <a:lstStyle/>
          <a:p>
            <a:pPr>
              <a:defRPr sz="850" b="1">
                <a:solidFill>
                  <a:srgbClr val="38BDF8"/>
                </a:solidFill>
              </a:defRPr>
            </a:pPr>
            <a:r>
              <a:t>LAYER 03</a:t>
            </a:r>
          </a:p>
          <a:p>
            <a:pPr>
              <a:spcBef>
                <a:spcPts val="300"/>
              </a:spcBef>
              <a:spcAft>
                <a:spcPts val="600"/>
              </a:spcAft>
              <a:defRPr sz="1200" b="1">
                <a:solidFill>
                  <a:srgbClr val="FFFFFF"/>
                </a:solidFill>
              </a:defRPr>
            </a:pPr>
            <a:r>
              <a:t>Physics-Informed Predictive Core</a:t>
            </a:r>
          </a:p>
          <a:p>
            <a:pPr>
              <a:spcAft>
                <a:spcPts val="800"/>
              </a:spcAft>
              <a:defRPr sz="900">
                <a:solidFill>
                  <a:srgbClr val="F1F5F9"/>
                </a:solidFill>
              </a:defRPr>
            </a:pPr>
            <a:r>
              <a:t>Physics-Informed Neural Operators (PINO), 72h multivariate lookahead forecasting, dynamic MIMO MPC, and causal graph root-cause attribution.</a:t>
            </a:r>
          </a:p>
          <a:p>
            <a:pPr>
              <a:spcBef>
                <a:spcPts val="400"/>
              </a:spcBef>
              <a:defRPr sz="800" b="1">
                <a:solidFill>
                  <a:srgbClr val="94A3B8"/>
                </a:solidFill>
              </a:defRPr>
            </a:pPr>
            <a:r>
              <a:t>PROTOCOLS &amp; STANDARDS:</a:t>
            </a:r>
          </a:p>
          <a:p>
            <a:pPr>
              <a:spcBef>
                <a:spcPts val="200"/>
              </a:spcBef>
              <a:defRPr sz="850">
                <a:solidFill>
                  <a:srgbClr val="34D399"/>
                </a:solidFill>
              </a:defRPr>
            </a:pPr>
            <a:r>
              <a:t> • PINO Neural Ops</a:t>
            </a:r>
            <a:br/>
            <a:r>
              <a:t> • MIMO MPC Engine</a:t>
            </a:r>
            <a:br/>
            <a:r>
              <a:t> • Causal Graph RCFA</a:t>
            </a:r>
          </a:p>
        </p:txBody>
      </p:sp>
      <p:sp>
        <p:nvSpPr>
          <p:cNvPr id="13" name="Rounded Rectangle 12"/>
          <p:cNvSpPr/>
          <p:nvPr/>
        </p:nvSpPr>
        <p:spPr>
          <a:xfrm>
            <a:off x="8933688" y="1691640"/>
            <a:ext cx="2514600" cy="36118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1856232"/>
            <a:ext cx="2185416" cy="3282696"/>
          </a:xfrm>
          <a:prstGeom prst="rect">
            <a:avLst/>
          </a:prstGeom>
          <a:noFill/>
        </p:spPr>
        <p:txBody>
          <a:bodyPr wrap="square" lIns="0" rIns="0" tIns="0" bIns="0">
            <a:spAutoFit/>
          </a:bodyPr>
          <a:lstStyle/>
          <a:p>
            <a:pPr>
              <a:defRPr sz="850" b="1">
                <a:solidFill>
                  <a:srgbClr val="38BDF8"/>
                </a:solidFill>
              </a:defRPr>
            </a:pPr>
            <a:r>
              <a:t>LAYER 04</a:t>
            </a:r>
          </a:p>
          <a:p>
            <a:pPr>
              <a:spcBef>
                <a:spcPts val="300"/>
              </a:spcBef>
              <a:spcAft>
                <a:spcPts val="600"/>
              </a:spcAft>
              <a:defRPr sz="1200" b="1">
                <a:solidFill>
                  <a:srgbClr val="FFFFFF"/>
                </a:solidFill>
              </a:defRPr>
            </a:pPr>
            <a:r>
              <a:t>Autonomous Closed-Loop Cockpit</a:t>
            </a:r>
          </a:p>
          <a:p>
            <a:pPr>
              <a:spcAft>
                <a:spcPts val="800"/>
              </a:spcAft>
              <a:defRPr sz="900">
                <a:solidFill>
                  <a:srgbClr val="F1F5F9"/>
                </a:solidFill>
              </a:defRPr>
            </a:pPr>
            <a:r>
              <a:t>Deterministic supervisory setpoint modulation, automated ERP/CMMS work order orchestration, and ANSI/ISA-101 high-performance operational cockpits.</a:t>
            </a:r>
          </a:p>
          <a:p>
            <a:pPr>
              <a:spcBef>
                <a:spcPts val="400"/>
              </a:spcBef>
              <a:defRPr sz="800" b="1">
                <a:solidFill>
                  <a:srgbClr val="94A3B8"/>
                </a:solidFill>
              </a:defRPr>
            </a:pPr>
            <a:r>
              <a:t>PROTOCOLS &amp; STANDARDS:</a:t>
            </a:r>
          </a:p>
          <a:p>
            <a:pPr>
              <a:spcBef>
                <a:spcPts val="200"/>
              </a:spcBef>
              <a:defRPr sz="850">
                <a:solidFill>
                  <a:srgbClr val="34D399"/>
                </a:solidFill>
              </a:defRPr>
            </a:pPr>
            <a:r>
              <a:t> • Supervisory Setpoints</a:t>
            </a:r>
            <a:br/>
            <a:r>
              <a:t> • ERP Auto-Orchestration</a:t>
            </a:r>
            <a:br/>
            <a:r>
              <a:t> • ISA-101 Cockpit</a:t>
            </a:r>
          </a:p>
        </p:txBody>
      </p:sp>
      <p:sp>
        <p:nvSpPr>
          <p:cNvPr id="15" name="Rounded Rectangle 14"/>
          <p:cNvSpPr/>
          <p:nvPr/>
        </p:nvSpPr>
        <p:spPr>
          <a:xfrm>
            <a:off x="731520" y="5486400"/>
            <a:ext cx="10728655" cy="8686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5596128"/>
            <a:ext cx="10241280" cy="640080"/>
          </a:xfrm>
          <a:prstGeom prst="rect">
            <a:avLst/>
          </a:prstGeom>
          <a:noFill/>
        </p:spPr>
        <p:txBody>
          <a:bodyPr wrap="square" lIns="0" rIns="0" tIns="0" bIns="0">
            <a:spAutoFit/>
          </a:bodyPr>
          <a:lstStyle/>
          <a:p>
            <a:pPr>
              <a:defRPr sz="850" b="1">
                <a:solidFill>
                  <a:srgbClr val="38BDF8"/>
                </a:solidFill>
              </a:defRPr>
            </a:pPr>
            <a:r>
              <a:t>UNIFIED DATA PIPELINE FLOW</a:t>
            </a:r>
          </a:p>
          <a:p>
            <a:pPr>
              <a:spcBef>
                <a:spcPts val="200"/>
              </a:spcBef>
              <a:defRPr sz="950" b="1">
                <a:solidFill>
                  <a:srgbClr val="FFFFFF"/>
                </a:solidFill>
              </a:defRPr>
            </a:pPr>
            <a:r>
              <a:t>Sub-Millisecond Multi-Protocol Telemetry ➔ High-Throughput Normalized Stream ➔ Physics-Informed Predictive &amp; Anomaly Engine ➔ Autonomous Closed-Loop Setpoint &amp; Enterprise Actuation (&lt; 25ms Determinism)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TERRAAI  |  DEPLOYMENT &amp; SI VALUE</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System Integrator Deployment Framework &amp; Commercial Model</a:t>
            </a:r>
          </a:p>
          <a:p>
            <a:pPr>
              <a:spcBef>
                <a:spcPts val="300"/>
              </a:spcBef>
              <a:defRPr sz="1050">
                <a:solidFill>
                  <a:srgbClr val="94A3B8"/>
                </a:solidFill>
              </a:defRPr>
            </a:pPr>
            <a:r>
              <a:t>Zero rip-and-replace turnkey onboarding with recurring enterprise margins and co-selling enablement.</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3429000" cy="26517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56232"/>
            <a:ext cx="3063240" cy="2322576"/>
          </a:xfrm>
          <a:prstGeom prst="rect">
            <a:avLst/>
          </a:prstGeom>
          <a:noFill/>
        </p:spPr>
        <p:txBody>
          <a:bodyPr wrap="square" lIns="0" rIns="0" tIns="0" bIns="0">
            <a:spAutoFit/>
          </a:bodyPr>
          <a:lstStyle/>
          <a:p>
            <a:pPr>
              <a:defRPr sz="850" b="1">
                <a:solidFill>
                  <a:srgbClr val="38BDF8"/>
                </a:solidFill>
              </a:defRPr>
            </a:pPr>
            <a:r>
              <a:t>PHASE 01 | CONNECTIVITY &amp; AUDIT</a:t>
            </a:r>
          </a:p>
          <a:p>
            <a:pPr>
              <a:spcBef>
                <a:spcPts val="300"/>
              </a:spcBef>
              <a:spcAft>
                <a:spcPts val="600"/>
              </a:spcAft>
              <a:defRPr sz="1200" b="1">
                <a:solidFill>
                  <a:srgbClr val="FFFFFF"/>
                </a:solidFill>
              </a:defRPr>
            </a:pPr>
            <a:r>
              <a:t>Zero Rip-and-Replace Onboarding</a:t>
            </a:r>
          </a:p>
          <a:p>
            <a:pPr>
              <a:defRPr sz="950">
                <a:solidFill>
                  <a:srgbClr val="F1F5F9"/>
                </a:solidFill>
              </a:defRPr>
            </a:pPr>
            <a:r>
              <a:t>Non-intrusive protocol discovery across field PLCs, RTUs, and historians. Plug-and-play mapping of tags into the unified TPIM semantic namespace without stopping ongoing plant production.</a:t>
            </a:r>
          </a:p>
        </p:txBody>
      </p:sp>
      <p:sp>
        <p:nvSpPr>
          <p:cNvPr id="9" name="Rounded Rectangle 8"/>
          <p:cNvSpPr/>
          <p:nvPr/>
        </p:nvSpPr>
        <p:spPr>
          <a:xfrm>
            <a:off x="4379976" y="1691640"/>
            <a:ext cx="3429000" cy="26517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2856" y="1856232"/>
            <a:ext cx="3063240" cy="2322576"/>
          </a:xfrm>
          <a:prstGeom prst="rect">
            <a:avLst/>
          </a:prstGeom>
          <a:noFill/>
        </p:spPr>
        <p:txBody>
          <a:bodyPr wrap="square" lIns="0" rIns="0" tIns="0" bIns="0">
            <a:spAutoFit/>
          </a:bodyPr>
          <a:lstStyle/>
          <a:p>
            <a:pPr>
              <a:defRPr sz="850" b="1">
                <a:solidFill>
                  <a:srgbClr val="38BDF8"/>
                </a:solidFill>
              </a:defRPr>
            </a:pPr>
            <a:r>
              <a:t>PHASE 02 | TWIN CALIBRATION</a:t>
            </a:r>
          </a:p>
          <a:p>
            <a:pPr>
              <a:spcBef>
                <a:spcPts val="300"/>
              </a:spcBef>
              <a:spcAft>
                <a:spcPts val="600"/>
              </a:spcAft>
              <a:defRPr sz="1200" b="1">
                <a:solidFill>
                  <a:srgbClr val="FFFFFF"/>
                </a:solidFill>
              </a:defRPr>
            </a:pPr>
            <a:r>
              <a:t>Physics-Model Synchronization</a:t>
            </a:r>
          </a:p>
          <a:p>
            <a:pPr>
              <a:defRPr sz="950">
                <a:solidFill>
                  <a:srgbClr val="F1F5F9"/>
                </a:solidFill>
              </a:defRPr>
            </a:pPr>
            <a:r>
              <a:t>Deploy high-frequency Edge Gateway on premise. Calibrate first-principles thermodynamic and kinematic models against historical telemetry to achieve 99.4%+ deterministic accuracy.</a:t>
            </a:r>
          </a:p>
        </p:txBody>
      </p:sp>
      <p:sp>
        <p:nvSpPr>
          <p:cNvPr id="11" name="Rounded Rectangle 10"/>
          <p:cNvSpPr/>
          <p:nvPr/>
        </p:nvSpPr>
        <p:spPr>
          <a:xfrm>
            <a:off x="8028432" y="1691640"/>
            <a:ext cx="3429000" cy="26517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1312" y="1856232"/>
            <a:ext cx="3063240" cy="2322576"/>
          </a:xfrm>
          <a:prstGeom prst="rect">
            <a:avLst/>
          </a:prstGeom>
          <a:noFill/>
        </p:spPr>
        <p:txBody>
          <a:bodyPr wrap="square" lIns="0" rIns="0" tIns="0" bIns="0">
            <a:spAutoFit/>
          </a:bodyPr>
          <a:lstStyle/>
          <a:p>
            <a:pPr>
              <a:defRPr sz="850" b="1">
                <a:solidFill>
                  <a:srgbClr val="38BDF8"/>
                </a:solidFill>
              </a:defRPr>
            </a:pPr>
            <a:r>
              <a:t>PHASE 03 | AUTONOMOUS GO-LIVE</a:t>
            </a:r>
          </a:p>
          <a:p>
            <a:pPr>
              <a:spcBef>
                <a:spcPts val="300"/>
              </a:spcBef>
              <a:spcAft>
                <a:spcPts val="600"/>
              </a:spcAft>
              <a:defRPr sz="1200" b="1">
                <a:solidFill>
                  <a:srgbClr val="FFFFFF"/>
                </a:solidFill>
              </a:defRPr>
            </a:pPr>
            <a:r>
              <a:t>Closed-Loop Setpoint Actuation</a:t>
            </a:r>
          </a:p>
          <a:p>
            <a:pPr>
              <a:defRPr sz="950">
                <a:solidFill>
                  <a:srgbClr val="F1F5F9"/>
                </a:solidFill>
              </a:defRPr>
            </a:pPr>
            <a:r>
              <a:t>Supervisory closed-loop setpoint dispatch with bumpless transfer. Comprehensive ISA-101 verified cockpit handoff with continuous SI recurring monitoring and support tiers.</a:t>
            </a:r>
          </a:p>
        </p:txBody>
      </p:sp>
      <p:sp>
        <p:nvSpPr>
          <p:cNvPr id="13" name="Rounded Rectangle 12"/>
          <p:cNvSpPr/>
          <p:nvPr/>
        </p:nvSpPr>
        <p:spPr>
          <a:xfrm>
            <a:off x="731520" y="4526280"/>
            <a:ext cx="10728655" cy="182880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663440"/>
            <a:ext cx="10241280" cy="1554480"/>
          </a:xfrm>
          <a:prstGeom prst="rect">
            <a:avLst/>
          </a:prstGeom>
          <a:noFill/>
        </p:spPr>
        <p:txBody>
          <a:bodyPr wrap="square" lIns="0" rIns="0" tIns="0" bIns="0">
            <a:spAutoFit/>
          </a:bodyPr>
          <a:lstStyle/>
          <a:p>
            <a:pPr>
              <a:defRPr sz="1000" b="1">
                <a:solidFill>
                  <a:srgbClr val="38BDF8"/>
                </a:solidFill>
              </a:defRPr>
            </a:pPr>
            <a:r>
              <a:t>COMMERCIAL VALUE PROPOSITION FOR SYSTEM INTEGRATORS (TERRAAI)</a:t>
            </a:r>
          </a:p>
          <a:p>
            <a:pPr>
              <a:spcBef>
                <a:spcPts val="300"/>
              </a:spcBef>
              <a:defRPr sz="950">
                <a:solidFill>
                  <a:srgbClr val="F1F5F9"/>
                </a:solidFill>
              </a:defRPr>
            </a:pPr>
            <a:r>
              <a:t>• High-Margin Software Recurring Revenue: Earn 25%–35% continuous recurring margin on every TerraAI software deployment, maintenance tier, and AI compute instance.</a:t>
            </a:r>
          </a:p>
          <a:p>
            <a:pPr>
              <a:spcBef>
                <a:spcPts val="300"/>
              </a:spcBef>
              <a:defRPr sz="950">
                <a:solidFill>
                  <a:srgbClr val="F1F5F9"/>
                </a:solidFill>
              </a:defRPr>
            </a:pPr>
            <a:r>
              <a:t>• Turnkey Engineering Velocity: Deploy within 7 to 14 days leveraging pre-trained neural networks and automated semantic tag mapping, avoiding expensive months-long custom PLC code rewrites.</a:t>
            </a:r>
          </a:p>
          <a:p>
            <a:pPr>
              <a:spcBef>
                <a:spcPts val="300"/>
              </a:spcBef>
              <a:defRPr sz="950">
                <a:solidFill>
                  <a:srgbClr val="F1F5F9"/>
                </a:solidFill>
              </a:defRPr>
            </a:pPr>
            <a:r>
              <a:t>• Enterprise Co-Selling &amp; Ecosystem: Access joint executive pipeline opportunities, certified engineering documentation, and board-level C-Suite presentation toolkits.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