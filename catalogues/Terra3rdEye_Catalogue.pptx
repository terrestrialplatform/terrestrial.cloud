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Terra3rdEye - Enterprise Product Specification</a:t>
            </a:r>
          </a:p>
          <a:p>
            <a:r>
              <a:t>Tagline: AI-Powered Visual Intelligence System for All Industrial Applications</a:t>
            </a:r>
          </a:p>
          <a:p/>
          <a:p>
            <a:r>
              <a:t>Outcome Quote:</a:t>
            </a:r>
          </a:p>
          <a:p>
            <a:r>
              <a:t>“Your AI-powered industrial watchdog that never blinks, ensuring unmatched safety, quality, and operational efficiency across every sector, every shift, every second.” (— THE OUTCOME-BASED REVOLUTION)</a:t>
            </a:r>
          </a:p>
          <a:p/>
          <a:p>
            <a:r>
              <a:t>Executive Overview:</a:t>
            </a:r>
          </a:p>
          <a:p>
            <a:r>
              <a:t>In fast-paced manufacturing and process environments, continuous monitoring is essential. Terra 3rd Eye acts as a 24/7 digital watchdog, leveraging computer vision and neural networks to observe, analyze, and respond to shop-floor events—from workplace PPE compliance and worker fall detection to inline product quality control and intruder security.</a:t>
            </a:r>
          </a:p>
          <a:p/>
          <a:p>
            <a:r>
              <a:t>Key Telemetry Metrics:</a:t>
            </a:r>
          </a:p>
          <a:p>
            <a:r>
              <a:t>- INFERENCE LATENCY:: &lt; 45 ms Edge</a:t>
            </a:r>
          </a:p>
          <a:p>
            <a:r>
              <a:t>- PPE COMPLIANCE:: 99.4% Verified</a:t>
            </a:r>
          </a:p>
          <a:p>
            <a:r>
              <a:t>- CAMERA PIPELINE:: 64x RTSP Streams</a:t>
            </a:r>
          </a:p>
          <a:p>
            <a:r>
              <a:t>- SAFETY RATING:: Class 1 / Div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Terra3rdEye - ANSI/ISA-101 Verified Operational Interface</a:t>
            </a:r>
          </a:p>
          <a:p>
            <a:r>
              <a:t>Representation: Terra3rdEye ANSI/ISA-101 Operational Interface &amp; Real-Time System Representation</a:t>
            </a:r>
          </a:p>
          <a:p>
            <a:r>
              <a:t>Compliance: ANSI/ISA-101 Verified HMI</a:t>
            </a:r>
          </a:p>
          <a:p>
            <a:r>
              <a:t>Asset File: terra_3rdeye_isa101_showcase.jpg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Terra3rdEye Will Do:</a:t>
            </a:r>
          </a:p>
          <a:p>
            <a:r>
              <a:t>[1] Workplace Safety &amp; Compliance Monitoring:</a:t>
            </a:r>
          </a:p>
          <a:p>
            <a:r>
              <a:t>Detects missing PPE kits (helmets, gloves, vests, goggles), unsafe behaviors, social distancing, and person down emergencies.</a:t>
            </a:r>
          </a:p>
          <a:p/>
          <a:p>
            <a:r>
              <a:t>[2] Production Quality Control AI:</a:t>
            </a:r>
          </a:p>
          <a:p>
            <a:r>
              <a:t>Identifies deformed products, broken packaging, label orientation errors, and color deviations directly on the conveyor.</a:t>
            </a:r>
          </a:p>
          <a:p/>
          <a:p>
            <a:r>
              <a:t>[3] AI-Driven Security &amp; Surveillance:</a:t>
            </a:r>
          </a:p>
          <a:p>
            <a:r>
              <a:t>Detects unauthorized access, intruders, after-hours activity, facial recognition access control, and vehicle license plate tracking.</a:t>
            </a:r>
          </a:p>
          <a:p/>
          <a:p>
            <a:r>
              <a:t>[4] 24/7 Fire &amp; Leakage Surveillance:</a:t>
            </a:r>
          </a:p>
          <a:p>
            <a:r>
              <a:t>Monitors visual and thermal feeds for smoke, open flames, and fluid leakages in raw material and chemical storage warehouses.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Terra3rdEye - Operational Use Cases &amp; Field Impact:</a:t>
            </a:r>
          </a:p>
          <a:p>
            <a:r>
              <a:t>[QA &amp; Inline Production Quality Control] QA &amp; Inline Production Quality Control:</a:t>
            </a:r>
          </a:p>
          <a:p>
            <a:r>
              <a:t>Detects damaged, deformed, or defective products on assembly lines; verifies labeling accuracy, packaging integrity, color mismatch, and alignment errors.</a:t>
            </a:r>
          </a:p>
          <a:p/>
          <a:p>
            <a:r>
              <a:t>[Safety &amp; Workplace PPE Compliance] Safety &amp; Workplace PPE Compliance:</a:t>
            </a:r>
          </a:p>
          <a:p>
            <a:r>
              <a:t>Detects workers without PPE kits (helmets, gloves, safety vests, goggles) and triggers instant alerts when personnel enter hazardous restricted zones.</a:t>
            </a:r>
          </a:p>
          <a:p/>
          <a:p>
            <a:r>
              <a:t>[Reduced Manpower] Reduced Manpower (Facial Recognition &amp; Access Tracking):</a:t>
            </a:r>
          </a:p>
          <a:p>
            <a:r>
              <a:t>Automated facial recognition for employee access control, attendance tracking, and vehicle tracking for plant material shipments, replacing manual security registers.</a:t>
            </a:r>
          </a:p>
          <a:p/>
          <a:p>
            <a:r>
              <a:t>[Productivity &amp; Life-Safety] Productivity &amp; Life-Safety (Fall &amp; Emergency Detection):</a:t>
            </a:r>
          </a:p>
          <a:p>
            <a:r>
              <a:t>Real-time worker fall detection, person down alerts, and thermal smoke/fire detection trigger instant evacuation alarms and management notifications.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Terra3rdEye - Architectural Contrast (Legacy SCADA vs Terrestrial Platform):</a:t>
            </a:r>
          </a:p>
          <a:p>
            <a:r>
              <a:t>LEGACY:</a:t>
            </a:r>
          </a:p>
          <a:p>
            <a:r>
              <a:t>Security and safety personnel passively monitor dozens of CCTV screens, missing critical PPE violations and safety breaches.</a:t>
            </a:r>
          </a:p>
          <a:p/>
          <a:p>
            <a:r>
              <a:t>TERRESTRIAL ADVANTAGE:</a:t>
            </a:r>
          </a:p>
          <a:p>
            <a:r>
              <a:t>Automated neural networks inspect every camera frame in real time, alerting instantly when safety helmets, gloves, or vests are missing.</a:t>
            </a:r>
          </a:p>
          <a:p/>
          <a:p>
            <a:r>
              <a:t>LEGACY:</a:t>
            </a:r>
          </a:p>
          <a:p>
            <a:r>
              <a:t>Product quality inspection relies on manual spot-checks, allowing deformed items and misaligned labels to ship to clients.</a:t>
            </a:r>
          </a:p>
          <a:p/>
          <a:p>
            <a:r>
              <a:t>TERRESTRIAL ADVANTAGE:</a:t>
            </a:r>
          </a:p>
          <a:p>
            <a:r>
              <a:t>100% inline visual quality control detecting damaged, deformed, or defective products, color mismatches, and packaging flaws.</a:t>
            </a:r>
          </a:p>
          <a:p/>
          <a:p>
            <a:r>
              <a:t>LEGACY:</a:t>
            </a:r>
          </a:p>
          <a:p>
            <a:r>
              <a:t>Streaming heavy high-definition video feeds across plant networks causes severe IT bandwidth congestion.</a:t>
            </a:r>
          </a:p>
          <a:p/>
          <a:p>
            <a:r>
              <a:t>TERRESTRIAL ADVANTAGE:</a:t>
            </a:r>
          </a:p>
          <a:p>
            <a:r>
              <a:t>Local edge inference: lightweight event metadata and bounding boxes transmitted via WebSockets without network overload.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Terra3rdEye - End-to-End System Diagram &amp; Data Pipeline:</a:t>
            </a:r>
          </a:p>
          <a:p/>
          <a:p>
            <a:r>
              <a:t>Layer 01: Optical &amp; Thermal Ingestion</a:t>
            </a:r>
          </a:p>
          <a:p>
            <a:r>
              <a:t>Multi-camera visual acquisition aggregating high-speed GigE Vision, RTSP video streams, line-scan sensors, and thermal infrared cameras.</a:t>
            </a:r>
          </a:p>
          <a:p>
            <a:r>
              <a:t>Protocols: GigE Vision, RTSP Video Stream, ONVIF Profile S/T</a:t>
            </a:r>
          </a:p>
          <a:p/>
          <a:p>
            <a:r>
              <a:t>Layer 02: Hardware Edge Preprocessing</a:t>
            </a:r>
          </a:p>
          <a:p>
            <a:r>
              <a:t>Zero-copy frame ingestion, hardware-accelerated image normalization, spatial distortion correction, and sub-10ms frame dispatch.</a:t>
            </a:r>
          </a:p>
          <a:p>
            <a:r>
              <a:t>Protocols: Hardware Video Pipeline, Frame Normalization, Sub-10ms Vision Bus</a:t>
            </a:r>
          </a:p>
          <a:p/>
          <a:p>
            <a:r>
              <a:t>Layer 03: Defect Segmentation Core</a:t>
            </a:r>
          </a:p>
          <a:p>
            <a:r>
              <a:t>Ultra-fast neural defect detection, micron-level dimensional tolerance verification, surface anomaly classification, and OCR label parsing.</a:t>
            </a:r>
          </a:p>
          <a:p>
            <a:r>
              <a:t>Protocols: Real-Time Defect AI, Sub-Micron Gauging, Surface Anomaly Model</a:t>
            </a:r>
          </a:p>
          <a:p/>
          <a:p>
            <a:r>
              <a:t>Layer 04: Automated Reject Cockpit</a:t>
            </a:r>
          </a:p>
          <a:p>
            <a:r>
              <a:t>High-speed pneumatic reject gate actuation, robotic sorter guidance, QA traceability archiving, and ANSI/ISA-101 defect inspection consoles.</a:t>
            </a:r>
          </a:p>
          <a:p>
            <a:r>
              <a:t>Protocols: Pneumatic Reject Gate, Robotic Sorter Link, ISA-101 Vision HMI</a:t>
            </a:r>
          </a:p>
          <a:p/>
          <a:p>
            <a:r>
              <a:t>Pipeline Flow:</a:t>
            </a:r>
          </a:p>
          <a:p>
            <a:r>
              <a:t>DATA PIPELINE FLOW: Optical &amp; Thermal Video Streams ➔ Hardware Frame Preprocessing ➔ Real-Time Defect Segmentation ➔ High-Speed Reject Gate Actuation (&lt; 10ms Latency)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Terra3rdEye - System Integrator Deployment Framework &amp; Commercial Model:</a:t>
            </a:r>
          </a:p>
          <a:p/>
          <a:p>
            <a:r>
              <a:t>Phase 1: Connectivity &amp; Audit</a:t>
            </a:r>
          </a:p>
          <a:p>
            <a:r>
              <a:t>Phase 2: Twin Calibration</a:t>
            </a:r>
          </a:p>
          <a:p>
            <a:r>
              <a:t>Phase 3: Autonomous Go-Live</a:t>
            </a:r>
          </a:p>
          <a:p/>
          <a:p>
            <a:r>
              <a:t>Commercial Enablement:</a:t>
            </a:r>
          </a:p>
          <a:p>
            <a:r>
              <a:t>- 25%-35% recurring SaaS margins</a:t>
            </a:r>
          </a:p>
          <a:p>
            <a:r>
              <a:t>- 7-14 day rapid commissioning</a:t>
            </a:r>
          </a:p>
          <a:p>
            <a:r>
              <a:t>- Co-selling and enterprise enablement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TERRA3RDEYE  |  ENTERPRISE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Terra3rdEye: AI-Powered Visual Intelligence System for All Industrial Applications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Autonomous Industrial Intelligence Suite · Tier-1 Plant Architecture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57607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i="1" b="1">
                <a:solidFill>
                  <a:srgbClr val="38BDF8"/>
                </a:solidFill>
              </a:defRPr>
            </a:pPr>
            <a:r>
              <a:t>““Your AI-powered industrial watchdog that never blinks, ensuring unmatched safety, quality, and operational efficiency across every sector, every shift, every second.””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950" b="1">
                <a:solidFill>
                  <a:srgbClr val="94A3B8"/>
                </a:solidFill>
              </a:defRPr>
            </a:pPr>
            <a:r>
              <a:t>— — THE OUTCOME-BASED REVOLUTION</a:t>
            </a:r>
          </a:p>
          <a:p>
            <a:pPr>
              <a:spcAft>
                <a:spcPts val="600"/>
              </a:spcAft>
              <a:defRPr sz="1050" b="1">
                <a:solidFill>
                  <a:srgbClr val="FFFFFF"/>
                </a:solidFill>
              </a:defRPr>
            </a:pPr>
            <a:r>
              <a:t>EXECUTIVE OPERATIONAL SYNOPSIS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In fast-paced manufacturing and process environments, continuous monitoring is essential. Terra 3rd Eye acts as a 24/7 digital watchdog, leveraging computer vision and neural networks to observe, analyze, and respond to shop-floor events—from workplace PPE compliance and worker fall detection to inline product quality control and intruder security.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INFERENCE LATENCY</a:t>
            </a:r>
          </a:p>
          <a:p>
            <a:pPr>
              <a:spcBef>
                <a:spcPts val="400"/>
              </a:spcBef>
              <a:defRPr sz="1400" b="1">
                <a:solidFill>
                  <a:srgbClr val="38BDF8"/>
                </a:solidFill>
              </a:defRPr>
            </a:pPr>
            <a:r>
              <a:t>&lt; 45 ms Edge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81743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18903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PPE COMPLIANCE</a:t>
            </a:r>
          </a:p>
          <a:p>
            <a:pPr>
              <a:spcBef>
                <a:spcPts val="400"/>
              </a:spcBef>
              <a:defRPr sz="1400" b="1">
                <a:solidFill>
                  <a:srgbClr val="34D399"/>
                </a:solidFill>
              </a:defRPr>
            </a:pPr>
            <a:r>
              <a:t>99.4% 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CAMERA PIPELINE</a:t>
            </a:r>
          </a:p>
          <a:p>
            <a:pPr>
              <a:spcBef>
                <a:spcPts val="400"/>
              </a:spcBef>
              <a:defRPr sz="1400" b="1">
                <a:solidFill>
                  <a:srgbClr val="38BDF8"/>
                </a:solidFill>
              </a:defRPr>
            </a:pPr>
            <a:r>
              <a:t>64x RTSP Streams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81743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18903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SAFETY RATING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Class 1 / Div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434840"/>
            <a:ext cx="4334256" cy="19202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461772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CORE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Edge-to-Cloud Cognitive Nervous System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Physics-informed mathematical twin running sub-25ms closed-loop supervisory control with full ISA-95/101 conformity.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TERRA3RDEYE  |  OPERATIONAL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Terra3rdEye ANSI/ISA-101 Operational Interface &amp; Real-Time System Representation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ANSI/ISA-101 Ergonomic High-Performance HMI · Real-Time System Representation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45920"/>
            <a:ext cx="10728655" cy="47091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ra_3rdeye_isa101_showc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10637215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TERRA3RDEYE  | 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What Terra3rdEye Will Do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Specific operational functions and engineering capabilities directly sourced from technical documentation.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01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Workplace Safety &amp; Compliance Monitoring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Detects missing PPE kits (helmets, gloves, vests, goggles), unsafe behaviors, social distancing, and person down emergencies.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02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Production Quality Control AI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Identifies deformed products, broken packaging, label orientation errors, and color deviations directly on the conveyor.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03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AI-Driven Security &amp; Surveillance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Detects unauthorized access, intruders, after-hours activity, facial recognition access control, and vehicle license plate tracking.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04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24/7 Fire &amp; Leakage Surveillance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Monitors visual and thermal feeds for smoke, open flames, and fluid leakages in raw material and chemical storage warehouses.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TERRA3RDEYE  |  FIELD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Operational Use Cases &amp; Field Impact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Actual documented use cases across Quality Assurance, Reduced Manpower, Efficiency, and Asset Productivity.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01  |  QA &amp; INLINE PRODUCTION QUALITY CONTROL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QA &amp; Inline Production Quality Control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Detects damaged, deformed, or defective products on assembly lines; verifies labeling accuracy, packaging integrity, color mismatch, and alignment errors.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02  |  SAFETY &amp; WORKPLACE PPE COMPLIANCE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Safety &amp; Workplace PPE Compliance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Detects workers without PPE kits (helmets, gloves, safety vests, goggles) and triggers instant alerts when personnel enter hazardous restricted zones.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03  |  REDUCED MANPOWER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Reduced Manpower (Facial Recognition &amp; Access Tracking)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Automated facial recognition for employee access control, attendance tracking, and vehicle tracking for plant material shipments, replacing manual security registers.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04  |  PRODUCTIVITY &amp; LIFE-SAFETY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Productivity &amp; Life-Safety (Fall &amp; Emergency Detection)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Real-time worker fall detection, person down alerts, and thermal smoke/fire detection trigger instant evacuation alarms and management notifications.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TERRA3RDEYE  |  ARCHITECTURAL 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Comparison with Traditional SCADA / Legacy Systems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Point-by-point contrast demonstrating the technological shift from legacy industrial automation to the Terrestrial Platform.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502920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TRADITIONAL LEGACY SYSTEMS / SILOED SCADA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502920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TERRA3RDEYE TERRESTRIAL PLATFORM ADVANTAGE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59152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Security and safety personnel passively monitor dozens of CCTV screens, missing critical PPE violations and safety breaches.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286000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59152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Automated neural networks inspect every camera frame in real time, alerting instantly when safety helmets, gloves, or vests are missing.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94176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67328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Product quality inspection relies on manual spot-checks, allowing deformed items and misaligned labels to ship to clients.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3694176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767328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100% inline visual quality control detecting damaged, deformed, or defective products, color mismatches, and packaging flaws.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02352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75504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Streaming heavy high-definition video feeds across plant networks causes severe IT bandwidth congestion.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5102352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5175504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Local edge inference: lightweight event metadata and bounding boxes transmitted via WebSockets without network overload.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TERRA3RDEYE  |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End-to-End System Diagram &amp; Data Pipeline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Visual architecture diagram representing field telemetry ingestion, deterministic edge fabric, AI reasoning, and closed-loop actuation.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01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Optical &amp; Thermal Ingestion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Multi-camera visual acquisition aggregating high-speed GigE Vision, RTSP video streams, line-scan sensors, and thermal infrared cameras.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GigE Vision</a:t>
            </a:r>
            <a:br/>
            <a:r>
              <a:t> • RTSP Video Stream</a:t>
            </a:r>
            <a:br/>
            <a:r>
              <a:t> • ONVIF Profile S/T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02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Hardware Edge Preprocessing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Zero-copy frame ingestion, hardware-accelerated image normalization, spatial distortion correction, and sub-10ms frame dispatch.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Hardware Video Pipeline</a:t>
            </a:r>
            <a:br/>
            <a:r>
              <a:t> • Frame Normalization</a:t>
            </a:r>
            <a:br/>
            <a:r>
              <a:t> • Sub-10ms Vision Bus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03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Defect Segmentation Core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Ultra-fast neural defect detection, micron-level dimensional tolerance verification, surface anomaly classification, and OCR label parsing.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Real-Time Defect AI</a:t>
            </a:r>
            <a:br/>
            <a:r>
              <a:t> • Sub-Micron Gauging</a:t>
            </a:r>
            <a:br/>
            <a:r>
              <a:t> • Surface Anomaly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04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Automated Reject Cockpit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High-speed pneumatic reject gate actuation, robotic sorter guidance, QA traceability archiving, and ANSI/ISA-101 defect inspection consoles.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Pneumatic Reject Gate</a:t>
            </a:r>
            <a:br/>
            <a:r>
              <a:t> • Robotic Sorter Link</a:t>
            </a:r>
            <a:br/>
            <a:r>
              <a:t> • ISA-101 Vision HMI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9612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UNIFIED DATA PIPELINE FLOW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</a:defRPr>
            </a:pPr>
            <a:r>
              <a:t>Optical &amp; Thermal Video Streams ➔ Hardware Frame Preprocessing ➔ Real-Time Defect Segmentation ➔ High-Speed Reject Gate Actuation (&lt; 10ms Latency)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TERRA3RDEYE  |  DEPLOYMENT &amp; SI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System Integrator Deployment Framework &amp; Commercial Model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Zero rip-and-replace turnkey onboarding with recurring enterprise margins and co-selling enablement.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01 | CONNECTIVITY &amp; AUDIT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Non-intrusive protocol discovery across field PLCs, RTUs, and historians. Plug-and-play mapping of tags into the unified TPIM semantic namespace without stopping ongoing plant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02 | TWIN CALIBRATION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Deploy high-frequency Edge Gateway on premise. Calibrate first-principles thermodynamic and kinematic models against historical telemetry to achieve 99.4%+ deterministic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03 | AUTONOMOUS GO-LIVE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Supervisory closed-loop setpoint dispatch with bumpless transfer. Comprehensive ISA-101 verified cockpit handoff with continuous SI recurring monitoring and support tiers.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26280"/>
            <a:ext cx="10728655" cy="182880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63440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COMMERCIAL VALUE PROPOSITION FOR SYSTEM INTEGRATORS (TERRA3RDEYE)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High-Margin Software Recurring Revenue: Earn 25%–35% continuous recurring margin on every Terra3rdEye software deployment, maintenance tier, and AI compute instance.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Turnkey Engineering Velocity: Deploy within 7 to 14 days leveraging pre-trained neural networks and automated semantic tag mapping, avoiding expensive months-long custom PLC code rewrites.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Enterprise Co-Selling &amp; Ecosystem: Access joint executive pipeline opportunities, certified engineering documentation, and board-level C-Suite presentation toolkits.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