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TerraGridW - Enterprise Product Specification</a:t>
            </a:r>
          </a:p>
          <a:p>
            <a:r>
              <a:t>Tagline: Smart Water Grid, Pumping Energy Optimization &amp; Custody Telemetry</a:t>
            </a:r>
          </a:p>
          <a:p/>
          <a:p>
            <a:r>
              <a:t>Outcome Quote:</a:t>
            </a:r>
          </a:p>
          <a:p>
            <a:r>
              <a:t>“Pumping station energy optimization, transient wave leak detection, and smart custody metering eliminating unbilled water loss.” (— THE OUTCOME-BASED REVOLUTION)</a:t>
            </a:r>
          </a:p>
          <a:p/>
          <a:p>
            <a:r>
              <a:t>Executive Overview:</a:t>
            </a:r>
          </a:p>
          <a:p>
            <a:r>
              <a:t>TerraGridW delivers intelligent management of bulk water transmission networks, regional canals, and pumping stations. It optimizes pumping station energy via dynamic multi-pump sequencing, detects pipeline bursts using high-speed transient wave analysis, and integrates DLMS/LoRa smart meters with automated billing.</a:t>
            </a:r>
          </a:p>
          <a:p/>
          <a:p>
            <a:r>
              <a:t>Key Telemetry Metrics:</a:t>
            </a:r>
          </a:p>
          <a:p>
            <a:r>
              <a:t>- REVERSE OSMOSIS:: 82.5% Recovery</a:t>
            </a:r>
          </a:p>
          <a:p>
            <a:r>
              <a:t>- WATER QUALITY:: TDS / pH Online</a:t>
            </a:r>
          </a:p>
          <a:p>
            <a:r>
              <a:t>- SPECIFIC ENERGY:: 2.8 kWh/m³</a:t>
            </a:r>
          </a:p>
          <a:p>
            <a:r>
              <a:t>- LEAK PINPOINTING:: Acoustic + Mass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TerraGridW - ANSI/ISA-101 Verified Operational Interface</a:t>
            </a:r>
          </a:p>
          <a:p>
            <a:r>
              <a:t>Representation: TerraGridW ANSI/ISA-101 Operational Interface &amp; Real-Time System Representation</a:t>
            </a:r>
          </a:p>
          <a:p>
            <a:r>
              <a:t>Compliance: ANSI/ISA-101 Verified HMI</a:t>
            </a:r>
          </a:p>
          <a:p>
            <a:r>
              <a:t>Asset File: terra_gridw_showcase.jpg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TerraGridW Will Do:</a:t>
            </a:r>
          </a:p>
          <a:p>
            <a:r>
              <a:t>[1] Pumping Energy Optimization:</a:t>
            </a:r>
          </a:p>
          <a:p>
            <a:r>
              <a:t>Dynamic multi-pump sequencing and VFD coordination based on hydraulic head and Best Efficiency Point (BEP).</a:t>
            </a:r>
          </a:p>
          <a:p/>
          <a:p>
            <a:r>
              <a:t>[2] Transient Wave Leak Detection:</a:t>
            </a:r>
          </a:p>
          <a:p>
            <a:r>
              <a:t>Real-time pressure burst localization capturing acoustic reflections to find pipe ruptures immediately.</a:t>
            </a:r>
          </a:p>
          <a:p/>
          <a:p>
            <a:r>
              <a:t>[3] Integrated AMI / Billing Gateway:</a:t>
            </a:r>
          </a:p>
          <a:p>
            <a:r>
              <a:t>DLMS/COSEM and LoRa smart meter ingestion with built-in consumer billing and payment gateways.</a:t>
            </a:r>
          </a:p>
          <a:p/>
          <a:p>
            <a:r>
              <a:t>[4] Non-Revenue Water (NRW) Analytics:</a:t>
            </a:r>
          </a:p>
          <a:p>
            <a:r>
              <a:t>Continuous mass balance algorithms quantifying unbilled distribution losses across regional pipeline networks.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TerraGridW - Operational Use Cases &amp; Field Impact:</a:t>
            </a:r>
          </a:p>
          <a:p>
            <a:r>
              <a:t>[Efficiency] Efficiency (Pumping Station Energy Optimization):</a:t>
            </a:r>
          </a:p>
          <a:p>
            <a:r>
              <a:t>Dynamic multi-pump sequencing and VFD coordination based on hydraulic head reduces water pumping power by up to 22%.</a:t>
            </a:r>
          </a:p>
          <a:p/>
          <a:p>
            <a:r>
              <a:t>[QA &amp; Pipeline Safety] QA &amp; Pipeline Safety (Transient Wave Leak Detection):</a:t>
            </a:r>
          </a:p>
          <a:p>
            <a:r>
              <a:t>Real-time pressure burst localization and non-revenue water (NRW) analytics pinpoint leaks within 60 seconds.</a:t>
            </a:r>
          </a:p>
          <a:p/>
          <a:p>
            <a:r>
              <a:t>[Reduced Manpower] Reduced Manpower (Integrated AMI &amp; Billing Gateway):</a:t>
            </a:r>
          </a:p>
          <a:p>
            <a:r>
              <a:t>DLMS/COSEM and LoRa smart meter ingestion with built-in consumer payment gateways eliminates manual meter reading.</a:t>
            </a:r>
          </a:p>
          <a:p/>
          <a:p>
            <a:r>
              <a:t>[Productivity] Productivity (District Metering Area Balancing):</a:t>
            </a:r>
          </a:p>
          <a:p>
            <a:r>
              <a:t>Balances bulk water delivery across municipal sectors to eradicate commercial water theft and unbilled losses.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TerraGridW - Architectural Contrast (Legacy SCADA vs Terrestrial Platform):</a:t>
            </a:r>
          </a:p>
          <a:p>
            <a:r>
              <a:t>LEGACY:</a:t>
            </a:r>
          </a:p>
          <a:p>
            <a:r>
              <a:t>Pumps operated manually at fixed speeds regardless of hydraulic head or fluctuating electricity tariffs.</a:t>
            </a:r>
          </a:p>
          <a:p/>
          <a:p>
            <a:r>
              <a:t>TERRESTRIAL ADVANTAGE:</a:t>
            </a:r>
          </a:p>
          <a:p>
            <a:r>
              <a:t>AI-driven pump sequencing and dynamic VFD speed optimization based on time-of-day power tariffs and reservoir levels.</a:t>
            </a:r>
          </a:p>
          <a:p/>
          <a:p>
            <a:r>
              <a:t>LEGACY:</a:t>
            </a:r>
          </a:p>
          <a:p>
            <a:r>
              <a:t>Pipeline leaks detected only when water pools on the surface or consumers complain of dry taps.</a:t>
            </a:r>
          </a:p>
          <a:p/>
          <a:p>
            <a:r>
              <a:t>TERRESTRIAL ADVANTAGE:</a:t>
            </a:r>
          </a:p>
          <a:p>
            <a:r>
              <a:t>High-frequency pressure transient wave algorithms pinpointing pipe bursts and micro-leaks within seconds.</a:t>
            </a:r>
          </a:p>
          <a:p/>
          <a:p>
            <a:r>
              <a:t>LEGACY:</a:t>
            </a:r>
          </a:p>
          <a:p>
            <a:r>
              <a:t>Manual meter reading prone to billing disputes, estimated bills, and heavy non-revenue water (NRW) loss.</a:t>
            </a:r>
          </a:p>
          <a:p/>
          <a:p>
            <a:r>
              <a:t>TERRESTRIAL ADVANTAGE:</a:t>
            </a:r>
          </a:p>
          <a:p>
            <a:r>
              <a:t>Automated Metering Infrastructure (AMI) with LoRa/DLMS meters and integrated consumer billing portals.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TerraGridW - End-to-End System Diagram &amp; Data Pipeline:</a:t>
            </a:r>
          </a:p>
          <a:p/>
          <a:p>
            <a:r>
              <a:t>Layer 01: DMA &amp; Pressure Ingestion</a:t>
            </a:r>
          </a:p>
          <a:p>
            <a:r>
              <a:t>Telemetry acquisition from electromagnetic flowmeters, district metered area (DMA) pressure loggers, and reservoir level transmitters.</a:t>
            </a:r>
          </a:p>
          <a:p>
            <a:r>
              <a:t>Protocols: DLMS/COSEM (IEC 62056), LoRaWAN / NB-IoT, Modbus RTU</a:t>
            </a:r>
          </a:p>
          <a:p/>
          <a:p>
            <a:r>
              <a:t>Layer 02: Hydraulic Zone Stream</a:t>
            </a:r>
          </a:p>
          <a:p>
            <a:r>
              <a:t>Low-power edge data buffering, water hammer transient capture, and diurnal flow pattern normalization across pressure management zones.</a:t>
            </a:r>
          </a:p>
          <a:p>
            <a:r>
              <a:t>Protocols: Hydraulic Telemetry Bus, Diurnal Flow Stream, Transient Pressure Buffer</a:t>
            </a:r>
          </a:p>
          <a:p/>
          <a:p>
            <a:r>
              <a:t>Layer 03: NRW Leak Localization Core</a:t>
            </a:r>
          </a:p>
          <a:p>
            <a:r>
              <a:t>EPANET hydraulic simulation, acoustic leak cross-correlation, night-flow anomaly detection, and pipe burst localization algorithms.</a:t>
            </a:r>
          </a:p>
          <a:p>
            <a:r>
              <a:t>Protocols: EPANET Hydraulic Model, Acoustic Cross-Correlator, NRW Leak AI</a:t>
            </a:r>
          </a:p>
          <a:p/>
          <a:p>
            <a:r>
              <a:t>Layer 04: PRV &amp; Pump Actuation Cockpit</a:t>
            </a:r>
          </a:p>
          <a:p>
            <a:r>
              <a:t>Closed-loop PRV modulating setpoints, pump station variable speed drive dispatch, and ANSI/ISA-101 municipal water distribution dashboards.</a:t>
            </a:r>
          </a:p>
          <a:p>
            <a:r>
              <a:t>Protocols: PRV Modulation, Pump VFD Dispatch, ISA-101 Water HMI</a:t>
            </a:r>
          </a:p>
          <a:p/>
          <a:p>
            <a:r>
              <a:t>Pipeline Flow:</a:t>
            </a:r>
          </a:p>
          <a:p>
            <a:r>
              <a:t>DATA PIPELINE FLOW: DMA Flow &amp; Pressure Telemetry ➔ Hydraulic Zone Stream ➔ EPANET Simulation &amp; NRW Leak AI ➔ Automated PRV &amp; Pump Actuation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TerraGridW - System Integrator Deployment Framework &amp; Commercial Model:</a:t>
            </a:r>
          </a:p>
          <a:p/>
          <a:p>
            <a:r>
              <a:t>Phase 1: Connectivity &amp; Audit</a:t>
            </a:r>
          </a:p>
          <a:p>
            <a:r>
              <a:t>Phase 2: Twin Calibration</a:t>
            </a:r>
          </a:p>
          <a:p>
            <a:r>
              <a:t>Phase 3: Autonomous Go-Live</a:t>
            </a:r>
          </a:p>
          <a:p/>
          <a:p>
            <a:r>
              <a:t>Commercial Enablement:</a:t>
            </a:r>
          </a:p>
          <a:p>
            <a:r>
              <a:t>- 25%-35% recurring SaaS margins</a:t>
            </a:r>
          </a:p>
          <a:p>
            <a:r>
              <a:t>- 7-14 day rapid commissioning</a:t>
            </a:r>
          </a:p>
          <a:p>
            <a:r>
              <a:t>- Co-selling and enterprise enablement support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389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TERRESTRIAL PLATFORM  |  TERRAGRIDW  |  ENTERPRISE SPECIFICATION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96012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1">
                <a:solidFill>
                  <a:srgbClr val="FFFFFF"/>
                </a:solidFill>
              </a:defRPr>
            </a:pPr>
            <a:r>
              <a:t>TerraGridW: Smart Water Grid, Pumping Energy Optimization &amp; Custody Telemetry</a:t>
            </a:r>
          </a:p>
          <a:p>
            <a:pPr>
              <a:spcBef>
                <a:spcPts val="300"/>
              </a:spcBef>
              <a:defRPr sz="1050">
                <a:solidFill>
                  <a:srgbClr val="94A3B8"/>
                </a:solidFill>
              </a:defRPr>
            </a:pPr>
            <a:r>
              <a:t>Autonomous Industrial Intelligence Suite · Tier-1 Plant Architecture</a:t>
            </a:r>
          </a:p>
        </p:txBody>
      </p:sp>
      <p:pic>
        <p:nvPicPr>
          <p:cNvPr id="6" name="Picture 5" descr="tp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411480"/>
            <a:ext cx="987552" cy="38404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691640"/>
            <a:ext cx="6217920" cy="466344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28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74519"/>
            <a:ext cx="576072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i="1" b="1">
                <a:solidFill>
                  <a:srgbClr val="38BDF8"/>
                </a:solidFill>
              </a:defRPr>
            </a:pPr>
            <a:r>
              <a:t>““Pumping station energy optimization, transient wave leak detection, and smart custody metering eliminating unbilled water loss.””</a:t>
            </a:r>
          </a:p>
          <a:p>
            <a:pPr>
              <a:spcBef>
                <a:spcPts val="400"/>
              </a:spcBef>
              <a:spcAft>
                <a:spcPts val="1200"/>
              </a:spcAft>
              <a:defRPr sz="950" b="1">
                <a:solidFill>
                  <a:srgbClr val="94A3B8"/>
                </a:solidFill>
              </a:defRPr>
            </a:pPr>
            <a:r>
              <a:t>— — THE OUTCOME-BASED REVOLUTION</a:t>
            </a:r>
          </a:p>
          <a:p>
            <a:pPr>
              <a:spcAft>
                <a:spcPts val="600"/>
              </a:spcAft>
              <a:defRPr sz="1050" b="1">
                <a:solidFill>
                  <a:srgbClr val="FFFFFF"/>
                </a:solidFill>
              </a:defRPr>
            </a:pPr>
            <a:r>
              <a:t>EXECUTIVE OPERATIONAL SYNOPSIS</a:t>
            </a:r>
          </a:p>
          <a:p>
            <a:pPr>
              <a:defRPr sz="1050">
                <a:solidFill>
                  <a:srgbClr val="F1F5F9"/>
                </a:solidFill>
              </a:defRPr>
            </a:pPr>
            <a:r>
              <a:t>TerraGridW delivers intelligent management of bulk water transmission networks, regional canals, and pumping stations. It optimizes pumping station energy via dynamic multi-pump sequencing, detects pipeline bursts using high-speed transient wave analysis, and integrates DLMS/LoRa smart meters with automated billing.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1691640"/>
            <a:ext cx="2084831" cy="118872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69480" y="1828800"/>
            <a:ext cx="1810511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94A3B8"/>
                </a:solidFill>
              </a:defRPr>
            </a:pPr>
            <a:r>
              <a:t>REVERSE OSMOSIS</a:t>
            </a:r>
          </a:p>
          <a:p>
            <a:pPr>
              <a:spcBef>
                <a:spcPts val="400"/>
              </a:spcBef>
              <a:defRPr sz="1400" b="1">
                <a:solidFill>
                  <a:srgbClr val="34D399"/>
                </a:solidFill>
              </a:defRPr>
            </a:pPr>
            <a:r>
              <a:t>82.5% Recovery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81743" y="1691640"/>
            <a:ext cx="2084831" cy="118872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18903" y="1828800"/>
            <a:ext cx="1810511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94A3B8"/>
                </a:solidFill>
              </a:defRPr>
            </a:pPr>
            <a:r>
              <a:t>WATER QUALITY</a:t>
            </a:r>
          </a:p>
          <a:p>
            <a:pPr>
              <a:spcBef>
                <a:spcPts val="400"/>
              </a:spcBef>
              <a:defRPr sz="1400" b="1">
                <a:solidFill>
                  <a:srgbClr val="FFFFFF"/>
                </a:solidFill>
              </a:defRPr>
            </a:pPr>
            <a:r>
              <a:t>TDS / pH Online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3044952"/>
            <a:ext cx="2084831" cy="118872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69480" y="3182112"/>
            <a:ext cx="1810511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94A3B8"/>
                </a:solidFill>
              </a:defRPr>
            </a:pPr>
            <a:r>
              <a:t>SPECIFIC ENERGY</a:t>
            </a:r>
          </a:p>
          <a:p>
            <a:pPr>
              <a:spcBef>
                <a:spcPts val="400"/>
              </a:spcBef>
              <a:defRPr sz="1400" b="1">
                <a:solidFill>
                  <a:srgbClr val="FFFFFF"/>
                </a:solidFill>
              </a:defRPr>
            </a:pPr>
            <a:r>
              <a:t>2.8 kWh/m³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81743" y="3044952"/>
            <a:ext cx="2084831" cy="118872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18903" y="3182112"/>
            <a:ext cx="1810511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94A3B8"/>
                </a:solidFill>
              </a:defRPr>
            </a:pPr>
            <a:r>
              <a:t>LEAK PINPOINTING</a:t>
            </a:r>
          </a:p>
          <a:p>
            <a:pPr>
              <a:spcBef>
                <a:spcPts val="400"/>
              </a:spcBef>
              <a:defRPr sz="1400" b="1">
                <a:solidFill>
                  <a:srgbClr val="FFFFFF"/>
                </a:solidFill>
              </a:defRPr>
            </a:pPr>
            <a:r>
              <a:t>Acoustic + Mass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0" y="4434840"/>
            <a:ext cx="4334256" cy="192024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28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60920" y="4617720"/>
            <a:ext cx="38404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TERRESTRIAL PLATFORM CORE</a:t>
            </a:r>
          </a:p>
          <a:p>
            <a:pPr>
              <a:spcBef>
                <a:spcPts val="200"/>
              </a:spcBef>
              <a:defRPr sz="1100" b="1">
                <a:solidFill>
                  <a:srgbClr val="FFFFFF"/>
                </a:solidFill>
              </a:defRPr>
            </a:pPr>
            <a:r>
              <a:t>Edge-to-Cloud Cognitive Nervous System</a:t>
            </a:r>
          </a:p>
          <a:p>
            <a:pPr>
              <a:spcBef>
                <a:spcPts val="400"/>
              </a:spcBef>
              <a:defRPr sz="900">
                <a:solidFill>
                  <a:srgbClr val="94A3B8"/>
                </a:solidFill>
              </a:defRPr>
            </a:pPr>
            <a:r>
              <a:t>Physics-informed mathematical twin running sub-25ms closed-loop supervisory control with full ISA-95/101 conformity.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389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TERRESTRIAL PLATFORM  |  TERRAGRIDW  |  OPERATIONAL 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96012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1">
                <a:solidFill>
                  <a:srgbClr val="FFFFFF"/>
                </a:solidFill>
              </a:defRPr>
            </a:pPr>
            <a:r>
              <a:t>TerraGridW ANSI/ISA-101 Operational Interface &amp; Real-Time System Representation</a:t>
            </a:r>
          </a:p>
          <a:p>
            <a:pPr>
              <a:spcBef>
                <a:spcPts val="300"/>
              </a:spcBef>
              <a:defRPr sz="1050">
                <a:solidFill>
                  <a:srgbClr val="94A3B8"/>
                </a:solidFill>
              </a:defRPr>
            </a:pPr>
            <a:r>
              <a:t>ANSI/ISA-101 Ergonomic High-Performance HMI · Real-Time System Representation</a:t>
            </a:r>
          </a:p>
        </p:txBody>
      </p:sp>
      <p:pic>
        <p:nvPicPr>
          <p:cNvPr id="6" name="Picture 5" descr="tp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411480"/>
            <a:ext cx="987552" cy="38404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645920"/>
            <a:ext cx="10728655" cy="470916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erra_gridw_showcas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691640"/>
            <a:ext cx="10637215" cy="46177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389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TERRESTRIAL PLATFORM  |  TERRAGRIDW  |  CORE CAPABILITIES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96012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1">
                <a:solidFill>
                  <a:srgbClr val="FFFFFF"/>
                </a:solidFill>
              </a:defRPr>
            </a:pPr>
            <a:r>
              <a:t>What TerraGridW Will Do</a:t>
            </a:r>
          </a:p>
          <a:p>
            <a:pPr>
              <a:spcBef>
                <a:spcPts val="300"/>
              </a:spcBef>
              <a:defRPr sz="1050">
                <a:solidFill>
                  <a:srgbClr val="94A3B8"/>
                </a:solidFill>
              </a:defRPr>
            </a:pPr>
            <a:r>
              <a:t>Specific operational functions and engineering capabilities directly sourced from technical documentation.</a:t>
            </a:r>
          </a:p>
        </p:txBody>
      </p:sp>
      <p:pic>
        <p:nvPicPr>
          <p:cNvPr id="6" name="Picture 5" descr="tp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411480"/>
            <a:ext cx="987552" cy="38404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691640"/>
            <a:ext cx="5230368" cy="219456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28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74520"/>
            <a:ext cx="4773168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</a:defRPr>
            </a:pPr>
            <a:r>
              <a:t>PILLAR 01  |  ENGINEERING CAPABILITY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300" b="1">
                <a:solidFill>
                  <a:srgbClr val="FFFFFF"/>
                </a:solidFill>
              </a:defRPr>
            </a:pPr>
            <a:r>
              <a:t>Pumping Energy Optimization</a:t>
            </a:r>
          </a:p>
          <a:p>
            <a:pPr>
              <a:defRPr sz="1000">
                <a:solidFill>
                  <a:srgbClr val="F1F5F9"/>
                </a:solidFill>
              </a:defRPr>
            </a:pPr>
            <a:r>
              <a:t>Dynamic multi-pump sequencing and VFD coordination based on hydraulic head and Best Efficiency Point (BEP).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27064" y="1691640"/>
            <a:ext cx="5230368" cy="219456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28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55664" y="1874520"/>
            <a:ext cx="4773168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</a:defRPr>
            </a:pPr>
            <a:r>
              <a:t>PILLAR 02  |  ENGINEERING CAPABILITY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300" b="1">
                <a:solidFill>
                  <a:srgbClr val="FFFFFF"/>
                </a:solidFill>
              </a:defRPr>
            </a:pPr>
            <a:r>
              <a:t>Transient Wave Leak Detection</a:t>
            </a:r>
          </a:p>
          <a:p>
            <a:pPr>
              <a:defRPr sz="1000">
                <a:solidFill>
                  <a:srgbClr val="F1F5F9"/>
                </a:solidFill>
              </a:defRPr>
            </a:pPr>
            <a:r>
              <a:t>Real-time pressure burst localization capturing acoustic reflections to find pipe ruptures immediately.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14800"/>
            <a:ext cx="5230368" cy="219456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28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297680"/>
            <a:ext cx="4773168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</a:defRPr>
            </a:pPr>
            <a:r>
              <a:t>PILLAR 03  |  ENGINEERING CAPABILITY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300" b="1">
                <a:solidFill>
                  <a:srgbClr val="FFFFFF"/>
                </a:solidFill>
              </a:defRPr>
            </a:pPr>
            <a:r>
              <a:t>Integrated AMI / Billing Gateway</a:t>
            </a:r>
          </a:p>
          <a:p>
            <a:pPr>
              <a:defRPr sz="1000">
                <a:solidFill>
                  <a:srgbClr val="F1F5F9"/>
                </a:solidFill>
              </a:defRPr>
            </a:pPr>
            <a:r>
              <a:t>DLMS/COSEM and LoRa smart meter ingestion with built-in consumer billing and payment gateways.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27064" y="4114800"/>
            <a:ext cx="5230368" cy="219456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28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55664" y="4297680"/>
            <a:ext cx="4773168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</a:defRPr>
            </a:pPr>
            <a:r>
              <a:t>PILLAR 04  |  ENGINEERING CAPABILITY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300" b="1">
                <a:solidFill>
                  <a:srgbClr val="FFFFFF"/>
                </a:solidFill>
              </a:defRPr>
            </a:pPr>
            <a:r>
              <a:t>Non-Revenue Water (NRW) Analytics</a:t>
            </a:r>
          </a:p>
          <a:p>
            <a:pPr>
              <a:defRPr sz="1000">
                <a:solidFill>
                  <a:srgbClr val="F1F5F9"/>
                </a:solidFill>
              </a:defRPr>
            </a:pPr>
            <a:r>
              <a:t>Continuous mass balance algorithms quantifying unbilled distribution losses across regional pipeline networks.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389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TERRESTRIAL PLATFORM  |  TERRAGRIDW  |  FIELD USE CASES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96012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1">
                <a:solidFill>
                  <a:srgbClr val="FFFFFF"/>
                </a:solidFill>
              </a:defRPr>
            </a:pPr>
            <a:r>
              <a:t>Operational Use Cases &amp; Field Impact</a:t>
            </a:r>
          </a:p>
          <a:p>
            <a:pPr>
              <a:spcBef>
                <a:spcPts val="300"/>
              </a:spcBef>
              <a:defRPr sz="1050">
                <a:solidFill>
                  <a:srgbClr val="94A3B8"/>
                </a:solidFill>
              </a:defRPr>
            </a:pPr>
            <a:r>
              <a:t>Actual documented use cases across Quality Assurance, Reduced Manpower, Efficiency, and Asset Productivity.</a:t>
            </a:r>
          </a:p>
        </p:txBody>
      </p:sp>
      <p:pic>
        <p:nvPicPr>
          <p:cNvPr id="6" name="Picture 5" descr="tp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411480"/>
            <a:ext cx="987552" cy="38404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691640"/>
            <a:ext cx="5230368" cy="219456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28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74520"/>
            <a:ext cx="4773168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4D399"/>
                </a:solidFill>
              </a:defRPr>
            </a:pPr>
            <a:r>
              <a:t>CASE 01  |  EFFICIENCY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300" b="1">
                <a:solidFill>
                  <a:srgbClr val="FFFFFF"/>
                </a:solidFill>
              </a:defRPr>
            </a:pPr>
            <a:r>
              <a:t>Efficiency (Pumping Station Energy Optimization)</a:t>
            </a:r>
          </a:p>
          <a:p>
            <a:pPr>
              <a:defRPr sz="1000">
                <a:solidFill>
                  <a:srgbClr val="F1F5F9"/>
                </a:solidFill>
              </a:defRPr>
            </a:pPr>
            <a:r>
              <a:t>Dynamic multi-pump sequencing and VFD coordination based on hydraulic head reduces water pumping power by up to 22%.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27064" y="1691640"/>
            <a:ext cx="5230368" cy="219456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28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55664" y="1874520"/>
            <a:ext cx="4773168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4D399"/>
                </a:solidFill>
              </a:defRPr>
            </a:pPr>
            <a:r>
              <a:t>CASE 02  |  QA &amp; PIPELINE SAFETY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300" b="1">
                <a:solidFill>
                  <a:srgbClr val="FFFFFF"/>
                </a:solidFill>
              </a:defRPr>
            </a:pPr>
            <a:r>
              <a:t>QA &amp; Pipeline Safety (Transient Wave Leak Detection)</a:t>
            </a:r>
          </a:p>
          <a:p>
            <a:pPr>
              <a:defRPr sz="1000">
                <a:solidFill>
                  <a:srgbClr val="F1F5F9"/>
                </a:solidFill>
              </a:defRPr>
            </a:pPr>
            <a:r>
              <a:t>Real-time pressure burst localization and non-revenue water (NRW) analytics pinpoint leaks within 60 seconds.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14800"/>
            <a:ext cx="5230368" cy="219456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28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297680"/>
            <a:ext cx="4773168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4D399"/>
                </a:solidFill>
              </a:defRPr>
            </a:pPr>
            <a:r>
              <a:t>CASE 03  |  REDUCED MANPOWER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300" b="1">
                <a:solidFill>
                  <a:srgbClr val="FFFFFF"/>
                </a:solidFill>
              </a:defRPr>
            </a:pPr>
            <a:r>
              <a:t>Reduced Manpower (Integrated AMI &amp; Billing Gateway)</a:t>
            </a:r>
          </a:p>
          <a:p>
            <a:pPr>
              <a:defRPr sz="1000">
                <a:solidFill>
                  <a:srgbClr val="F1F5F9"/>
                </a:solidFill>
              </a:defRPr>
            </a:pPr>
            <a:r>
              <a:t>DLMS/COSEM and LoRa smart meter ingestion with built-in consumer payment gateways eliminates manual meter reading.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27064" y="4114800"/>
            <a:ext cx="5230368" cy="219456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28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55664" y="4297680"/>
            <a:ext cx="4773168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4D399"/>
                </a:solidFill>
              </a:defRPr>
            </a:pPr>
            <a:r>
              <a:t>CASE 04  |  PRODUCTIVITY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300" b="1">
                <a:solidFill>
                  <a:srgbClr val="FFFFFF"/>
                </a:solidFill>
              </a:defRPr>
            </a:pPr>
            <a:r>
              <a:t>Productivity (District Metering Area Balancing)</a:t>
            </a:r>
          </a:p>
          <a:p>
            <a:pPr>
              <a:defRPr sz="1000">
                <a:solidFill>
                  <a:srgbClr val="F1F5F9"/>
                </a:solidFill>
              </a:defRPr>
            </a:pPr>
            <a:r>
              <a:t>Balances bulk water delivery across municipal sectors to eradicate commercial water theft and unbilled losses.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389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TERRESTRIAL PLATFORM  |  TERRAGRIDW  |  ARCHITECTURAL CONTRAST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96012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1">
                <a:solidFill>
                  <a:srgbClr val="FFFFFF"/>
                </a:solidFill>
              </a:defRPr>
            </a:pPr>
            <a:r>
              <a:t>Comparison with Traditional SCADA / Legacy Systems</a:t>
            </a:r>
          </a:p>
          <a:p>
            <a:pPr>
              <a:spcBef>
                <a:spcPts val="300"/>
              </a:spcBef>
              <a:defRPr sz="1050">
                <a:solidFill>
                  <a:srgbClr val="94A3B8"/>
                </a:solidFill>
              </a:defRPr>
            </a:pPr>
            <a:r>
              <a:t>Point-by-point contrast demonstrating the technological shift from legacy industrial automation to the Terrestrial Platform.</a:t>
            </a:r>
          </a:p>
        </p:txBody>
      </p:sp>
      <p:pic>
        <p:nvPicPr>
          <p:cNvPr id="6" name="Picture 5" descr="tp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411480"/>
            <a:ext cx="987552" cy="38404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691640"/>
            <a:ext cx="5230368" cy="502920"/>
          </a:xfrm>
          <a:prstGeom prst="roundRect">
            <a:avLst/>
          </a:prstGeom>
          <a:solidFill>
            <a:srgbClr val="1C1216"/>
          </a:solidFill>
          <a:ln w="12700">
            <a:solidFill>
              <a:srgbClr val="501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8308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F4444"/>
                </a:solidFill>
              </a:defRPr>
            </a:pPr>
            <a:r>
              <a:t>TRADITIONAL LEGACY SYSTEMS / SILOED SCADA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27064" y="1691640"/>
            <a:ext cx="5230368" cy="502920"/>
          </a:xfrm>
          <a:prstGeom prst="roundRect">
            <a:avLst/>
          </a:prstGeom>
          <a:solidFill>
            <a:srgbClr val="0F1C26"/>
          </a:solidFill>
          <a:ln w="12700">
            <a:solidFill>
              <a:srgbClr val="194B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64224" y="178308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TERRAGRIDW TERRESTRIAL PLATFORM ADVANTAGE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286000"/>
            <a:ext cx="5230368" cy="1298448"/>
          </a:xfrm>
          <a:prstGeom prst="roundRect">
            <a:avLst/>
          </a:prstGeom>
          <a:solidFill>
            <a:srgbClr val="1C1216"/>
          </a:solidFill>
          <a:ln w="12700">
            <a:solidFill>
              <a:srgbClr val="501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359152"/>
            <a:ext cx="4956048" cy="1152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>
                <a:solidFill>
                  <a:srgbClr val="F1F5F9"/>
                </a:solidFill>
              </a:defRPr>
            </a:pPr>
            <a:r>
              <a:t>Pumps operated manually at fixed speeds regardless of hydraulic head or fluctuating electricity tariffs.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27064" y="2286000"/>
            <a:ext cx="5230368" cy="1298448"/>
          </a:xfrm>
          <a:prstGeom prst="roundRect">
            <a:avLst/>
          </a:prstGeom>
          <a:solidFill>
            <a:srgbClr val="0F1C26"/>
          </a:solidFill>
          <a:ln w="12700">
            <a:solidFill>
              <a:srgbClr val="194B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64224" y="2359152"/>
            <a:ext cx="4956048" cy="1152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4D399"/>
                </a:solidFill>
              </a:defRPr>
            </a:pPr>
            <a:r>
              <a:t>AI-driven pump sequencing and dynamic VFD speed optimization based on time-of-day power tariffs and reservoir levels.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694176"/>
            <a:ext cx="5230368" cy="1298448"/>
          </a:xfrm>
          <a:prstGeom prst="roundRect">
            <a:avLst/>
          </a:prstGeom>
          <a:solidFill>
            <a:srgbClr val="1C1216"/>
          </a:solidFill>
          <a:ln w="12700">
            <a:solidFill>
              <a:srgbClr val="501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767328"/>
            <a:ext cx="4956048" cy="1152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>
                <a:solidFill>
                  <a:srgbClr val="F1F5F9"/>
                </a:solidFill>
              </a:defRPr>
            </a:pPr>
            <a:r>
              <a:t>Pipeline leaks detected only when water pools on the surface or consumers complain of dry taps.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27064" y="3694176"/>
            <a:ext cx="5230368" cy="1298448"/>
          </a:xfrm>
          <a:prstGeom prst="roundRect">
            <a:avLst/>
          </a:prstGeom>
          <a:solidFill>
            <a:srgbClr val="0F1C26"/>
          </a:solidFill>
          <a:ln w="12700">
            <a:solidFill>
              <a:srgbClr val="194B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64224" y="3767328"/>
            <a:ext cx="4956048" cy="1152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4D399"/>
                </a:solidFill>
              </a:defRPr>
            </a:pPr>
            <a:r>
              <a:t>High-frequency pressure transient wave algorithms pinpointing pipe bursts and micro-leaks within seconds.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102352"/>
            <a:ext cx="5230368" cy="1298448"/>
          </a:xfrm>
          <a:prstGeom prst="roundRect">
            <a:avLst/>
          </a:prstGeom>
          <a:solidFill>
            <a:srgbClr val="1C1216"/>
          </a:solidFill>
          <a:ln w="12700">
            <a:solidFill>
              <a:srgbClr val="501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5175504"/>
            <a:ext cx="4956048" cy="1152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>
                <a:solidFill>
                  <a:srgbClr val="F1F5F9"/>
                </a:solidFill>
              </a:defRPr>
            </a:pPr>
            <a:r>
              <a:t>Manual meter reading prone to billing disputes, estimated bills, and heavy non-revenue water (NRW) loss.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27064" y="5102352"/>
            <a:ext cx="5230368" cy="1298448"/>
          </a:xfrm>
          <a:prstGeom prst="roundRect">
            <a:avLst/>
          </a:prstGeom>
          <a:solidFill>
            <a:srgbClr val="0F1C26"/>
          </a:solidFill>
          <a:ln w="12700">
            <a:solidFill>
              <a:srgbClr val="194B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5175504"/>
            <a:ext cx="4956048" cy="1152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4D399"/>
                </a:solidFill>
              </a:defRPr>
            </a:pPr>
            <a:r>
              <a:t>Automated Metering Infrastructure (AMI) with LoRa/DLMS meters and integrated consumer billing portals.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389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TERRESTRIAL PLATFORM  |  TERRAGRIDW  |  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96012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1">
                <a:solidFill>
                  <a:srgbClr val="FFFFFF"/>
                </a:solidFill>
              </a:defRPr>
            </a:pPr>
            <a:r>
              <a:t>End-to-End System Diagram &amp; Data Pipeline</a:t>
            </a:r>
          </a:p>
          <a:p>
            <a:pPr>
              <a:spcBef>
                <a:spcPts val="300"/>
              </a:spcBef>
              <a:defRPr sz="1050">
                <a:solidFill>
                  <a:srgbClr val="94A3B8"/>
                </a:solidFill>
              </a:defRPr>
            </a:pPr>
            <a:r>
              <a:t>Visual architecture diagram representing field telemetry ingestion, deterministic edge fabric, AI reasoning, and closed-loop actuation.</a:t>
            </a:r>
          </a:p>
        </p:txBody>
      </p:sp>
      <p:pic>
        <p:nvPicPr>
          <p:cNvPr id="6" name="Picture 5" descr="tp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411480"/>
            <a:ext cx="987552" cy="38404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691640"/>
            <a:ext cx="2514600" cy="361188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56232"/>
            <a:ext cx="2185416" cy="32826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</a:defRPr>
            </a:pPr>
            <a:r>
              <a:t>LAYER 01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200" b="1">
                <a:solidFill>
                  <a:srgbClr val="FFFFFF"/>
                </a:solidFill>
              </a:defRPr>
            </a:pPr>
            <a:r>
              <a:t>DMA &amp; Pressure Ingestion</a:t>
            </a:r>
          </a:p>
          <a:p>
            <a:pPr>
              <a:spcAft>
                <a:spcPts val="800"/>
              </a:spcAft>
              <a:defRPr sz="900">
                <a:solidFill>
                  <a:srgbClr val="F1F5F9"/>
                </a:solidFill>
              </a:defRPr>
            </a:pPr>
            <a:r>
              <a:t>Telemetry acquisition from electromagnetic flowmeters, district metered area (DMA) pressure loggers, and reservoir level transmitters.</a:t>
            </a:r>
          </a:p>
          <a:p>
            <a:pPr>
              <a:spcBef>
                <a:spcPts val="400"/>
              </a:spcBef>
              <a:defRPr sz="800" b="1">
                <a:solidFill>
                  <a:srgbClr val="94A3B8"/>
                </a:solidFill>
              </a:defRPr>
            </a:pPr>
            <a:r>
              <a:t>PROTOCOLS &amp; STANDARDS:</a:t>
            </a:r>
          </a:p>
          <a:p>
            <a:pPr>
              <a:spcBef>
                <a:spcPts val="200"/>
              </a:spcBef>
              <a:defRPr sz="850">
                <a:solidFill>
                  <a:srgbClr val="34D399"/>
                </a:solidFill>
              </a:defRPr>
            </a:pPr>
            <a:r>
              <a:t> • DLMS/COSEM (IEC 62056)</a:t>
            </a:r>
            <a:br/>
            <a:r>
              <a:t> • LoRaWAN / NB-IoT</a:t>
            </a:r>
            <a:br/>
            <a:r>
              <a:t> • Modbus RTU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691640"/>
            <a:ext cx="2514600" cy="361188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0168" y="1856232"/>
            <a:ext cx="2185416" cy="32826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</a:defRPr>
            </a:pPr>
            <a:r>
              <a:t>LAYER 02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200" b="1">
                <a:solidFill>
                  <a:srgbClr val="FFFFFF"/>
                </a:solidFill>
              </a:defRPr>
            </a:pPr>
            <a:r>
              <a:t>Hydraulic Zone Stream</a:t>
            </a:r>
          </a:p>
          <a:p>
            <a:pPr>
              <a:spcAft>
                <a:spcPts val="800"/>
              </a:spcAft>
              <a:defRPr sz="900">
                <a:solidFill>
                  <a:srgbClr val="F1F5F9"/>
                </a:solidFill>
              </a:defRPr>
            </a:pPr>
            <a:r>
              <a:t>Low-power edge data buffering, water hammer transient capture, and diurnal flow pattern normalization across pressure management zones.</a:t>
            </a:r>
          </a:p>
          <a:p>
            <a:pPr>
              <a:spcBef>
                <a:spcPts val="400"/>
              </a:spcBef>
              <a:defRPr sz="800" b="1">
                <a:solidFill>
                  <a:srgbClr val="94A3B8"/>
                </a:solidFill>
              </a:defRPr>
            </a:pPr>
            <a:r>
              <a:t>PROTOCOLS &amp; STANDARDS:</a:t>
            </a:r>
          </a:p>
          <a:p>
            <a:pPr>
              <a:spcBef>
                <a:spcPts val="200"/>
              </a:spcBef>
              <a:defRPr sz="850">
                <a:solidFill>
                  <a:srgbClr val="34D399"/>
                </a:solidFill>
              </a:defRPr>
            </a:pPr>
            <a:r>
              <a:t> • Hydraulic Telemetry Bus</a:t>
            </a:r>
            <a:br/>
            <a:r>
              <a:t> • Diurnal Flow Stream</a:t>
            </a:r>
            <a:br/>
            <a:r>
              <a:t> • Transient Pressure Buffer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691640"/>
            <a:ext cx="2514600" cy="361188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64224" y="1856232"/>
            <a:ext cx="2185416" cy="32826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</a:defRPr>
            </a:pPr>
            <a:r>
              <a:t>LAYER 03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200" b="1">
                <a:solidFill>
                  <a:srgbClr val="FFFFFF"/>
                </a:solidFill>
              </a:defRPr>
            </a:pPr>
            <a:r>
              <a:t>NRW Leak Localization Core</a:t>
            </a:r>
          </a:p>
          <a:p>
            <a:pPr>
              <a:spcAft>
                <a:spcPts val="800"/>
              </a:spcAft>
              <a:defRPr sz="900">
                <a:solidFill>
                  <a:srgbClr val="F1F5F9"/>
                </a:solidFill>
              </a:defRPr>
            </a:pPr>
            <a:r>
              <a:t>EPANET hydraulic simulation, acoustic leak cross-correlation, night-flow anomaly detection, and pipe burst localization algorithms.</a:t>
            </a:r>
          </a:p>
          <a:p>
            <a:pPr>
              <a:spcBef>
                <a:spcPts val="400"/>
              </a:spcBef>
              <a:defRPr sz="800" b="1">
                <a:solidFill>
                  <a:srgbClr val="94A3B8"/>
                </a:solidFill>
              </a:defRPr>
            </a:pPr>
            <a:r>
              <a:t>PROTOCOLS &amp; STANDARDS:</a:t>
            </a:r>
          </a:p>
          <a:p>
            <a:pPr>
              <a:spcBef>
                <a:spcPts val="200"/>
              </a:spcBef>
              <a:defRPr sz="850">
                <a:solidFill>
                  <a:srgbClr val="34D399"/>
                </a:solidFill>
              </a:defRPr>
            </a:pPr>
            <a:r>
              <a:t> • EPANET Hydraulic Model</a:t>
            </a:r>
            <a:br/>
            <a:r>
              <a:t> • Acoustic Cross-Correlator</a:t>
            </a:r>
            <a:br/>
            <a:r>
              <a:t> • NRW Leak AI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33688" y="1691640"/>
            <a:ext cx="2514600" cy="361188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98280" y="1856232"/>
            <a:ext cx="2185416" cy="32826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</a:defRPr>
            </a:pPr>
            <a:r>
              <a:t>LAYER 04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200" b="1">
                <a:solidFill>
                  <a:srgbClr val="FFFFFF"/>
                </a:solidFill>
              </a:defRPr>
            </a:pPr>
            <a:r>
              <a:t>PRV &amp; Pump Actuation Cockpit</a:t>
            </a:r>
          </a:p>
          <a:p>
            <a:pPr>
              <a:spcAft>
                <a:spcPts val="800"/>
              </a:spcAft>
              <a:defRPr sz="900">
                <a:solidFill>
                  <a:srgbClr val="F1F5F9"/>
                </a:solidFill>
              </a:defRPr>
            </a:pPr>
            <a:r>
              <a:t>Closed-loop PRV modulating setpoints, pump station variable speed drive dispatch, and ANSI/ISA-101 municipal water distribution dashboards.</a:t>
            </a:r>
          </a:p>
          <a:p>
            <a:pPr>
              <a:spcBef>
                <a:spcPts val="400"/>
              </a:spcBef>
              <a:defRPr sz="800" b="1">
                <a:solidFill>
                  <a:srgbClr val="94A3B8"/>
                </a:solidFill>
              </a:defRPr>
            </a:pPr>
            <a:r>
              <a:t>PROTOCOLS &amp; STANDARDS:</a:t>
            </a:r>
          </a:p>
          <a:p>
            <a:pPr>
              <a:spcBef>
                <a:spcPts val="200"/>
              </a:spcBef>
              <a:defRPr sz="850">
                <a:solidFill>
                  <a:srgbClr val="34D399"/>
                </a:solidFill>
              </a:defRPr>
            </a:pPr>
            <a:r>
              <a:t> • PRV Modulation</a:t>
            </a:r>
            <a:br/>
            <a:r>
              <a:t> • Pump VFD Dispatch</a:t>
            </a:r>
            <a:br/>
            <a:r>
              <a:t> • ISA-101 Water HMI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486400"/>
            <a:ext cx="10728655" cy="86868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5596128"/>
            <a:ext cx="102412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</a:defRPr>
            </a:pPr>
            <a:r>
              <a:t>UNIFIED DATA PIPELINE FLOW</a:t>
            </a:r>
          </a:p>
          <a:p>
            <a:pPr>
              <a:spcBef>
                <a:spcPts val="200"/>
              </a:spcBef>
              <a:defRPr sz="950" b="1">
                <a:solidFill>
                  <a:srgbClr val="FFFFFF"/>
                </a:solidFill>
              </a:defRPr>
            </a:pPr>
            <a:r>
              <a:t>DMA Flow &amp; Pressure Telemetry ➔ Hydraulic Zone Stream ➔ EPANET Simulation &amp; NRW Leak AI ➔ Automated PRV &amp; Pump Actuation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389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TERRESTRIAL PLATFORM  |  TERRAGRIDW  |  DEPLOYMENT &amp; SI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96012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1">
                <a:solidFill>
                  <a:srgbClr val="FFFFFF"/>
                </a:solidFill>
              </a:defRPr>
            </a:pPr>
            <a:r>
              <a:t>System Integrator Deployment Framework &amp; Commercial Model</a:t>
            </a:r>
          </a:p>
          <a:p>
            <a:pPr>
              <a:spcBef>
                <a:spcPts val="300"/>
              </a:spcBef>
              <a:defRPr sz="1050">
                <a:solidFill>
                  <a:srgbClr val="94A3B8"/>
                </a:solidFill>
              </a:defRPr>
            </a:pPr>
            <a:r>
              <a:t>Zero rip-and-replace turnkey onboarding with recurring enterprise margins and co-selling enablement.</a:t>
            </a:r>
          </a:p>
        </p:txBody>
      </p:sp>
      <p:pic>
        <p:nvPicPr>
          <p:cNvPr id="6" name="Picture 5" descr="tp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411480"/>
            <a:ext cx="987552" cy="38404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691640"/>
            <a:ext cx="3429000" cy="265176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28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56232"/>
            <a:ext cx="3063240" cy="23225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</a:defRPr>
            </a:pPr>
            <a:r>
              <a:t>PHASE 01 | CONNECTIVITY &amp; AUDIT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200" b="1">
                <a:solidFill>
                  <a:srgbClr val="FFFFFF"/>
                </a:solidFill>
              </a:defRPr>
            </a:pPr>
            <a:r>
              <a:t>Zero Rip-and-Replace Onboarding</a:t>
            </a:r>
          </a:p>
          <a:p>
            <a:pPr>
              <a:defRPr sz="950">
                <a:solidFill>
                  <a:srgbClr val="F1F5F9"/>
                </a:solidFill>
              </a:defRPr>
            </a:pPr>
            <a:r>
              <a:t>Non-intrusive protocol discovery across field PLCs, RTUs, and historians. Plug-and-play mapping of tags into the unified TPIM semantic namespace without stopping ongoing plant production.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9976" y="1691640"/>
            <a:ext cx="3429000" cy="265176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28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62856" y="1856232"/>
            <a:ext cx="3063240" cy="23225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</a:defRPr>
            </a:pPr>
            <a:r>
              <a:t>PHASE 02 | TWIN CALIBRATION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200" b="1">
                <a:solidFill>
                  <a:srgbClr val="FFFFFF"/>
                </a:solidFill>
              </a:defRPr>
            </a:pPr>
            <a:r>
              <a:t>Physics-Model Synchronization</a:t>
            </a:r>
          </a:p>
          <a:p>
            <a:pPr>
              <a:defRPr sz="950">
                <a:solidFill>
                  <a:srgbClr val="F1F5F9"/>
                </a:solidFill>
              </a:defRPr>
            </a:pPr>
            <a:r>
              <a:t>Deploy high-frequency Edge Gateway on premise. Calibrate first-principles thermodynamic and kinematic models against historical telemetry to achieve 99.4%+ deterministic accuracy.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28432" y="1691640"/>
            <a:ext cx="3429000" cy="265176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28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11312" y="1856232"/>
            <a:ext cx="3063240" cy="23225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</a:defRPr>
            </a:pPr>
            <a:r>
              <a:t>PHASE 03 | AUTONOMOUS GO-LIVE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200" b="1">
                <a:solidFill>
                  <a:srgbClr val="FFFFFF"/>
                </a:solidFill>
              </a:defRPr>
            </a:pPr>
            <a:r>
              <a:t>Closed-Loop Setpoint Actuation</a:t>
            </a:r>
          </a:p>
          <a:p>
            <a:pPr>
              <a:defRPr sz="950">
                <a:solidFill>
                  <a:srgbClr val="F1F5F9"/>
                </a:solidFill>
              </a:defRPr>
            </a:pPr>
            <a:r>
              <a:t>Supervisory closed-loop setpoint dispatch with bumpless transfer. Comprehensive ISA-101 verified cockpit handoff with continuous SI recurring monitoring and support tiers.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526280"/>
            <a:ext cx="10728655" cy="182880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663440"/>
            <a:ext cx="102412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COMMERCIAL VALUE PROPOSITION FOR SYSTEM INTEGRATORS (TERRAGRIDW)</a:t>
            </a:r>
          </a:p>
          <a:p>
            <a:pPr>
              <a:spcBef>
                <a:spcPts val="300"/>
              </a:spcBef>
              <a:defRPr sz="950">
                <a:solidFill>
                  <a:srgbClr val="F1F5F9"/>
                </a:solidFill>
              </a:defRPr>
            </a:pPr>
            <a:r>
              <a:t>• High-Margin Software Recurring Revenue: Earn 25%–35% continuous recurring margin on every TerraGridW software deployment, maintenance tier, and AI compute instance.</a:t>
            </a:r>
          </a:p>
          <a:p>
            <a:pPr>
              <a:spcBef>
                <a:spcPts val="300"/>
              </a:spcBef>
              <a:defRPr sz="950">
                <a:solidFill>
                  <a:srgbClr val="F1F5F9"/>
                </a:solidFill>
              </a:defRPr>
            </a:pPr>
            <a:r>
              <a:t>• Turnkey Engineering Velocity: Deploy within 7 to 14 days leveraging pre-trained neural networks and automated semantic tag mapping, avoiding expensive months-long custom PLC code rewrites.</a:t>
            </a:r>
          </a:p>
          <a:p>
            <a:pPr>
              <a:spcBef>
                <a:spcPts val="300"/>
              </a:spcBef>
              <a:defRPr sz="950">
                <a:solidFill>
                  <a:srgbClr val="F1F5F9"/>
                </a:solidFill>
              </a:defRPr>
            </a:pPr>
            <a:r>
              <a:t>• Enterprise Co-Selling &amp; Ecosystem: Access joint executive pipeline opportunities, certified engineering documentation, and board-level C-Suite presentation toolkits.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