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TerraPFD - Enterprise Product Specification</a:t>
            </a:r>
          </a:p>
          <a:p>
            <a:r>
              <a:t>Tagline: First-Principles Science-Grounded Process Flow Diagrams &amp; Balance Engine</a:t>
            </a:r>
          </a:p>
          <a:p/>
          <a:p>
            <a:r>
              <a:t>Outcome Quote:</a:t>
            </a:r>
          </a:p>
          <a:p>
            <a:r>
              <a:t>“Creation of plants science model culminating into PFD ready for plug and play with actual physical plant.” (— THE OUTCOME-BASED REVOLUTION)</a:t>
            </a:r>
          </a:p>
          <a:p/>
          <a:p>
            <a:r>
              <a:t>Executive Overview:</a:t>
            </a:r>
          </a:p>
          <a:p>
            <a:r>
              <a:t>TerraPFD bridges process engineering science with real-time operations. It transforms static 2D drawings into living Process Flow Diagrams calibrated with real thermodynamic and hydraulic first principles, mass &amp; energy balances, and pre-built controller I/O bindings ready for deployment.</a:t>
            </a:r>
          </a:p>
          <a:p/>
          <a:p>
            <a:r>
              <a:t>Key Telemetry Metrics:</a:t>
            </a:r>
          </a:p>
          <a:p>
            <a:r>
              <a:t>- REACTOR-01 MEB:: 100.0% Closed</a:t>
            </a:r>
          </a:p>
          <a:p>
            <a:r>
              <a:t>- CONSERVATION C/H2/O2:: Nominal</a:t>
            </a:r>
          </a:p>
          <a:p>
            <a:r>
              <a:t>- ASME V&amp;V 20:: Code V • Verified</a:t>
            </a:r>
          </a:p>
          <a:p>
            <a:r>
              <a:t>- EDGE SYNC:: 0.42 ms Jitter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TerraPFD - ANSI/ISA-101 Verified Operational Interface</a:t>
            </a:r>
          </a:p>
          <a:p>
            <a:r>
              <a:t>Representation: TerraPFD ANSI/ISA-101 Operational Interface &amp; Real-Time System Representation</a:t>
            </a:r>
          </a:p>
          <a:p>
            <a:r>
              <a:t>Compliance: ANSI/ISA-101 Verified HMI</a:t>
            </a:r>
          </a:p>
          <a:p>
            <a:r>
              <a:t>Asset File: terra_pfd_showcase.jpg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TerraPFD Will Do:</a:t>
            </a:r>
          </a:p>
          <a:p>
            <a:r>
              <a:t>[1] Thermodynamic Balance Engine:</a:t>
            </a:r>
          </a:p>
          <a:p>
            <a:r>
              <a:t>Embedded thermodynamic property libraries for accurate real-time enthalpy, entropy, and vapor fraction calculations.</a:t>
            </a:r>
          </a:p>
          <a:p/>
          <a:p>
            <a:r>
              <a:t>[2] Mass &amp; Energy Balance Dossiers:</a:t>
            </a:r>
          </a:p>
          <a:p>
            <a:r>
              <a:t>Continuous tracking of mass and thermal balances across every branch of the plant network.</a:t>
            </a:r>
          </a:p>
          <a:p/>
          <a:p>
            <a:r>
              <a:t>[3] Direct Controller Mapping:</a:t>
            </a:r>
          </a:p>
          <a:p>
            <a:r>
              <a:t>Pre-built I/O bindings for seamless deployment to physical plant equipment and PLCs.</a:t>
            </a:r>
          </a:p>
          <a:p/>
          <a:p>
            <a:r>
              <a:t>[4] Fouling &amp; Degradation Tracking:</a:t>
            </a:r>
          </a:p>
          <a:p>
            <a:r>
              <a:t>Tracks heat transfer coefficients (U-values) over time to alert operators when heat exchanger tubes require cleaning.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TerraPFD - Operational Use Cases &amp; Field Impact:</a:t>
            </a:r>
          </a:p>
          <a:p>
            <a:r>
              <a:t>[Efficiency] Efficiency (Mass &amp; Energy Balance Calculations):</a:t>
            </a:r>
          </a:p>
          <a:p>
            <a:r>
              <a:t>Calculates real-time mass and thermal balances across condensers, heat exchangers, and distillation columns, uncovering energy losses. (Terra Aavtar Mass &amp; Energy Balance).</a:t>
            </a:r>
          </a:p>
          <a:p/>
          <a:p>
            <a:r>
              <a:t>[QA] QA (Thermodynamic Bottleneck Detection):</a:t>
            </a:r>
          </a:p>
          <a:p>
            <a:r>
              <a:t>Detects hydraulic and thermal bottlenecks before physical equipment is fabricated, preventing cavitation and vapor-lock. (Terra Aavtar Thermodynamics).</a:t>
            </a:r>
          </a:p>
          <a:p/>
          <a:p>
            <a:r>
              <a:t>[Productivity] Productivity (Pre-Built Controller I/O Bindings):</a:t>
            </a:r>
          </a:p>
          <a:p>
            <a:r>
              <a:t>Pre-mapped I/O tags allow process engineers to deploy validated setpoints straight to plant controllers with zero re-tagging.</a:t>
            </a:r>
          </a:p>
          <a:p/>
          <a:p>
            <a:r>
              <a:t>[Reduced Manpower] Reduced Manpower (Virtual Metering of Unmetered Streams):</a:t>
            </a:r>
          </a:p>
          <a:p>
            <a:r>
              <a:t>First-principles virtual metering calculates flow rates and enthalpies of intermediate streams without costly physical sensor installations.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TerraPFD - Architectural Contrast (Legacy SCADA vs Terrestrial Platform):</a:t>
            </a:r>
          </a:p>
          <a:p>
            <a:r>
              <a:t>LEGACY:</a:t>
            </a:r>
          </a:p>
          <a:p>
            <a:r>
              <a:t>Static PDF or AutoCAD drawings filed away in binders, disconnected from live operating conditions.</a:t>
            </a:r>
          </a:p>
          <a:p/>
          <a:p>
            <a:r>
              <a:t>TERRESTRIAL ADVANTAGE:</a:t>
            </a:r>
          </a:p>
          <a:p>
            <a:r>
              <a:t>Living, interactive diagrams where stream temperatures, pressures, and enthalpies recalculate in real time.</a:t>
            </a:r>
          </a:p>
          <a:p/>
          <a:p>
            <a:r>
              <a:t>LEGACY:</a:t>
            </a:r>
          </a:p>
          <a:p>
            <a:r>
              <a:t>Process bottlenecks only discovered after expensive equipment is fabricated and run on site.</a:t>
            </a:r>
          </a:p>
          <a:p/>
          <a:p>
            <a:r>
              <a:t>TERRESTRIAL ADVANTAGE:</a:t>
            </a:r>
          </a:p>
          <a:p>
            <a:r>
              <a:t>Predictive hydraulic and thermal simulation discovering vapor-lock and pressure drop bottlenecks beforehand.</a:t>
            </a:r>
          </a:p>
          <a:p/>
          <a:p>
            <a:r>
              <a:t>LEGACY:</a:t>
            </a:r>
          </a:p>
          <a:p>
            <a:r>
              <a:t>Operators lack visibility into unmetered streams and internal energy losses.</a:t>
            </a:r>
          </a:p>
          <a:p/>
          <a:p>
            <a:r>
              <a:t>TERRESTRIAL ADVANTAGE:</a:t>
            </a:r>
          </a:p>
          <a:p>
            <a:r>
              <a:t>First-principles virtual metering calculating flow rates and enthalpies of unmetered intermediate streams.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TerraPFD - End-to-End System Diagram &amp; Data Pipeline:</a:t>
            </a:r>
          </a:p>
          <a:p/>
          <a:p>
            <a:r>
              <a:t>Layer 01: P&amp;ID Instrument Ingestion</a:t>
            </a:r>
          </a:p>
          <a:p>
            <a:r>
              <a:t>Real-time acquisition connecting process transmitters (FT, PT, TT, LT), control valves, and process stream analyzer instrumentation across plant units.</a:t>
            </a:r>
          </a:p>
          <a:p>
            <a:r>
              <a:t>Protocols: OPC UA DA, HART / Fieldbus, Modbus TCP</a:t>
            </a:r>
          </a:p>
          <a:p/>
          <a:p>
            <a:r>
              <a:t>Layer 02: Flowsheet Topology Stream</a:t>
            </a:r>
          </a:p>
          <a:p>
            <a:r>
              <a:t>High-throughput flowsheet topology streaming, unit operation boundary condition buffering, and mass conservation balance tracking.</a:t>
            </a:r>
          </a:p>
          <a:p>
            <a:r>
              <a:t>Protocols: Flowsheet Topology Bus, Mass Conservation Stream, Unit Operation Buffer</a:t>
            </a:r>
          </a:p>
          <a:p/>
          <a:p>
            <a:r>
              <a:t>Layer 03: Rigorous Simulation Core</a:t>
            </a:r>
          </a:p>
          <a:p>
            <a:r>
              <a:t>Equation-oriented flash distillation solvers, heat exchanger LMTD rating, control valve Cv sizing validation, and vapor-liquid equilibrium (VLE) curves.</a:t>
            </a:r>
          </a:p>
          <a:p>
            <a:r>
              <a:t>Protocols: VLE Phase Envelope AI, LMTD Rating Model, Mass Balance Solver</a:t>
            </a:r>
          </a:p>
          <a:p/>
          <a:p>
            <a:r>
              <a:t>Layer 04: Interactive PFD Cockpit</a:t>
            </a:r>
          </a:p>
          <a:p>
            <a:r>
              <a:t>Real-time flowsheet topology navigation, control valve setpoint trim dispatch, and ANSI/ISA-101 interactive process flow diagram cockpits.</a:t>
            </a:r>
          </a:p>
          <a:p>
            <a:r>
              <a:t>Protocols: Valve Trim Dispatch, Topology Navigation, ISA-101 PFD Cockpit</a:t>
            </a:r>
          </a:p>
          <a:p/>
          <a:p>
            <a:r>
              <a:t>Pipeline Flow:</a:t>
            </a:r>
          </a:p>
          <a:p>
            <a:r>
              <a:t>DATA PIPELINE FLOW: P&amp;ID Instrument Field Ingestion ➔ Dynamic Flowsheet Topology Stream ➔ Rigorous VLE &amp; Mass Balance Solver ➔ Interactive Closed-Loop PFD Cockpit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TerraPFD - System Integrator Deployment Framework &amp; Commercial Model:</a:t>
            </a:r>
          </a:p>
          <a:p/>
          <a:p>
            <a:r>
              <a:t>Phase 1: Connectivity &amp; Audit</a:t>
            </a:r>
          </a:p>
          <a:p>
            <a:r>
              <a:t>Phase 2: Twin Calibration</a:t>
            </a:r>
          </a:p>
          <a:p>
            <a:r>
              <a:t>Phase 3: Autonomous Go-Live</a:t>
            </a:r>
          </a:p>
          <a:p/>
          <a:p>
            <a:r>
              <a:t>Commercial Enablement:</a:t>
            </a:r>
          </a:p>
          <a:p>
            <a:r>
              <a:t>- 25%-35% recurring SaaS margins</a:t>
            </a:r>
          </a:p>
          <a:p>
            <a:r>
              <a:t>- 7-14 day rapid commissioning</a:t>
            </a:r>
          </a:p>
          <a:p>
            <a:r>
              <a:t>- Co-selling and enterprise enablement support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TERRAPFD  |  ENTERPRISE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TerraPFD: First-Principles Science-Grounded Process Flow Diagrams &amp; Balance Engine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Autonomous Industrial Intelligence Suite · Tier-1 Plant Architecture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6217920" cy="46634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57607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i="1" b="1">
                <a:solidFill>
                  <a:srgbClr val="38BDF8"/>
                </a:solidFill>
              </a:defRPr>
            </a:pPr>
            <a:r>
              <a:t>““Creation of plants science model culminating into PFD ready for plug and play with actual physical plant.””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950" b="1">
                <a:solidFill>
                  <a:srgbClr val="94A3B8"/>
                </a:solidFill>
              </a:defRPr>
            </a:pPr>
            <a:r>
              <a:t>— — THE OUTCOME-BASED REVOLUTION</a:t>
            </a:r>
          </a:p>
          <a:p>
            <a:pPr>
              <a:spcAft>
                <a:spcPts val="600"/>
              </a:spcAft>
              <a:defRPr sz="1050" b="1">
                <a:solidFill>
                  <a:srgbClr val="FFFFFF"/>
                </a:solidFill>
              </a:defRPr>
            </a:pPr>
            <a:r>
              <a:t>EXECUTIVE OPERATIONAL SYNOPSIS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TerraPFD bridges process engineering science with real-time operations. It transforms static 2D drawings into living Process Flow Diagrams calibrated with real thermodynamic and hydraulic first principles, mass &amp; energy balances, and pre-built controller I/O bindings ready for deployment.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691640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1828800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REACTOR-01 MEB</a:t>
            </a:r>
          </a:p>
          <a:p>
            <a:pPr>
              <a:spcBef>
                <a:spcPts val="400"/>
              </a:spcBef>
              <a:defRPr sz="1400" b="1">
                <a:solidFill>
                  <a:srgbClr val="34D399"/>
                </a:solidFill>
              </a:defRPr>
            </a:pPr>
            <a:r>
              <a:t>100.0% Closed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81743" y="1691640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18903" y="1828800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CONSERVATION C/H2/O2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Nominal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3044952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3182112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ASME V&amp;V 20</a:t>
            </a:r>
          </a:p>
          <a:p>
            <a:pPr>
              <a:spcBef>
                <a:spcPts val="400"/>
              </a:spcBef>
              <a:defRPr sz="1400" b="1">
                <a:solidFill>
                  <a:srgbClr val="34D399"/>
                </a:solidFill>
              </a:defRPr>
            </a:pPr>
            <a:r>
              <a:t>Code V • 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81743" y="3044952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18903" y="3182112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EDGE SYNC</a:t>
            </a:r>
          </a:p>
          <a:p>
            <a:pPr>
              <a:spcBef>
                <a:spcPts val="400"/>
              </a:spcBef>
              <a:defRPr sz="1400" b="1">
                <a:solidFill>
                  <a:srgbClr val="38BDF8"/>
                </a:solidFill>
              </a:defRPr>
            </a:pPr>
            <a:r>
              <a:t>0.42 ms Jitter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434840"/>
            <a:ext cx="4334256" cy="19202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4617720"/>
            <a:ext cx="3840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CORE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Edge-to-Cloud Cognitive Nervous System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Physics-informed mathematical twin running sub-25ms closed-loop supervisory control with full ISA-95/101 conformity.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TERRAPFD  |  OPERATIONAL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TerraPFD ANSI/ISA-101 Operational Interface &amp; Real-Time System Representation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ANSI/ISA-101 Ergonomic High-Performance HMI · Real-Time System Representation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45920"/>
            <a:ext cx="10728655" cy="47091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rra_pfd_showca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91640"/>
            <a:ext cx="10637215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TERRAPFD  | 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What TerraPFD Will Do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Specific operational functions and engineering capabilities directly sourced from technical documentation.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01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Thermodynamic Balance Engine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Embedded thermodynamic property libraries for accurate real-time enthalpy, entropy, and vapor fraction calculations.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02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Mass &amp; Energy Balance Dossiers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Continuous tracking of mass and thermal balances across every branch of the plant network.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03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Direct Controller Mapping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Pre-built I/O bindings for seamless deployment to physical plant equipment and PLCs.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04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Fouling &amp; Degradation Tracking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Tracks heat transfer coefficients (U-values) over time to alert operators when heat exchanger tubes require cleaning.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TERRAPFD  |  FIELD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Operational Use Cases &amp; Field Impact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Actual documented use cases across Quality Assurance, Reduced Manpower, Efficiency, and Asset Productivity.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01  |  EFFICIENCY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Efficiency (Mass &amp; Energy Balance Calculations)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Calculates real-time mass and thermal balances across condensers, heat exchangers, and distillation columns, uncovering energy losses. (Terra Aavtar Mass &amp; Energy Balance).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02  |  QA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QA (Thermodynamic Bottleneck Detection)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Detects hydraulic and thermal bottlenecks before physical equipment is fabricated, preventing cavitation and vapor-lock. (Terra Aavtar Thermodynamics).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03  |  PRODUCTIVITY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Productivity (Pre-Built Controller I/O Bindings)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Pre-mapped I/O tags allow process engineers to deploy validated setpoints straight to plant controllers with zero re-tagging.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04  |  REDUCED MANPOWER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Reduced Manpower (Virtual Metering of Unmetered Streams)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First-principles virtual metering calculates flow rates and enthalpies of intermediate streams without costly physical sensor installations.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TERRAPFD  |  ARCHITECTURAL CONTRAST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Comparison with Traditional SCADA / Legacy Systems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Point-by-point contrast demonstrating the technological shift from legacy industrial automation to the Terrestrial Platform.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502920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TRADITIONAL LEGACY SYSTEMS / SILOED SCADA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502920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7830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TERRAPFD TERRESTRIAL PLATFORM ADVANTAGE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5230368" cy="1298448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59152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Static PDF or AutoCAD drawings filed away in binders, disconnected from live operating conditions.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2286000"/>
            <a:ext cx="5230368" cy="1298448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359152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Living, interactive diagrams where stream temperatures, pressures, and enthalpies recalculate in real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94176"/>
            <a:ext cx="5230368" cy="1298448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67328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Process bottlenecks only discovered after expensive equipment is fabricated and run on site.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3694176"/>
            <a:ext cx="5230368" cy="1298448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3767328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Predictive hydraulic and thermal simulation discovering vapor-lock and pressure drop bottlenecks beforehand.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02352"/>
            <a:ext cx="5230368" cy="1298448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175504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Operators lack visibility into unmetered streams and internal energy losses.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7064" y="5102352"/>
            <a:ext cx="5230368" cy="1298448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5175504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First-principles virtual metering calculating flow rates and enthalpies of unmetered intermediate streams.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TERRAPFD  |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End-to-End System Diagram &amp; Data Pipeline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Visual architecture diagram representing field telemetry ingestion, deterministic edge fabric, AI reasoning, and closed-loop actuation.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01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P&amp;ID Instrument Ingestion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Real-time acquisition connecting process transmitters (FT, PT, TT, LT), control valves, and process stream analyzer instrumentation across plant units.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OPC UA DA</a:t>
            </a:r>
            <a:br/>
            <a:r>
              <a:t> • HART / Fieldbus</a:t>
            </a:r>
            <a:br/>
            <a:r>
              <a:t> • Modbus TCP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02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Flowsheet Topology Stream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High-throughput flowsheet topology streaming, unit operation boundary condition buffering, and mass conservation balance tracking.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Flowsheet Topology Bus</a:t>
            </a:r>
            <a:br/>
            <a:r>
              <a:t> • Mass Conservation Stream</a:t>
            </a:r>
            <a:br/>
            <a:r>
              <a:t> • Unit Operation Buffer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03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Rigorous Simulation Core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Equation-oriented flash distillation solvers, heat exchanger LMTD rating, control valve Cv sizing validation, and vapor-liquid equilibrium (VLE) curves.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VLE Phase Envelope AI</a:t>
            </a:r>
            <a:br/>
            <a:r>
              <a:t> • LMTD Rating Model</a:t>
            </a:r>
            <a:br/>
            <a:r>
              <a:t> • Mass Balance Solver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3688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04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Interactive PFD Cockpit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Real-time flowsheet topology navigation, control valve setpoint trim dispatch, and ANSI/ISA-101 interactive process flow diagram cockpits.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Valve Trim Dispatch</a:t>
            </a:r>
            <a:br/>
            <a:r>
              <a:t> • Topology Navigation</a:t>
            </a:r>
            <a:br/>
            <a:r>
              <a:t> • ISA-101 PFD Cockpit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596128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UNIFIED DATA PIPELINE FLOW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</a:defRPr>
            </a:pPr>
            <a:r>
              <a:t>P&amp;ID Instrument Field Ingestion ➔ Dynamic Flowsheet Topology Stream ➔ Rigorous VLE &amp; Mass Balance Solver ➔ Interactive Closed-Loop PFD Cockpit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TERRAPFD  |  DEPLOYMENT &amp; SI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System Integrator Deployment Framework &amp; Commercial Model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Zero rip-and-replace turnkey onboarding with recurring enterprise margins and co-selling enablement.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01 | CONNECTIVITY &amp; AUDIT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Zero Rip-and-Replace Onboarding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Non-intrusive protocol discovery across field PLCs, RTUs, and historians. Plug-and-play mapping of tags into the unified TPIM semantic namespace without stopping ongoing plant production.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02 | TWIN CALIBRATION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Physics-Model Synchronization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Deploy high-frequency Edge Gateway on premise. Calibrate first-principles thermodynamic and kinematic models against historical telemetry to achieve 99.4%+ deterministic accuracy.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03 | AUTONOMOUS GO-LIVE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Closed-Loop Setpoint Actuation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Supervisory closed-loop setpoint dispatch with bumpless transfer. Comprehensive ISA-101 verified cockpit handoff with continuous SI recurring monitoring and support tiers.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26280"/>
            <a:ext cx="10728655" cy="182880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663440"/>
            <a:ext cx="10241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COMMERCIAL VALUE PROPOSITION FOR SYSTEM INTEGRATORS (TERRAPFD)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High-Margin Software Recurring Revenue: Earn 25%–35% continuous recurring margin on every TerraPFD software deployment, maintenance tier, and AI compute instance.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Turnkey Engineering Velocity: Deploy within 7 to 14 days leveraging pre-trained neural networks and automated semantic tag mapping, avoiding expensive months-long custom PLC code rewrites.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Enterprise Co-Selling &amp; Ecosystem: Access joint executive pipeline opportunities, certified engineering documentation, and board-level C-Suite presentation toolkits.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