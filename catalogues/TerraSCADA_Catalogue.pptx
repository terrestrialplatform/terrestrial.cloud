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TERRASCADA CATALOGUE  |  CONFIDENTIAL - AUTHORISED SYSTEM INTEGRATORS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0D4FF"/>
                </a:solidFill>
              </a:defRPr>
            </a:pPr>
            <a:r>
              <a:t>ENTERPRISE PRODUCT SPECIFICATION  |  PLANT ENGINEERING &amp; TWINS</a:t>
            </a:r>
          </a:p>
          <a:p>
            <a:pPr>
              <a:spcAft>
                <a:spcPts val="600"/>
              </a:spcAft>
              <a:defRPr sz="4600" b="1">
                <a:solidFill>
                  <a:srgbClr val="FFFFFF"/>
                </a:solidFill>
              </a:defRPr>
            </a:pPr>
            <a:r>
              <a:t>TerraSCADA</a:t>
            </a:r>
          </a:p>
          <a:p>
            <a:pPr>
              <a:spcAft>
                <a:spcPts val="1200"/>
              </a:spcAft>
              <a:defRPr sz="1900" b="1">
                <a:solidFill>
                  <a:srgbClr val="F5C842"/>
                </a:solidFill>
              </a:defRPr>
            </a:pPr>
            <a:r>
              <a:t>Physics-Aware AI SCADA Platform &amp; Living Operational Mimic</a:t>
            </a:r>
          </a:p>
          <a:p>
            <a:pPr>
              <a:spcAft>
                <a:spcPts val="1200"/>
              </a:spcAft>
              <a:defRPr sz="1400">
                <a:solidFill>
                  <a:srgbClr val="C8D8F0"/>
                </a:solidFill>
              </a:defRPr>
            </a:pPr>
            <a:r>
              <a:t>Industrial Protocol: IEC 61850 (MMS &amp; GOOSE)    |    Domain Architecture: Terrestrial Deterministic Edge Core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Physics-Aware AI SCADA Platform &amp; Living Operational Mimic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ISA-101 MIMIC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Level 1-4 Vector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TAG SCAN RATE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100 ms Real-Time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ALARM FLOOD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ISA-18.2 Suppressed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REDUNDANCY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Hot-Standby 0ms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TERRASCADA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Core Functional Deliverables &amp; Architectural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TERRASCADA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01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Vector Dynamic Single Line Diagrams (SLDs)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Resolution-independent electrical mimics with automatic line coloring based on bus voltage and breaker states.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02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Native IEC 61850 / Modbus Gateway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Direct protocol drivers eliminate third-party OPC middleware, cutting network hops and point failure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03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Built-in High-Speed Historian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Sub-millisecond data logging with high-efficiency columnar compression and instant trend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04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21 CFR Part 11 Audit Trail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Immutable chronological digital signatures and audit records for all operator actions and setpoint modifications.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TERRASCADA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Field-Validated Operational Use Cases &amp; Quantifiable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TERRASCADA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QA &amp; QUALITY PASS RATES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QA &amp; Quality Pass Rates (Chemical Transformation)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Quality pass rates (OOS) optimized instantly from legacy baseline of 93.8% up to 99.5% via total elimination of manual recipe dosing errors through automated SCADA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PRODUCTIVITY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Productivity (Batch Cycle Time Reduction)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Manufacturing batch cycle times reduced by over 34%, dropping from legacy baseline of 9.8 hours down to 6.4 hours through automated multi-screen sequencing.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REDUCED MANPOWER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Reduced Manpower (Consolidated Control Architecture)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Consolidated 5 separate control centers across utility solar blocks into a single centralized SCADA interface, removing redundant field technician staffing.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TERRASCADA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Competitive Advantage: Terrestrial Platform vs. Legacy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TERRASCADA CATALOGUE  |  CONFIDENTIAL - AUTHORISED SYSTEM INTEGRATORS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502920"/>
          </a:xfrm>
          <a:prstGeom prst="rect">
            <a:avLst/>
          </a:prstGeom>
          <a:solidFill>
            <a:srgbClr val="280F14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5555"/>
                </a:solidFill>
              </a:defRPr>
            </a:pPr>
            <a:r>
              <a:t>TRADITIONAL LEGACY SCADA / SILOED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12080" cy="502920"/>
          </a:xfrm>
          <a:prstGeom prst="rect">
            <a:avLst/>
          </a:prstGeom>
          <a:solidFill>
            <a:srgbClr val="0A2D3C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0D4FF"/>
                </a:solidFill>
              </a:defRPr>
            </a:pPr>
            <a:r>
              <a:t>TERRASCADA TERRESTRIAL PLATFORM ADVANTAGE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Clunky bitmap graphics that distort on modern 4K monitors and require months of tedious drawing revisions.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4028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Clean, responsive dynamic SVG Single Line Diagrams and process mimics compliant with ISA-101 human-machine interface standards.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Dumb indicators that only turn red when a parameter has already exceeded catastrophic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9184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Physics-aware predictive indicators that alert operators 20 minutes before temperature or pressure breaches limits.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Heavy proprietary workstation clients with steep per-seat licensing fees and vendor lock-in.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4340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Web-native HTML5/WebGL cloud-native architecture supporting unlimited simultaneous concurrent enterprise users with 21 CFR Part 11 audit trails.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Static high/low threshold alarms trigger only after physical process degradation has occurred.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539496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TerraSCADA physics-informed models forecast multi-variable trajectories up to 72 hours in advance.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TERRASCADA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End-to-End System Architecture &amp; Real-Time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TERRASCADA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01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Field I/O &amp; PLC Ingestion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Deterministic signal acquisition connecting plant PLCs, RTUs, digital controllers, and safety instrumented field transducers.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02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Deterministic Process Bus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Deterministic millisecond-level telemetry streaming, high-speed tag buffering, and lossless industrial time-series archival.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03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Advanced Process Control (APC)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Multi-loop PID auto-tuning, state-space multivariable control, feedforward decoupling models, and process disturbance rejection.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04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ISA-101 Unit Cockpit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Deterministic setpoint adjustments, analog profile moving-bar indicators, emergency trip sequences, and Level 2 process mimics.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TERRASCADA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System Integrator Deployment Playbook &amp; Commercial Enablement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TERRASCADA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01 | CONNECTIVITY &amp; AUDIT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Zero Rip-and-Replace Onboarding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Deploy edge container onto existing industrial PC or VM. Connect to plant DCS/PLCs via IEC 61850 (MMS &amp; GOOSE). Ingest and normalize all telemetry in under 48 hours without halting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02 | TWIN CALIBRATION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Physics-Model Synchronization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Feed historical historian data into TerraSCADA models. Automatically build directed causal relationship graphs, calibrate thermodynamics/kinematics, and train edge neural operators.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03 | AUTONOMOUS GO-LIVE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Closed-Loop Setpoint Actuation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Transition from advisory warnings to sub-25ms supervisory actuation. Sync alarm suppressions with plant operators and link work orders into SAP/ERP for verifiable recurring ROI.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698480" cy="1188720"/>
          </a:xfrm>
          <a:prstGeom prst="roundRect">
            <a:avLst/>
          </a:prstGeom>
          <a:solidFill>
            <a:srgbClr val="0C1C34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COMMERCIAL VALUE PROPOSITION FOR SYSTEM INTEGRATORS (TERRASCADA)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High recurring annual software margins (ARR)  |  Turnkey deployment in days, not months  |  Full co-selling &amp; pre-sales engineering support  |  Certified partner portal at platform.tpcloud.tech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