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TerraSCADA - Enterprise Product Specification</a:t>
            </a:r>
          </a:p>
          <a:p>
            <a:r>
              <a:t>Tagline: Physics-Aware AI SCADA Platform &amp; Living Operational Mimic</a:t>
            </a:r>
          </a:p>
          <a:p/>
          <a:p>
            <a:r>
              <a:t>Outcome Quote:</a:t>
            </a:r>
          </a:p>
          <a:p>
            <a:r>
              <a:t>“SCADA should not be an animated image, but a real world working AI avatar of plant.” (— THE OUTCOME-BASED REVOLUTION)</a:t>
            </a:r>
          </a:p>
          <a:p/>
          <a:p>
            <a:r>
              <a:t>Executive Overview:</a:t>
            </a:r>
          </a:p>
          <a:p>
            <a:r>
              <a:t>TerraSCADA replaces legacy static visual graphics with an intelligent supervisory platform that understands the underlying science, reaction kinetics, and thermal flows of industrial processes. Featuring vector-sharp dynamic SVGs strictly compliant with ISA-101 standards, native IEC 61850 integration, and built-in predictive warnings, it acts as a true real-time AI avatar of the physical facility.</a:t>
            </a:r>
          </a:p>
          <a:p/>
          <a:p>
            <a:r>
              <a:t>Key Telemetry Metrics:</a:t>
            </a:r>
          </a:p>
          <a:p>
            <a:r>
              <a:t>- ISA-101 MIMIC:: Level 1-4 Vector</a:t>
            </a:r>
          </a:p>
          <a:p>
            <a:r>
              <a:t>- TAG SCAN RATE:: 100 ms Real-Time</a:t>
            </a:r>
          </a:p>
          <a:p>
            <a:r>
              <a:t>- ALARM FLOOD:: ISA-18.2 Suppressed</a:t>
            </a:r>
          </a:p>
          <a:p>
            <a:r>
              <a:t>- REDUNDANCY:: Hot-Standby 0ms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TerraSCADA - ANSI/ISA-101 Verified Operational Interface</a:t>
            </a:r>
          </a:p>
          <a:p>
            <a:r>
              <a:t>Representation: TerraSCADA ANSI/ISA-101 Operational Interface &amp; Real-Time System Representation</a:t>
            </a:r>
          </a:p>
          <a:p>
            <a:r>
              <a:t>Compliance: ANSI/ISA-101 Verified HMI</a:t>
            </a:r>
          </a:p>
          <a:p>
            <a:r>
              <a:t>Asset File: terra_scada_isa101_showcase.jpg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TerraSCADA Will Do:</a:t>
            </a:r>
          </a:p>
          <a:p>
            <a:r>
              <a:t>[1] Vector Dynamic Single Line Diagrams (SLDs):</a:t>
            </a:r>
          </a:p>
          <a:p>
            <a:r>
              <a:t>Resolution-independent electrical mimics with automatic line coloring based on bus voltage and breaker states.</a:t>
            </a:r>
          </a:p>
          <a:p/>
          <a:p>
            <a:r>
              <a:t>[2] Native IEC 61850 / Modbus Gateway:</a:t>
            </a:r>
          </a:p>
          <a:p>
            <a:r>
              <a:t>Direct protocol drivers eliminate third-party OPC middleware, cutting network hops and point failure risk.</a:t>
            </a:r>
          </a:p>
          <a:p/>
          <a:p>
            <a:r>
              <a:t>[3] Built-in High-Speed Historian:</a:t>
            </a:r>
          </a:p>
          <a:p>
            <a:r>
              <a:t>Sub-millisecond data logging with high-efficiency columnar compression and instant trend playback.</a:t>
            </a:r>
          </a:p>
          <a:p/>
          <a:p>
            <a:r>
              <a:t>[4] 21 CFR Part 11 Audit Trail:</a:t>
            </a:r>
          </a:p>
          <a:p>
            <a:r>
              <a:t>Immutable chronological digital signatures and audit records for all operator actions and setpoint modifications.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TerraSCADA - Operational Use Cases &amp; Field Impact:</a:t>
            </a:r>
          </a:p>
          <a:p>
            <a:r>
              <a:t>[QA &amp; Quality Pass Rates] QA &amp; Quality Pass Rates (Chemical Transformation):</a:t>
            </a:r>
          </a:p>
          <a:p>
            <a:r>
              <a:t>Quality pass rates (OOS) optimized instantly from legacy baseline of 93.8% up to 99.5% via total elimination of manual recipe dosing errors through automated SCADA controls.</a:t>
            </a:r>
          </a:p>
          <a:p/>
          <a:p>
            <a:r>
              <a:t>[Productivity] Productivity (Batch Cycle Time Reduction):</a:t>
            </a:r>
          </a:p>
          <a:p>
            <a:r>
              <a:t>Manufacturing batch cycle times reduced by over 34%, dropping from legacy baseline of 9.8 hours down to 6.4 hours through automated multi-screen sequencing.</a:t>
            </a:r>
          </a:p>
          <a:p/>
          <a:p>
            <a:r>
              <a:t>[Reduced Manpower] Reduced Manpower (Consolidated Control Architecture):</a:t>
            </a:r>
          </a:p>
          <a:p>
            <a:r>
              <a:t>Consolidated 5 separate control centers across utility solar blocks into a single centralized SCADA interface, removing redundant field technician staffing.</a:t>
            </a:r>
          </a:p>
          <a:p/>
          <a:p>
            <a:r>
              <a:t>[Efficiency] Efficiency (Real-Time Energy &amp; Harmonics Telemetry):</a:t>
            </a:r>
          </a:p>
          <a:p>
            <a:r>
              <a:t>Overlays live power harmonics, line currents, and transformer thermal stresses directly onto process mimics, preventing grid-side overloads.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TerraSCADA - Architectural Contrast (Legacy SCADA vs Terrestrial Platform):</a:t>
            </a:r>
          </a:p>
          <a:p>
            <a:r>
              <a:t>LEGACY:</a:t>
            </a:r>
          </a:p>
          <a:p>
            <a:r>
              <a:t>Clunky bitmap graphics that distort on modern 4K monitors and require months of tedious drawing revisions.</a:t>
            </a:r>
          </a:p>
          <a:p/>
          <a:p>
            <a:r>
              <a:t>TERRESTRIAL ADVANTAGE:</a:t>
            </a:r>
          </a:p>
          <a:p>
            <a:r>
              <a:t>Clean, responsive dynamic SVG Single Line Diagrams and process mimics compliant with ISA-101 human-machine interface standards.</a:t>
            </a:r>
          </a:p>
          <a:p/>
          <a:p>
            <a:r>
              <a:t>LEGACY:</a:t>
            </a:r>
          </a:p>
          <a:p>
            <a:r>
              <a:t>Dumb indicators that only turn red when a parameter has already exceeded catastrophic limits.</a:t>
            </a:r>
          </a:p>
          <a:p/>
          <a:p>
            <a:r>
              <a:t>TERRESTRIAL ADVANTAGE:</a:t>
            </a:r>
          </a:p>
          <a:p>
            <a:r>
              <a:t>Physics-aware predictive indicators that alert operators 20 minutes before temperature or pressure breaches limits.</a:t>
            </a:r>
          </a:p>
          <a:p/>
          <a:p>
            <a:r>
              <a:t>LEGACY:</a:t>
            </a:r>
          </a:p>
          <a:p>
            <a:r>
              <a:t>Heavy proprietary workstation clients with steep per-seat licensing fees and vendor lock-in.</a:t>
            </a:r>
          </a:p>
          <a:p/>
          <a:p>
            <a:r>
              <a:t>TERRESTRIAL ADVANTAGE:</a:t>
            </a:r>
          </a:p>
          <a:p>
            <a:r>
              <a:t>Web-native HTML5/WebGL cloud-native architecture supporting unlimited simultaneous concurrent enterprise users with 21 CFR Part 11 audit trails.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TerraSCADA - End-to-End System Diagram &amp; Data Pipeline:</a:t>
            </a:r>
          </a:p>
          <a:p/>
          <a:p>
            <a:r>
              <a:t>Layer 01: Field I/O &amp; PLC Ingestion</a:t>
            </a:r>
          </a:p>
          <a:p>
            <a:r>
              <a:t>Deterministic signal acquisition connecting plant PLCs, RTUs, digital controllers, and safety instrumented field transducers.</a:t>
            </a:r>
          </a:p>
          <a:p>
            <a:r>
              <a:t>Protocols: OPC UA Pub/Sub, Modbus TCP/RTU, Profinet / EtherCAT</a:t>
            </a:r>
          </a:p>
          <a:p/>
          <a:p>
            <a:r>
              <a:t>Layer 02: Deterministic Process Bus</a:t>
            </a:r>
          </a:p>
          <a:p>
            <a:r>
              <a:t>Deterministic millisecond-level telemetry streaming, high-speed tag buffering, and lossless industrial time-series archival.</a:t>
            </a:r>
          </a:p>
          <a:p>
            <a:r>
              <a:t>Protocols: Process Event Bus, Millisecond Telemetry, Sub-10ms Determinism</a:t>
            </a:r>
          </a:p>
          <a:p/>
          <a:p>
            <a:r>
              <a:t>Layer 03: Advanced Process Control (APC)</a:t>
            </a:r>
          </a:p>
          <a:p>
            <a:r>
              <a:t>Multi-loop PID auto-tuning, state-space multivariable control, feedforward decoupling models, and process disturbance rejection.</a:t>
            </a:r>
          </a:p>
          <a:p>
            <a:r>
              <a:t>Protocols: Model Predictive Control, PID Auto-Tuning, Disturbance Rejection</a:t>
            </a:r>
          </a:p>
          <a:p/>
          <a:p>
            <a:r>
              <a:t>Layer 04: ISA-101 Unit Cockpit</a:t>
            </a:r>
          </a:p>
          <a:p>
            <a:r>
              <a:t>Deterministic setpoint adjustments, analog profile moving-bar indicators, emergency trip sequences, and Level 2 process mimics.</a:t>
            </a:r>
          </a:p>
          <a:p>
            <a:r>
              <a:t>Protocols: Closed-Loop Setpoints, Analog Moving Bars, ISA-101 Level 2 HMI</a:t>
            </a:r>
          </a:p>
          <a:p/>
          <a:p>
            <a:r>
              <a:t>Pipeline Flow:</a:t>
            </a:r>
          </a:p>
          <a:p>
            <a:r>
              <a:t>DATA PIPELINE FLOW: High-Speed PLC Field I/O ➔ Deterministic Process Event Bus ➔ Model Predictive Control &amp; PID ➔ Closed-Loop Actuation (&lt; 10ms Determinism)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TerraSCADA - System Integrator Deployment Framework &amp; Commercial Model:</a:t>
            </a:r>
          </a:p>
          <a:p/>
          <a:p>
            <a:r>
              <a:t>Phase 1: Connectivity &amp; Audit</a:t>
            </a:r>
          </a:p>
          <a:p>
            <a:r>
              <a:t>Phase 2: Twin Calibration</a:t>
            </a:r>
          </a:p>
          <a:p>
            <a:r>
              <a:t>Phase 3: Autonomous Go-Live</a:t>
            </a:r>
          </a:p>
          <a:p/>
          <a:p>
            <a:r>
              <a:t>Commercial Enablement:</a:t>
            </a:r>
          </a:p>
          <a:p>
            <a:r>
              <a:t>- 25%-35% recurring SaaS margins</a:t>
            </a:r>
          </a:p>
          <a:p>
            <a:r>
              <a:t>- 7-14 day rapid commissioning</a:t>
            </a:r>
          </a:p>
          <a:p>
            <a:r>
              <a:t>- Co-selling and enterprise enablement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TERRASCADA  |  ENTERPRISE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TerraSCADA: Physics-Aware AI SCADA Platform &amp; Living Operational Mimic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Autonomous Industrial Intelligence Suite · Tier-1 Plant Architecture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57607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i="1" b="1">
                <a:solidFill>
                  <a:srgbClr val="38BDF8"/>
                </a:solidFill>
              </a:defRPr>
            </a:pPr>
            <a:r>
              <a:t>““SCADA should not be an animated image, but a real world working AI avatar of plant.””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950" b="1">
                <a:solidFill>
                  <a:srgbClr val="94A3B8"/>
                </a:solidFill>
              </a:defRPr>
            </a:pPr>
            <a:r>
              <a:t>— — THE OUTCOME-BASED REVOLUTION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</a:defRPr>
            </a:pPr>
            <a:r>
              <a:t>EXECUTIVE OPERATIONAL SYNOPSIS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TerraSCADA replaces legacy static visual graphics with an intelligent supervisory platform that understands the underlying science, reaction kinetics, and thermal flows of industrial processes. Featuring vector-sharp dynamic SVGs strictly compliant with ISA-101 standards, native IEC 61850 integration, and built-in predictive warnings, it acts as a true real-time AI avatar of the physical facility.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ISA-101 MIMIC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Level 1-4 Vector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1743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18903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TAG SCAN RATE</a:t>
            </a:r>
          </a:p>
          <a:p>
            <a:pPr>
              <a:spcBef>
                <a:spcPts val="400"/>
              </a:spcBef>
              <a:defRPr sz="1400" b="1">
                <a:solidFill>
                  <a:srgbClr val="38BDF8"/>
                </a:solidFill>
              </a:defRPr>
            </a:pPr>
            <a:r>
              <a:t>100 ms Real-Time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ALARM FLOOD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ISA-18.2 Suppressed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81743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18903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REDUNDANCY</a:t>
            </a:r>
          </a:p>
          <a:p>
            <a:pPr>
              <a:spcBef>
                <a:spcPts val="400"/>
              </a:spcBef>
              <a:defRPr sz="1400" b="1">
                <a:solidFill>
                  <a:srgbClr val="38BDF8"/>
                </a:solidFill>
              </a:defRPr>
            </a:pPr>
            <a:r>
              <a:t>Hot-Standby 0ms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434840"/>
            <a:ext cx="4334256" cy="1920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461772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CORE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Edge-to-Cloud Cognitive Nervous System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Physics-informed mathematical twin running sub-25ms closed-loop supervisory control with full ISA-95/101 conformity.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TERRASCADA  |  OPERATIONAL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TerraSCADA ANSI/ISA-101 Operational Interface &amp; Real-Time System Representation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ANSI/ISA-101 Ergonomic High-Performance HMI · Real-Time System Representation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45920"/>
            <a:ext cx="10728655" cy="47091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ra_scada_isa101_showc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10637215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TERRASCADA  | 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What TerraSCADA Will Do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Specific operational functions and engineering capabilities directly sourced from technical documentation.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01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Vector Dynamic Single Line Diagrams (SLDs)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Resolution-independent electrical mimics with automatic line coloring based on bus voltage and breaker states.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02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Native IEC 61850 / Modbus Gateway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Direct protocol drivers eliminate third-party OPC middleware, cutting network hops and point failure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03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Built-in High-Speed Historian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Sub-millisecond data logging with high-efficiency columnar compression and instant trend playback.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04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21 CFR Part 11 Audit Trail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Immutable chronological digital signatures and audit records for all operator actions and setpoint modifications.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TERRASCADA  |  FIELD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Operational Use Cases &amp; Field Impact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Actual documented use cases across Quality Assurance, Reduced Manpower, Efficiency, and Asset Productivity.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01  |  QA &amp; QUALITY PASS RATES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QA &amp; Quality Pass Rates (Chemical Transformation)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Quality pass rates (OOS) optimized instantly from legacy baseline of 93.8% up to 99.5% via total elimination of manual recipe dosing errors through automated SCADA controls.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02  |  PRODUCTIVITY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Productivity (Batch Cycle Time Reduction)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Manufacturing batch cycle times reduced by over 34%, dropping from legacy baseline of 9.8 hours down to 6.4 hours through automated multi-screen sequencing.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03  |  REDUCED MANPOWER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Reduced Manpower (Consolidated Control Architecture)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Consolidated 5 separate control centers across utility solar blocks into a single centralized SCADA interface, removing redundant field technician staffing.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04  |  EFFICIENCY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Efficiency (Real-Time Energy &amp; Harmonics Telemetry)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Overlays live power harmonics, line currents, and transformer thermal stresses directly onto process mimics, preventing grid-side overloads.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TERRASCADA  |  ARCHITECTURAL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Comparison with Traditional SCADA / Legacy Systems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Point-by-point contrast demonstrating the technological shift from legacy industrial automation to the Terrestrial Platform.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502920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TRADITIONAL LEGACY SYSTEMS / SILOED SCADA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502920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TERRASCADA TERRESTRIAL PLATFORM ADVANTAGE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59152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Clunky bitmap graphics that distort on modern 4K monitors and require months of tedious drawing revisions.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286000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59152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Clean, responsive dynamic SVG Single Line Diagrams and process mimics compliant with ISA-101 human-machine interface standards.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94176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67328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Dumb indicators that only turn red when a parameter has already exceeded catastrophic limits.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3694176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767328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Physics-aware predictive indicators that alert operators 20 minutes before temperature or pressure breaches limits.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02352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75504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Heavy proprietary workstation clients with steep per-seat licensing fees and vendor lock-in.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5102352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5175504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Web-native HTML5/WebGL cloud-native architecture supporting unlimited simultaneous concurrent enterprise users with 21 CFR Part 11 audit trails.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TERRASCADA  |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End-to-End System Diagram &amp; Data Pipeline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Visual architecture diagram representing field telemetry ingestion, deterministic edge fabric, AI reasoning, and closed-loop actuation.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01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Field I/O &amp; PLC Ingestion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Deterministic signal acquisition connecting plant PLCs, RTUs, digital controllers, and safety instrumented field transducers.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OPC UA Pub/Sub</a:t>
            </a:r>
            <a:br/>
            <a:r>
              <a:t> • Modbus TCP/RTU</a:t>
            </a:r>
            <a:br/>
            <a:r>
              <a:t> • Profinet / EtherCAT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02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Deterministic Process Bus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Deterministic millisecond-level telemetry streaming, high-speed tag buffering, and lossless industrial time-series archival.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Process Event Bus</a:t>
            </a:r>
            <a:br/>
            <a:r>
              <a:t> • Millisecond Telemetry</a:t>
            </a:r>
            <a:br/>
            <a:r>
              <a:t> • Sub-10ms Determinism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03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Advanced Process Control (APC)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Multi-loop PID auto-tuning, state-space multivariable control, feedforward decoupling models, and process disturbance rejection.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Model Predictive Control</a:t>
            </a:r>
            <a:br/>
            <a:r>
              <a:t> • PID Auto-Tuning</a:t>
            </a:r>
            <a:br/>
            <a:r>
              <a:t> • Disturbance Rejection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04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ISA-101 Unit Cockpit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Deterministic setpoint adjustments, analog profile moving-bar indicators, emergency trip sequences, and Level 2 process mimics.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Closed-Loop Setpoints</a:t>
            </a:r>
            <a:br/>
            <a:r>
              <a:t> • Analog Moving Bars</a:t>
            </a:r>
            <a:br/>
            <a:r>
              <a:t> • ISA-101 Level 2 HMI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9612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UNIFIED DATA PIPELINE FLOW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</a:defRPr>
            </a:pPr>
            <a:r>
              <a:t>High-Speed PLC Field I/O ➔ Deterministic Process Event Bus ➔ Model Predictive Control &amp; PID ➔ Closed-Loop Actuation (&lt; 10ms Determinism)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TERRASCADA  |  DEPLOYMENT &amp; SI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System Integrator Deployment Framework &amp; Commercial Model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Zero rip-and-replace turnkey onboarding with recurring enterprise margins and co-selling enablement.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01 | CONNECTIVITY &amp; AUDIT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Non-intrusive protocol discovery across field PLCs, RTUs, and historians. Plug-and-play mapping of tags into the unified TPIM semantic namespace without stopping ongoing plant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02 | TWIN CALIBRATION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Deploy high-frequency Edge Gateway on premise. Calibrate first-principles thermodynamic and kinematic models against historical telemetry to achieve 99.4%+ deterministic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03 | AUTONOMOUS GO-LIVE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Supervisory closed-loop setpoint dispatch with bumpless transfer. Comprehensive ISA-101 verified cockpit handoff with continuous SI recurring monitoring and support tiers.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26280"/>
            <a:ext cx="10728655" cy="182880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63440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VALUE PROPOSITION FOR SYSTEM INTEGRATORS (TERRASCADA)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High-Margin Software Recurring Revenue: Earn 25%–35% continuous recurring margin on every TerraSCADA software deployment, maintenance tier, and AI compute instance.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Turnkey Engineering Velocity: Deploy within 7 to 14 days leveraging pre-trained neural networks and automated semantic tag mapping, avoiding expensive months-long custom PLC code rewrites.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Enterprise Co-Selling &amp; Ecosystem: Access joint executive pipeline opportunities, certified engineering documentation, and board-level C-Suite presentation toolkits.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