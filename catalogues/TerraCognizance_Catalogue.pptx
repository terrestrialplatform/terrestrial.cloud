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TerraCognizance - Enterprise Product Specification</a:t>
            </a:r>
          </a:p>
          <a:p>
            <a:r>
              <a:t>Tagline: Enterprise Legal Cognizance &amp; Litigation Intelligence Platform (Graph-of-Thought RAG)</a:t>
            </a:r>
          </a:p>
          <a:p/>
          <a:p>
            <a:r>
              <a:t>Outcome Quote:</a:t>
            </a:r>
          </a:p>
          <a:p>
            <a:r>
              <a:t>“Litigation is not won on generic search, but on interconnecting fragmented truth — transforming sprawling case records into an unshakeable knowledge vault where every assertion commands instant, clause-level proof.” (— THE REVOLUTION IN ENTERPRISE LITIGATION)</a:t>
            </a:r>
          </a:p>
          <a:p/>
          <a:p>
            <a:r>
              <a:t>Executive Overview:</a:t>
            </a:r>
          </a:p>
          <a:p>
            <a:r>
              <a:t>TerraCognizance transforms high-stakes legal corpora, pleadings, contracts, and court exhibits into a structured, interconnected, verifiable Knowledge Vault governed by autonomous Graph-of-Thought architecture. Delivering deterministic retrieval with sub-second synthesis, it powers courtroom hearing simulations, cross-examination rebuttals, and clause-level provenance verification with zero hallucinations.</a:t>
            </a:r>
          </a:p>
          <a:p/>
          <a:p>
            <a:r>
              <a:t>Key Telemetry Metrics:</a:t>
            </a:r>
          </a:p>
          <a:p>
            <a:r>
              <a:t>- KNOWLEDGE VAULT:: Graph-of-Thought RAG</a:t>
            </a:r>
          </a:p>
          <a:p>
            <a:r>
              <a:t>- EVIDENTIARY AUDIT:: 100% Provenance Citations</a:t>
            </a:r>
          </a:p>
          <a:p>
            <a:r>
              <a:t>- REASONING SPEED:: Sub-Second GoT Synthesis</a:t>
            </a:r>
          </a:p>
          <a:p>
            <a:r>
              <a:t>- HALLUCINATION RATE:: Zero Heuristic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TerraCognizance - ANSI/ISA-101 Verified Operational Interface</a:t>
            </a:r>
          </a:p>
          <a:p>
            <a:r>
              <a:t>Representation: TerraCognizance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terra_cognizance_isa101_showcase.jpg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TerraCognizance Will Do:</a:t>
            </a:r>
          </a:p>
          <a:p>
            <a:r>
              <a:t>[1] Strategy Q&amp;A &amp; Legal Theory Simulation:</a:t>
            </a:r>
          </a:p>
          <a:p>
            <a:r>
              <a:t>Conducts deep conversational analysis across complex legal corpora and multi-jurisdictional precedents; stress-tests statutory defenses, evaluates judicial admissibility patterns, and calculates damages quantum with instant clause-level references.</a:t>
            </a:r>
          </a:p>
          <a:p/>
          <a:p>
            <a:r>
              <a:t>[2] Court Hearing Mode &amp; Live Rebuttal Cockpit:</a:t>
            </a:r>
          </a:p>
          <a:p>
            <a:r>
              <a:t>Ultra-fast, high-density courtroom cockpit providing instant counter-arguments, identifying adverse witness contradictions, and generating exact exhibit, page, and paragraph citations during live cross-examinations and hearings.</a:t>
            </a:r>
          </a:p>
          <a:p/>
          <a:p>
            <a:r>
              <a:t>[3] Graph-of-Thought Relational Knowledge Graph:</a:t>
            </a:r>
          </a:p>
          <a:p>
            <a:r>
              <a:t>Interconnects sprawling claims, evidence nodes, statutory doctrines, and prayers across 40,000+ matter filings into a unified relational topology, exposing hidden dependencies and corporate entity mappings with sub-50ms node traversal.</a:t>
            </a:r>
          </a:p>
          <a:p/>
          <a:p>
            <a:r>
              <a:t>[4] Verifiable Evidentiary Provenance &amp; Audit Trail:</a:t>
            </a:r>
          </a:p>
          <a:p>
            <a:r>
              <a:t>Strict clause-level provenance verification ensures every assertion, summary, and rebuttal citation is directly anchored to verified court exhibits and statutory records, eliminating hallucinated references and ensuring 100% evidentiary defensibility.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TerraCognizance - Operational Use Cases &amp; Field Impact:</a:t>
            </a:r>
          </a:p>
          <a:p>
            <a:r>
              <a:t>[Commercial Litigation] High-Stakes Commercial &amp; Shareholder Suits:</a:t>
            </a:r>
          </a:p>
          <a:p>
            <a:r>
              <a:t>Rapidly cross-references 40,000 pages of commercial agreements, emails, and board resolutions to expose shareholder agreement breaches, reconcile indemnity claims, and calculate damages quantum with zero evidentiary gaps.</a:t>
            </a:r>
          </a:p>
          <a:p/>
          <a:p>
            <a:r>
              <a:t>[Intellectual Property] IP Infringement &amp; Trade Secret Misappropriation:</a:t>
            </a:r>
          </a:p>
          <a:p>
            <a:r>
              <a:t>Constructs precise forensic timelines of source code commits, non-disclosure agreements, and employee movements; maps patent claim charts directly to competitor product teardowns and deposition transcripts.</a:t>
            </a:r>
          </a:p>
          <a:p/>
          <a:p>
            <a:r>
              <a:t>[Arbitration &amp; Infrastructure] Arbitration &amp; Multi-Tier EPC Construction Disputes:</a:t>
            </a:r>
          </a:p>
          <a:p>
            <a:r>
              <a:t>Ingests complex FIDIC engineering contracts, variation orders, and site inspection diaries; automatically quantifies critical path delay claims and contractor liquidated damages reconciliations.</a:t>
            </a:r>
          </a:p>
          <a:p/>
          <a:p>
            <a:r>
              <a:t>[Regulatory Defense] Regulatory Enforcement Defense &amp; White-Collar Audits:</a:t>
            </a:r>
          </a:p>
          <a:p>
            <a:r>
              <a:t>Audits statutory compliance notices and multi-year banking transaction trails; reconstructs anti-corruption defense filings and establishes unbroken chains of custody across cross-border regulatory inquiries.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TerraCognizance - Architectural Contrast (Legacy SCADA vs Terrestrial Platform):</a:t>
            </a:r>
          </a:p>
          <a:p>
            <a:r>
              <a:t>LEGACY:</a:t>
            </a:r>
          </a:p>
          <a:p>
            <a:r>
              <a:t>Vector chunking fractures sentences and multi-page contract clauses, resulting in lost contextual relationships and misleading snippet retrieval.</a:t>
            </a:r>
          </a:p>
          <a:p/>
          <a:p>
            <a:r>
              <a:t>TERRESTRIAL ADVANTAGE:</a:t>
            </a:r>
          </a:p>
          <a:p>
            <a:r>
              <a:t>Graph-of-Thought holistic node traversal preserves document hierarchies, cross-references, and structural relations across all matter filings.</a:t>
            </a:r>
          </a:p>
          <a:p/>
          <a:p>
            <a:r>
              <a:t>LEGACY:</a:t>
            </a:r>
          </a:p>
          <a:p>
            <a:r>
              <a:t>Unverified generative systems produce plausible-sounding hallucinated legal citations and phantom contract provisions.</a:t>
            </a:r>
          </a:p>
          <a:p/>
          <a:p>
            <a:r>
              <a:t>TERRESTRIAL ADVANTAGE:</a:t>
            </a:r>
          </a:p>
          <a:p>
            <a:r>
              <a:t>Strict 100% BELONGS_TO provenance audit: every synthesis bullet is bound to exact document, page number, and paragraph coordinates.</a:t>
            </a:r>
          </a:p>
          <a:p/>
          <a:p>
            <a:r>
              <a:t>LEGACY:</a:t>
            </a:r>
          </a:p>
          <a:p>
            <a:r>
              <a:t>Keyword and semantic vector searches fail when parties, corporate subsidiaries, or witnesses are referenced by acronyms or aliases.</a:t>
            </a:r>
          </a:p>
          <a:p/>
          <a:p>
            <a:r>
              <a:t>TERRESTRIAL ADVANTAGE:</a:t>
            </a:r>
          </a:p>
          <a:p>
            <a:r>
              <a:t>Deterministic 4-level entity resolution cascade collapses aliases, misspellings, and subsidiary names into unified canonical identities.</a:t>
            </a:r>
          </a:p>
          <a:p/>
          <a:p>
            <a:r>
              <a:t>LEGACY:</a:t>
            </a:r>
          </a:p>
          <a:p>
            <a:r>
              <a:t>Static PDF viewing requires hours of manual cross-referencing and highlighter tagging during time-critical court hearings.</a:t>
            </a:r>
          </a:p>
          <a:p/>
          <a:p>
            <a:r>
              <a:t>TERRESTRIAL ADVANTAGE:</a:t>
            </a:r>
          </a:p>
          <a:p>
            <a:r>
              <a:t>Court Hearing Mode provides sub-second rebuttal synthesis and instant cross-examination cards triggered by live opposing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TerraCognizance - End-to-End System Diagram &amp; Data Pipeline:</a:t>
            </a:r>
          </a:p>
          <a:p/>
          <a:p>
            <a:r>
              <a:t>Layer 01: Multi-Modal Legal Ingestion</a:t>
            </a:r>
          </a:p>
          <a:p>
            <a:r>
              <a:t>Direct multi-format legal ingestion aggregating pleadings, contracts, court exhibits, depositions, and transcripts with automated OCR normalization.</a:t>
            </a:r>
          </a:p>
          <a:p>
            <a:r>
              <a:t>Protocols: Secure Ingestion API, Encrypted Vault Storage, PDF/OCR Stream</a:t>
            </a:r>
          </a:p>
          <a:p/>
          <a:p>
            <a:r>
              <a:t>Layer 02: Deterministic Vault Stream</a:t>
            </a:r>
          </a:p>
          <a:p>
            <a:r>
              <a:t>High-throughput canonical Markdown nodes, bidirectional link indexing, deterministic alias collapsing, and sub-50ms graph synchronization.</a:t>
            </a:r>
          </a:p>
          <a:p>
            <a:r>
              <a:t>Protocols: Knowledge Vault Bus, Entity Resolution Bus, Sub-50ms Graph Stream</a:t>
            </a:r>
          </a:p>
          <a:p/>
          <a:p>
            <a:r>
              <a:t>Layer 03: Graph-of-Thought Reasoning Core</a:t>
            </a:r>
          </a:p>
          <a:p>
            <a:r>
              <a:t>Hybrid Personalized PageRank (PPR), dense vector retrieval, reciprocal rank fusion, and multi-turn autonomous tool synthesis.</a:t>
            </a:r>
          </a:p>
          <a:p>
            <a:r>
              <a:t>Protocols: Graph-of-Thought AI, Personalized PageRank, Tri-Model RRF</a:t>
            </a:r>
          </a:p>
          <a:p/>
          <a:p>
            <a:r>
              <a:t>Layer 04: Courtroom Cockpit &amp; Strategy Console</a:t>
            </a:r>
          </a:p>
          <a:p>
            <a:r>
              <a:t>Live hearing rebuttal cards, clause-level citation drawer, human-in-the-loop Adjudicator review, and ANSI/ISA-101 litigation intelligence displays.</a:t>
            </a:r>
          </a:p>
          <a:p>
            <a:r>
              <a:t>Protocols: Court Hearing Mode, Provenance Drawer, ISA-101 Legal HMI</a:t>
            </a:r>
          </a:p>
          <a:p/>
          <a:p>
            <a:r>
              <a:t>Pipeline Flow:</a:t>
            </a:r>
          </a:p>
          <a:p>
            <a:r>
              <a:t>DATA PIPELINE FLOW: Legal Corpus &amp; Exhibit Ingestion ➔ Deterministic Knowledge Vault Stream ➔ Graph-of-Thought RAG Reasoning ➔ Closed-Loop Court Hearing &amp; Strategy Actuation (&lt; 50ms Latency)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TerraCognizance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TERRACOGNIZANCE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TerraCognizance: Enterprise Legal Cognizance &amp; Litigation Intelligence Platform (Graph-of-Thought RAG)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““Litigation is not won on generic search, but on interconnecting fragmented truth — transforming sprawling case records into an unshakeable knowledge vault where every assertion commands instant, clause-level proof.””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REVOLUTION IN ENTERPRISE LITIGATION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TerraCognizance transforms high-stakes legal corpora, pleadings, contracts, and court exhibits into a structured, interconnected, verifiable Knowledge Vault governed by autonomous Graph-of-Thought architecture. Delivering deterministic retrieval with sub-second synthesis, it powers courtroom hearing simulations, cross-examination rebuttals, and clause-level provenance verification with zero hallucinations.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KNOWLEDGE VAULT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Graph-of-Thought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EVIDENTIARY AUDIT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100% Provenance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REASONING SPEED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Sub-Second GoT Synthesis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HALLUCINATION RATE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Zero Heuristic Bias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TERRACOGNIZANCE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TerraCognizance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cognizance_isa101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TERRACOGNIZANCE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TerraCognizance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Strategy Q&amp;A &amp; Legal Theory Simulation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Conducts deep conversational analysis across complex legal corpora and multi-jurisdictional precedents; stress-tests statutory defenses, evaluates judicial admissibility patterns, and calculates damages quantum with instant clause-level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Court Hearing Mode &amp; Live Rebuttal Cockpit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Ultra-fast, high-density courtroom cockpit providing instant counter-arguments, identifying adverse witness contradictions, and generating exact exhibit, page, and paragraph citations during live cross-examinations and hearings.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Graph-of-Thought Relational Knowledge Graph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Interconnects sprawling claims, evidence nodes, statutory doctrines, and prayers across 40,000+ matter filings into a unified relational topology, exposing hidden dependencies and corporate entity mappings with sub-50ms node traversal.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Verifiable Evidentiary Provenance &amp; Audit Trail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Strict clause-level provenance verification ensures every assertion, summary, and rebuttal citation is directly anchored to verified court exhibits and statutory records, eliminating hallucinated references and ensuring 100% evidentiary defensibility.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TERRACOGNIZANCE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COMMERCIAL LITIGATION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High-Stakes Commercial &amp; Shareholder Suits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Rapidly cross-references 40,000 pages of commercial agreements, emails, and board resolutions to expose shareholder agreement breaches, reconcile indemnity claims, and calculate damages quantum with zero evidentiary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INTELLECTUAL PROPERTY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IP Infringement &amp; Trade Secret Misappropriation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Constructs precise forensic timelines of source code commits, non-disclosure agreements, and employee movements; maps patent claim charts directly to competitor product teardowns and deposition transcripts.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ARBITRATION &amp; INFRASTRUCTURE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Arbitration &amp; Multi-Tier EPC Construction Disputes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Ingests complex FIDIC engineering contracts, variation orders, and site inspection diaries; automatically quantifies critical path delay claims and contractor liquidated damages reconciliations.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REGULATORY DEFENSE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Regulatory Enforcement Defense &amp; White-Collar Audits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Audits statutory compliance notices and multi-year banking transaction trails; reconstructs anti-corruption defense filings and establishes unbroken chains of custody across cross-border regulatory inquiries.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TERRACOGNIZANCE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TERRACOGNIZANCE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946404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Vector chunking fractures sentences and multi-page contract clauses, resulting in lost contextual relationships and misleading snippet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946404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Graph-of-Thought holistic node traversal preserves document hierarchies, cross-references, and structural relations across all matter filings.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42132"/>
            <a:ext cx="5230368" cy="946404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5284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Unverified generative systems produce plausible-sounding hallucinated legal citations and phantom contract provisions.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342132"/>
            <a:ext cx="5230368" cy="946404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415284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Strict 100% BELONGS_TO provenance audit: every synthesis bullet is bound to exact document, page number, and paragraph coordinates.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98264"/>
            <a:ext cx="5230368" cy="946404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71416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Keyword and semantic vector searches fail when parties, corporate subsidiaries, or witnesses are referenced by acronyms or aliases.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4398264"/>
            <a:ext cx="5230368" cy="946404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471416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Deterministic 4-level entity resolution cascade collapses aliases, misspellings, and subsidiary names into unified canonical identities.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54396"/>
            <a:ext cx="5230368" cy="946404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27548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Static PDF viewing requires hours of manual cross-referencing and highlighter tagging during time-critical court hearings.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5454396"/>
            <a:ext cx="5230368" cy="946404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5527548"/>
            <a:ext cx="4956048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Court Hearing Mode provides sub-second rebuttal synthesis and instant cross-examination cards triggered by live opposing arguments.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TERRACOGNIZANCE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Multi-Modal Legal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Direct multi-format legal ingestion aggregating pleadings, contracts, court exhibits, depositions, and transcripts with automated OCR normalization.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Secure Ingestion API</a:t>
            </a:r>
            <a:br/>
            <a:r>
              <a:t> • Encrypted Vault Storage</a:t>
            </a:r>
            <a:br/>
            <a:r>
              <a:t> • PDF/OCR 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Deterministic Vault Stream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High-throughput canonical Markdown nodes, bidirectional link indexing, deterministic alias collapsing, and sub-50ms graph synchronization.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Knowledge Vault Bus</a:t>
            </a:r>
            <a:br/>
            <a:r>
              <a:t> • Entity Resolution Bus</a:t>
            </a:r>
            <a:br/>
            <a:r>
              <a:t> • Sub-50ms Graph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Graph-of-Thought Reasoning Core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Hybrid Personalized PageRank (PPR), dense vector retrieval, reciprocal rank fusion, and multi-turn autonomous tool synthesis.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Graph-of-Thought AI</a:t>
            </a:r>
            <a:br/>
            <a:r>
              <a:t> • Personalized PageRank</a:t>
            </a:r>
            <a:br/>
            <a:r>
              <a:t> • Tri-Model RRF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Courtroom Cockpit &amp; Strategy Console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Live hearing rebuttal cards, clause-level citation drawer, human-in-the-loop Adjudicator review, and ANSI/ISA-101 litigation intelligence displays.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Court Hearing Mode</a:t>
            </a:r>
            <a:br/>
            <a:r>
              <a:t> • Provenance Drawer</a:t>
            </a:r>
            <a:br/>
            <a:r>
              <a:t> • ISA-101 Legal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Legal Corpus &amp; Exhibit Ingestion ➔ Deterministic Knowledge Vault Stream ➔ Graph-of-Thought RAG Reasoning ➔ Closed-Loop Court Hearing &amp; Strategy Actuation (&lt; 50ms Latency)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TERRACOGNIZANCE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(TERRACOGNIZANCE)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TerraCognizance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