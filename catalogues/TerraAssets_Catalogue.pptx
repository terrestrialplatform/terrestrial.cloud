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Enterprise Product Specification</a:t>
            </a:r>
          </a:p>
          <a:p>
            <a:r>
              <a:t>Tagline: AI-Driven Predictive Health Indexing &amp; Prescriptive Asset Lifecycle Management</a:t>
            </a:r>
          </a:p>
          <a:p/>
          <a:p>
            <a:r>
              <a:t>Outcome Quote:</a:t>
            </a:r>
          </a:p>
          <a:p>
            <a:r>
              <a:t>“Comprehensive asset management: preventive and predictive AI-led health indexing with proprietary multi-physics degradation models.” (— THE OUTCOME-BASED REVOLUTION)</a:t>
            </a:r>
          </a:p>
          <a:p/>
          <a:p>
            <a:r>
              <a:t>Executive Overview:</a:t>
            </a:r>
          </a:p>
          <a:p>
            <a:r>
              <a:t>Heavy batch and continuous processes expose substations and mechanical components to massive strains. TerraAssets deploys predictive maintenance AI engines that continually scan telemetry from critical chillers, compressors, relays, breaker panels, and transformers to uncover micro-anomalies and trigger prioritized work orders under ISA 18.2 compliance.</a:t>
            </a:r>
          </a:p>
          <a:p/>
          <a:p>
            <a:r>
              <a:t>Key Telemetry Metrics:</a:t>
            </a:r>
          </a:p>
          <a:p>
            <a:r>
              <a:t>- ISO CONFORMANCE:: ISO 55000 / 14224</a:t>
            </a:r>
          </a:p>
          <a:p>
            <a:r>
              <a:t>- RUL PREDICTION:: Weibull / AI Hybrid</a:t>
            </a:r>
          </a:p>
          <a:p>
            <a:r>
              <a:t>- ASSET DOSSIER:: 100% Tree Hierarchy</a:t>
            </a:r>
          </a:p>
          <a:p>
            <a:r>
              <a:t>- MTBF GAIN:: +28%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ANSI/ISA-101 Verified Operational Interface</a:t>
            </a:r>
          </a:p>
          <a:p>
            <a:r>
              <a:t>Representation: TerraAssets ANSI/ISA-101 Operational Interface &amp; Real-Time System Representation</a:t>
            </a:r>
          </a:p>
          <a:p>
            <a:r>
              <a:t>Compliance: ANSI/ISA-101 Verified HMI</a:t>
            </a:r>
          </a:p>
          <a:p>
            <a:r>
              <a:t>Asset File: terra_assets_showcase.jpg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TerraAssets Will Do:</a:t>
            </a:r>
          </a:p>
          <a:p>
            <a:r>
              <a:t>[1] Multi-Tier Topological Asset Hierarchy:</a:t>
            </a:r>
          </a:p>
          <a:p>
            <a:r>
              <a:t>Organizes complex plant asset hierarchies, relationships, and electrical connections using an enterprise graph topology engine.</a:t>
            </a:r>
          </a:p>
          <a:p/>
          <a:p>
            <a:r>
              <a:t>[2] Continuous Transformer Health Analytics:</a:t>
            </a:r>
          </a:p>
          <a:p>
            <a:r>
              <a:t>Monitors transformer thermal stresses, winding temperature, and oil degradation parameters continuously.</a:t>
            </a:r>
          </a:p>
          <a:p/>
          <a:p>
            <a:r>
              <a:t>[3] Vibration &amp; Rotating Machine Prognostics:</a:t>
            </a:r>
          </a:p>
          <a:p>
            <a:r>
              <a:t>Tracks vibration signatures, harmonics, and run-hours across chillers, compressors, and high-pressure pumps.</a:t>
            </a:r>
          </a:p>
          <a:p/>
          <a:p>
            <a:r>
              <a:t>[4] Native SAP / CMMS Bidirectional Integration:</a:t>
            </a:r>
          </a:p>
          <a:p>
            <a:r>
              <a:t>Automated creation of maintenance tickets and spare parts reservation in enterprise ERP.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Operational Use Cases &amp; Field Impact:</a:t>
            </a:r>
          </a:p>
          <a:p>
            <a:r>
              <a:t>[Productivity &amp; Downtime Mitigation] Productivity &amp; Downtime Mitigation:</a:t>
            </a:r>
          </a:p>
          <a:p>
            <a:r>
              <a:t>Unplanned production downtime suppressed from legacy baseline of 490 hours/year down to just 180 hours in 2022, courtesy of immediate predictive maintenance alerts.</a:t>
            </a:r>
          </a:p>
          <a:p/>
          <a:p>
            <a:r>
              <a:t>[Asset Protection] Asset Protection (Substation Transformer Load Tracking):</a:t>
            </a:r>
          </a:p>
          <a:p>
            <a:r>
              <a:t>Continually monitors transformer thermal stresses, phase imbalances, and harmonic distortion to prevent catastrophic insulation failure.</a:t>
            </a:r>
          </a:p>
          <a:p/>
          <a:p>
            <a:r>
              <a:t>[Reduced Manpower] Reduced Manpower (Automated SAP Work Order Dispatch):</a:t>
            </a:r>
          </a:p>
          <a:p>
            <a:r>
              <a:t>Autonomously calculates run-hours and triggers maintenance tickets with required spare parts in SAP ERP, eliminating manual inspections.</a:t>
            </a:r>
          </a:p>
          <a:p/>
          <a:p>
            <a:r>
              <a:t>[QA &amp; Rotating Machine Longevity] QA &amp; Rotating Machine Longevity:</a:t>
            </a:r>
          </a:p>
          <a:p>
            <a:r>
              <a:t>Detects early bearing flaking and unbalance on critical chillers and compressors months before vibration crosses destructive trip limits.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Architectural Contrast (Legacy SCADA vs Terrestrial Platform):</a:t>
            </a:r>
          </a:p>
          <a:p>
            <a:r>
              <a:t>LEGACY:</a:t>
            </a:r>
          </a:p>
          <a:p>
            <a:r>
              <a:t>Routine maintenance done on fixed calendar dates, replacing healthy components or missing sudden breakdowns.</a:t>
            </a:r>
          </a:p>
          <a:p/>
          <a:p>
            <a:r>
              <a:t>TERRESTRIAL ADVANTAGE:</a:t>
            </a:r>
          </a:p>
          <a:p>
            <a:r>
              <a:t>Condition-based maintenance driven by continuous multi-modal vibration, thermal, and electrical telemetry.</a:t>
            </a:r>
          </a:p>
          <a:p/>
          <a:p>
            <a:r>
              <a:t>LEGACY:</a:t>
            </a:r>
          </a:p>
          <a:p>
            <a:r>
              <a:t>Generic threshold alarms that go off only when bearing raceways or windings have already been destroyed.</a:t>
            </a:r>
          </a:p>
          <a:p/>
          <a:p>
            <a:r>
              <a:t>TERRESTRIAL ADVANTAGE:</a:t>
            </a:r>
          </a:p>
          <a:p>
            <a:r>
              <a:t>Prognostic multi-physics models that detect micro-degradations months before failure occurs.</a:t>
            </a:r>
          </a:p>
          <a:p/>
          <a:p>
            <a:r>
              <a:t>LEGACY:</a:t>
            </a:r>
          </a:p>
          <a:p>
            <a:r>
              <a:t>Manual creation of work orders and paperwork slowing down critical maintenance responses.</a:t>
            </a:r>
          </a:p>
          <a:p/>
          <a:p>
            <a:r>
              <a:t>TERRESTRIAL ADVANTAGE:</a:t>
            </a:r>
          </a:p>
          <a:p>
            <a:r>
              <a:t>Closed-loop automated creation of work orders in SAP/Maximo with recommended toolkits and spare parts.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End-to-End System Diagram &amp; Data Pipeline:</a:t>
            </a:r>
          </a:p>
          <a:p/>
          <a:p>
            <a:r>
              <a:t>Layer 01: Vibration &amp; Condition Ingestion</a:t>
            </a:r>
          </a:p>
          <a:p>
            <a:r>
              <a:t>High-frequency telemetry acquisition from triaxial accelerometers, eddy current proximity probes, oil condition sensors, and thermography.</a:t>
            </a:r>
          </a:p>
          <a:p>
            <a:r>
              <a:t>Protocols: ISO 10816 Vibration, High-Frequency IEPE, OPC UA Part 100</a:t>
            </a:r>
          </a:p>
          <a:p/>
          <a:p>
            <a:r>
              <a:t>Layer 02: Spectral Waveform Buffering</a:t>
            </a:r>
          </a:p>
          <a:p>
            <a:r>
              <a:t>Raw vibration waveform capture, edge FFT spectrum extraction, circular bearing telemetry buffering, and acoustic transient streaming.</a:t>
            </a:r>
          </a:p>
          <a:p>
            <a:r>
              <a:t>Protocols: Vibration FFT Stream, Transient Waveform Bus, Edge Spectral Engine</a:t>
            </a:r>
          </a:p>
          <a:p/>
          <a:p>
            <a:r>
              <a:t>Layer 03: RUL Predictive Engine</a:t>
            </a:r>
          </a:p>
          <a:p>
            <a:r>
              <a:t>Physics-based bearing degradation models, spectral peak trending (1x/2x/harmonics), rotor unbalance detection, and RUL time-to-failure forecasting.</a:t>
            </a:r>
          </a:p>
          <a:p>
            <a:r>
              <a:t>Protocols: RUL Prognostics AI, Bearing Fault Models, Spectral Trend AI</a:t>
            </a:r>
          </a:p>
          <a:p/>
          <a:p>
            <a:r>
              <a:t>Layer 04: Reliability Dispatch Cockpit</a:t>
            </a:r>
          </a:p>
          <a:p>
            <a:r>
              <a:t>Automated prescriptive work order generation in SAP PM / IBM Maximo, equipment health gauges, and ANSI/ISA-101 reliability dashboards.</a:t>
            </a:r>
          </a:p>
          <a:p>
            <a:r>
              <a:t>Protocols: SAP PM / Maximo, Prescriptive Orders, ISA-101 APM Cockpit</a:t>
            </a:r>
          </a:p>
          <a:p/>
          <a:p>
            <a:r>
              <a:t>Pipeline Flow:</a:t>
            </a:r>
          </a:p>
          <a:p>
            <a:r>
              <a:t>DATA PIPELINE FLOW: Triaxial Vibration &amp; Oil Telemetry ➔ Edge FFT Spectral Waveform Bus ➔ Physics-Based RUL Prognostics ➔ Automated Maintenance Dispatch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TerraAssets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TerraAssets: AI-Driven Predictive Health Indexing &amp; Prescriptive Asset Lifecycle Management</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““Comprehensive asset management: preventive and predictive AI-led health indexing with proprietary multi-physics degradation models.””</a:t>
            </a:r>
          </a:p>
          <a:p>
            <a:pPr>
              <a:spcBef>
                <a:spcPts val="400"/>
              </a:spcBef>
              <a:spcAft>
                <a:spcPts val="1200"/>
              </a:spcAft>
              <a:defRPr sz="950" b="1">
                <a:solidFill>
                  <a:srgbClr val="94A3B8"/>
                </a:solidFill>
              </a:defRPr>
            </a:pPr>
            <a:r>
              <a:t>— — THE OUTCOME-BASED REVOLUTION</a:t>
            </a:r>
          </a:p>
          <a:p>
            <a:pPr>
              <a:spcAft>
                <a:spcPts val="600"/>
              </a:spcAft>
              <a:defRPr sz="1050" b="1">
                <a:solidFill>
                  <a:srgbClr val="FFFFFF"/>
                </a:solidFill>
              </a:defRPr>
            </a:pPr>
            <a:r>
              <a:t>EXECUTIVE OPERATIONAL SYNOPSIS</a:t>
            </a:r>
          </a:p>
          <a:p>
            <a:pPr>
              <a:defRPr sz="1050">
                <a:solidFill>
                  <a:srgbClr val="F1F5F9"/>
                </a:solidFill>
              </a:defRPr>
            </a:pPr>
            <a:r>
              <a:t>Heavy batch and continuous processes expose substations and mechanical components to massive strains. TerraAssets deploys predictive maintenance AI engines that continually scan telemetry from critical chillers, compressors, relays, breaker panels, and transformers to uncover micro-anomalies and trigger prioritized work orders under ISA 18.2 compliance.</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ISO CONFORMANCE</a:t>
            </a:r>
          </a:p>
          <a:p>
            <a:pPr>
              <a:spcBef>
                <a:spcPts val="400"/>
              </a:spcBef>
              <a:defRPr sz="1400" b="1">
                <a:solidFill>
                  <a:srgbClr val="FFFFFF"/>
                </a:solidFill>
              </a:defRPr>
            </a:pPr>
            <a:r>
              <a:t>ISO 55000 / 14224</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RUL PREDICTION</a:t>
            </a:r>
          </a:p>
          <a:p>
            <a:pPr>
              <a:spcBef>
                <a:spcPts val="400"/>
              </a:spcBef>
              <a:defRPr sz="1400" b="1">
                <a:solidFill>
                  <a:srgbClr val="FFFFFF"/>
                </a:solidFill>
              </a:defRPr>
            </a:pPr>
            <a:r>
              <a:t>Weibull / AI Hybrid</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ASSET DOSSIER</a:t>
            </a:r>
          </a:p>
          <a:p>
            <a:pPr>
              <a:spcBef>
                <a:spcPts val="400"/>
              </a:spcBef>
              <a:defRPr sz="1400" b="1">
                <a:solidFill>
                  <a:srgbClr val="34D399"/>
                </a:solidFill>
              </a:defRPr>
            </a:pPr>
            <a:r>
              <a:t>100% Tree Hierarchy</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MTBF GAIN</a:t>
            </a:r>
          </a:p>
          <a:p>
            <a:pPr>
              <a:spcBef>
                <a:spcPts val="400"/>
              </a:spcBef>
              <a:defRPr sz="1400" b="1">
                <a:solidFill>
                  <a:srgbClr val="34D399"/>
                </a:solidFill>
              </a:defRPr>
            </a:pPr>
            <a:r>
              <a:t>+28% Measured</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TerraAssets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assets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TerraAssets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Multi-Tier Topological Asset Hierarchy</a:t>
            </a:r>
          </a:p>
          <a:p>
            <a:pPr>
              <a:defRPr sz="1000">
                <a:solidFill>
                  <a:srgbClr val="F1F5F9"/>
                </a:solidFill>
              </a:defRPr>
            </a:pPr>
            <a:r>
              <a:t>Organizes complex plant asset hierarchies, relationships, and electrical connections using an enterprise graph topology engine.</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Continuous Transformer Health Analytics</a:t>
            </a:r>
          </a:p>
          <a:p>
            <a:pPr>
              <a:defRPr sz="1000">
                <a:solidFill>
                  <a:srgbClr val="F1F5F9"/>
                </a:solidFill>
              </a:defRPr>
            </a:pPr>
            <a:r>
              <a:t>Monitors transformer thermal stresses, winding temperature, and oil degradation parameters continuously.</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Vibration &amp; Rotating Machine Prognostics</a:t>
            </a:r>
          </a:p>
          <a:p>
            <a:pPr>
              <a:defRPr sz="1000">
                <a:solidFill>
                  <a:srgbClr val="F1F5F9"/>
                </a:solidFill>
              </a:defRPr>
            </a:pPr>
            <a:r>
              <a:t>Tracks vibration signatures, harmonics, and run-hours across chillers, compressors, and high-pressure pumps.</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Native SAP / CMMS Bidirectional Integration</a:t>
            </a:r>
          </a:p>
          <a:p>
            <a:pPr>
              <a:defRPr sz="1000">
                <a:solidFill>
                  <a:srgbClr val="F1F5F9"/>
                </a:solidFill>
              </a:defRPr>
            </a:pPr>
            <a:r>
              <a:t>Automated creation of maintenance tickets and spare parts reservation in enterprise ERP.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4D399"/>
                </a:solidFill>
              </a:defRPr>
            </a:pPr>
            <a:r>
              <a:t>CASE 01  |  PRODUCTIVITY &amp; DOWNTIME MITIGATION</a:t>
            </a:r>
          </a:p>
          <a:p>
            <a:pPr>
              <a:spcBef>
                <a:spcPts val="300"/>
              </a:spcBef>
              <a:spcAft>
                <a:spcPts val="600"/>
              </a:spcAft>
              <a:defRPr sz="1300" b="1">
                <a:solidFill>
                  <a:srgbClr val="FFFFFF"/>
                </a:solidFill>
              </a:defRPr>
            </a:pPr>
            <a:r>
              <a:t>Productivity &amp; Downtime Mitigation</a:t>
            </a:r>
          </a:p>
          <a:p>
            <a:pPr>
              <a:defRPr sz="1000">
                <a:solidFill>
                  <a:srgbClr val="F1F5F9"/>
                </a:solidFill>
              </a:defRPr>
            </a:pPr>
            <a:r>
              <a:t>Unplanned production downtime suppressed from legacy baseline of 490 hours/year down to just 180 hours in 2022, courtesy of immediate predictive maintenance alerts.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4D399"/>
                </a:solidFill>
              </a:defRPr>
            </a:pPr>
            <a:r>
              <a:t>CASE 02  |  ASSET PROTECTION</a:t>
            </a:r>
          </a:p>
          <a:p>
            <a:pPr>
              <a:spcBef>
                <a:spcPts val="300"/>
              </a:spcBef>
              <a:spcAft>
                <a:spcPts val="600"/>
              </a:spcAft>
              <a:defRPr sz="1300" b="1">
                <a:solidFill>
                  <a:srgbClr val="FFFFFF"/>
                </a:solidFill>
              </a:defRPr>
            </a:pPr>
            <a:r>
              <a:t>Asset Protection (Substation Transformer Load Tracking)</a:t>
            </a:r>
          </a:p>
          <a:p>
            <a:pPr>
              <a:defRPr sz="1000">
                <a:solidFill>
                  <a:srgbClr val="F1F5F9"/>
                </a:solidFill>
              </a:defRPr>
            </a:pPr>
            <a:r>
              <a:t>Continually monitors transformer thermal stresses, phase imbalances, and harmonic distortion to prevent catastrophic insulation failure.</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4D399"/>
                </a:solidFill>
              </a:defRPr>
            </a:pPr>
            <a:r>
              <a:t>CASE 03  |  REDUCED MANPOWER</a:t>
            </a:r>
          </a:p>
          <a:p>
            <a:pPr>
              <a:spcBef>
                <a:spcPts val="300"/>
              </a:spcBef>
              <a:spcAft>
                <a:spcPts val="600"/>
              </a:spcAft>
              <a:defRPr sz="1300" b="1">
                <a:solidFill>
                  <a:srgbClr val="FFFFFF"/>
                </a:solidFill>
              </a:defRPr>
            </a:pPr>
            <a:r>
              <a:t>Reduced Manpower (Automated SAP Work Order Dispatch)</a:t>
            </a:r>
          </a:p>
          <a:p>
            <a:pPr>
              <a:defRPr sz="1000">
                <a:solidFill>
                  <a:srgbClr val="F1F5F9"/>
                </a:solidFill>
              </a:defRPr>
            </a:pPr>
            <a:r>
              <a:t>Autonomously calculates run-hours and triggers maintenance tickets with required spare parts in SAP ERP, eliminating manual inspections.</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4D399"/>
                </a:solidFill>
              </a:defRPr>
            </a:pPr>
            <a:r>
              <a:t>CASE 04  |  QA &amp; ROTATING MACHINE LONGEVITY</a:t>
            </a:r>
          </a:p>
          <a:p>
            <a:pPr>
              <a:spcBef>
                <a:spcPts val="300"/>
              </a:spcBef>
              <a:spcAft>
                <a:spcPts val="600"/>
              </a:spcAft>
              <a:defRPr sz="1300" b="1">
                <a:solidFill>
                  <a:srgbClr val="FFFFFF"/>
                </a:solidFill>
              </a:defRPr>
            </a:pPr>
            <a:r>
              <a:t>QA &amp; Rotating Machine Longevity</a:t>
            </a:r>
          </a:p>
          <a:p>
            <a:pPr>
              <a:defRPr sz="1000">
                <a:solidFill>
                  <a:srgbClr val="F1F5F9"/>
                </a:solidFill>
              </a:defRPr>
            </a:pPr>
            <a:r>
              <a:t>Detects early bearing flaking and unbalance on critical chillers and compressors months before vibration crosses destructive trip limits.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TERRAASSETS TERRESTRIAL PLATFORM ADVANTAGE</a:t>
            </a:r>
          </a:p>
        </p:txBody>
      </p:sp>
      <p:sp>
        <p:nvSpPr>
          <p:cNvPr id="11" name="Rounded Rectangle 10"/>
          <p:cNvSpPr/>
          <p:nvPr/>
        </p:nvSpPr>
        <p:spPr>
          <a:xfrm>
            <a:off x="731520" y="2286000"/>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1152144"/>
          </a:xfrm>
          <a:prstGeom prst="rect">
            <a:avLst/>
          </a:prstGeom>
          <a:noFill/>
        </p:spPr>
        <p:txBody>
          <a:bodyPr wrap="square" lIns="0" rIns="0" tIns="0" bIns="0">
            <a:spAutoFit/>
          </a:bodyPr>
          <a:lstStyle/>
          <a:p>
            <a:pPr>
              <a:defRPr sz="1000">
                <a:solidFill>
                  <a:srgbClr val="F1F5F9"/>
                </a:solidFill>
              </a:defRPr>
            </a:pPr>
            <a:r>
              <a:t>Routine maintenance done on fixed calendar dates, replacing healthy components or missing sudden breakdowns.</a:t>
            </a:r>
          </a:p>
        </p:txBody>
      </p:sp>
      <p:sp>
        <p:nvSpPr>
          <p:cNvPr id="13" name="Rounded Rectangle 12"/>
          <p:cNvSpPr/>
          <p:nvPr/>
        </p:nvSpPr>
        <p:spPr>
          <a:xfrm>
            <a:off x="6227064" y="2286000"/>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1152144"/>
          </a:xfrm>
          <a:prstGeom prst="rect">
            <a:avLst/>
          </a:prstGeom>
          <a:noFill/>
        </p:spPr>
        <p:txBody>
          <a:bodyPr wrap="square" lIns="0" rIns="0" tIns="0" bIns="0">
            <a:spAutoFit/>
          </a:bodyPr>
          <a:lstStyle/>
          <a:p>
            <a:pPr>
              <a:defRPr sz="1000" b="1">
                <a:solidFill>
                  <a:srgbClr val="34D399"/>
                </a:solidFill>
              </a:defRPr>
            </a:pPr>
            <a:r>
              <a:t>Condition-based maintenance driven by continuous multi-modal vibration, thermal, and electrical telemetry.</a:t>
            </a:r>
          </a:p>
        </p:txBody>
      </p:sp>
      <p:sp>
        <p:nvSpPr>
          <p:cNvPr id="15" name="Rounded Rectangle 14"/>
          <p:cNvSpPr/>
          <p:nvPr/>
        </p:nvSpPr>
        <p:spPr>
          <a:xfrm>
            <a:off x="731520" y="3694176"/>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4956048" cy="1152144"/>
          </a:xfrm>
          <a:prstGeom prst="rect">
            <a:avLst/>
          </a:prstGeom>
          <a:noFill/>
        </p:spPr>
        <p:txBody>
          <a:bodyPr wrap="square" lIns="0" rIns="0" tIns="0" bIns="0">
            <a:spAutoFit/>
          </a:bodyPr>
          <a:lstStyle/>
          <a:p>
            <a:pPr>
              <a:defRPr sz="1000">
                <a:solidFill>
                  <a:srgbClr val="F1F5F9"/>
                </a:solidFill>
              </a:defRPr>
            </a:pPr>
            <a:r>
              <a:t>Generic threshold alarms that go off only when bearing raceways or windings have already been destroyed.</a:t>
            </a:r>
          </a:p>
        </p:txBody>
      </p:sp>
      <p:sp>
        <p:nvSpPr>
          <p:cNvPr id="17" name="Rounded Rectangle 16"/>
          <p:cNvSpPr/>
          <p:nvPr/>
        </p:nvSpPr>
        <p:spPr>
          <a:xfrm>
            <a:off x="6227064" y="3694176"/>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67328"/>
            <a:ext cx="4956048" cy="1152144"/>
          </a:xfrm>
          <a:prstGeom prst="rect">
            <a:avLst/>
          </a:prstGeom>
          <a:noFill/>
        </p:spPr>
        <p:txBody>
          <a:bodyPr wrap="square" lIns="0" rIns="0" tIns="0" bIns="0">
            <a:spAutoFit/>
          </a:bodyPr>
          <a:lstStyle/>
          <a:p>
            <a:pPr>
              <a:defRPr sz="1000" b="1">
                <a:solidFill>
                  <a:srgbClr val="34D399"/>
                </a:solidFill>
              </a:defRPr>
            </a:pPr>
            <a:r>
              <a:t>Prognostic multi-physics models that detect micro-degradations months before failure occurs.</a:t>
            </a:r>
          </a:p>
        </p:txBody>
      </p:sp>
      <p:sp>
        <p:nvSpPr>
          <p:cNvPr id="19" name="Rounded Rectangle 18"/>
          <p:cNvSpPr/>
          <p:nvPr/>
        </p:nvSpPr>
        <p:spPr>
          <a:xfrm>
            <a:off x="731520" y="5102352"/>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5504"/>
            <a:ext cx="4956048" cy="1152144"/>
          </a:xfrm>
          <a:prstGeom prst="rect">
            <a:avLst/>
          </a:prstGeom>
          <a:noFill/>
        </p:spPr>
        <p:txBody>
          <a:bodyPr wrap="square" lIns="0" rIns="0" tIns="0" bIns="0">
            <a:spAutoFit/>
          </a:bodyPr>
          <a:lstStyle/>
          <a:p>
            <a:pPr>
              <a:defRPr sz="1000">
                <a:solidFill>
                  <a:srgbClr val="F1F5F9"/>
                </a:solidFill>
              </a:defRPr>
            </a:pPr>
            <a:r>
              <a:t>Manual creation of work orders and paperwork slowing down critical maintenance responses.</a:t>
            </a:r>
          </a:p>
        </p:txBody>
      </p:sp>
      <p:sp>
        <p:nvSpPr>
          <p:cNvPr id="21" name="Rounded Rectangle 20"/>
          <p:cNvSpPr/>
          <p:nvPr/>
        </p:nvSpPr>
        <p:spPr>
          <a:xfrm>
            <a:off x="6227064" y="5102352"/>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5175504"/>
            <a:ext cx="4956048" cy="1152144"/>
          </a:xfrm>
          <a:prstGeom prst="rect">
            <a:avLst/>
          </a:prstGeom>
          <a:noFill/>
        </p:spPr>
        <p:txBody>
          <a:bodyPr wrap="square" lIns="0" rIns="0" tIns="0" bIns="0">
            <a:spAutoFit/>
          </a:bodyPr>
          <a:lstStyle/>
          <a:p>
            <a:pPr>
              <a:defRPr sz="1000" b="1">
                <a:solidFill>
                  <a:srgbClr val="34D399"/>
                </a:solidFill>
              </a:defRPr>
            </a:pPr>
            <a:r>
              <a:t>Closed-loop automated creation of work orders in SAP/Maximo with recommended toolkits and spare parts.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Vibration &amp; Condition Ingestion</a:t>
            </a:r>
          </a:p>
          <a:p>
            <a:pPr>
              <a:spcAft>
                <a:spcPts val="800"/>
              </a:spcAft>
              <a:defRPr sz="900">
                <a:solidFill>
                  <a:srgbClr val="F1F5F9"/>
                </a:solidFill>
              </a:defRPr>
            </a:pPr>
            <a:r>
              <a:t>High-frequency telemetry acquisition from triaxial accelerometers, eddy current proximity probes, oil condition sensors, and thermography.</a:t>
            </a:r>
          </a:p>
          <a:p>
            <a:pPr>
              <a:spcBef>
                <a:spcPts val="400"/>
              </a:spcBef>
              <a:defRPr sz="800" b="1">
                <a:solidFill>
                  <a:srgbClr val="94A3B8"/>
                </a:solidFill>
              </a:defRPr>
            </a:pPr>
            <a:r>
              <a:t>PROTOCOLS &amp; STANDARDS:</a:t>
            </a:r>
          </a:p>
          <a:p>
            <a:pPr>
              <a:spcBef>
                <a:spcPts val="200"/>
              </a:spcBef>
              <a:defRPr sz="850">
                <a:solidFill>
                  <a:srgbClr val="34D399"/>
                </a:solidFill>
              </a:defRPr>
            </a:pPr>
            <a:r>
              <a:t> • ISO 10816 Vibration</a:t>
            </a:r>
            <a:br/>
            <a:r>
              <a:t> • High-Frequency IEPE</a:t>
            </a:r>
            <a:br/>
            <a:r>
              <a:t> • OPC UA Part 100</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Spectral Waveform Buffering</a:t>
            </a:r>
          </a:p>
          <a:p>
            <a:pPr>
              <a:spcAft>
                <a:spcPts val="800"/>
              </a:spcAft>
              <a:defRPr sz="900">
                <a:solidFill>
                  <a:srgbClr val="F1F5F9"/>
                </a:solidFill>
              </a:defRPr>
            </a:pPr>
            <a:r>
              <a:t>Raw vibration waveform capture, edge FFT spectrum extraction, circular bearing telemetry buffering, and acoustic transient streaming.</a:t>
            </a:r>
          </a:p>
          <a:p>
            <a:pPr>
              <a:spcBef>
                <a:spcPts val="400"/>
              </a:spcBef>
              <a:defRPr sz="800" b="1">
                <a:solidFill>
                  <a:srgbClr val="94A3B8"/>
                </a:solidFill>
              </a:defRPr>
            </a:pPr>
            <a:r>
              <a:t>PROTOCOLS &amp; STANDARDS:</a:t>
            </a:r>
          </a:p>
          <a:p>
            <a:pPr>
              <a:spcBef>
                <a:spcPts val="200"/>
              </a:spcBef>
              <a:defRPr sz="850">
                <a:solidFill>
                  <a:srgbClr val="34D399"/>
                </a:solidFill>
              </a:defRPr>
            </a:pPr>
            <a:r>
              <a:t> • Vibration FFT Stream</a:t>
            </a:r>
            <a:br/>
            <a:r>
              <a:t> • Transient Waveform Bus</a:t>
            </a:r>
            <a:br/>
            <a:r>
              <a:t> • Edge Spectral Engine</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RUL Predictive Engine</a:t>
            </a:r>
          </a:p>
          <a:p>
            <a:pPr>
              <a:spcAft>
                <a:spcPts val="800"/>
              </a:spcAft>
              <a:defRPr sz="900">
                <a:solidFill>
                  <a:srgbClr val="F1F5F9"/>
                </a:solidFill>
              </a:defRPr>
            </a:pPr>
            <a:r>
              <a:t>Physics-based bearing degradation models, spectral peak trending (1x/2x/harmonics), rotor unbalance detection, and RUL time-to-failure forecasting.</a:t>
            </a:r>
          </a:p>
          <a:p>
            <a:pPr>
              <a:spcBef>
                <a:spcPts val="400"/>
              </a:spcBef>
              <a:defRPr sz="800" b="1">
                <a:solidFill>
                  <a:srgbClr val="94A3B8"/>
                </a:solidFill>
              </a:defRPr>
            </a:pPr>
            <a:r>
              <a:t>PROTOCOLS &amp; STANDARDS:</a:t>
            </a:r>
          </a:p>
          <a:p>
            <a:pPr>
              <a:spcBef>
                <a:spcPts val="200"/>
              </a:spcBef>
              <a:defRPr sz="850">
                <a:solidFill>
                  <a:srgbClr val="34D399"/>
                </a:solidFill>
              </a:defRPr>
            </a:pPr>
            <a:r>
              <a:t> • RUL Prognostics AI</a:t>
            </a:r>
            <a:br/>
            <a:r>
              <a:t> • Bearing Fault Models</a:t>
            </a:r>
            <a:br/>
            <a:r>
              <a:t> • Spectral Trend AI</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Reliability Dispatch Cockpit</a:t>
            </a:r>
          </a:p>
          <a:p>
            <a:pPr>
              <a:spcAft>
                <a:spcPts val="800"/>
              </a:spcAft>
              <a:defRPr sz="900">
                <a:solidFill>
                  <a:srgbClr val="F1F5F9"/>
                </a:solidFill>
              </a:defRPr>
            </a:pPr>
            <a:r>
              <a:t>Automated prescriptive work order generation in SAP PM / IBM Maximo, equipment health gauges, and ANSI/ISA-101 reliability dashboards.</a:t>
            </a:r>
          </a:p>
          <a:p>
            <a:pPr>
              <a:spcBef>
                <a:spcPts val="400"/>
              </a:spcBef>
              <a:defRPr sz="800" b="1">
                <a:solidFill>
                  <a:srgbClr val="94A3B8"/>
                </a:solidFill>
              </a:defRPr>
            </a:pPr>
            <a:r>
              <a:t>PROTOCOLS &amp; STANDARDS:</a:t>
            </a:r>
          </a:p>
          <a:p>
            <a:pPr>
              <a:spcBef>
                <a:spcPts val="200"/>
              </a:spcBef>
              <a:defRPr sz="850">
                <a:solidFill>
                  <a:srgbClr val="34D399"/>
                </a:solidFill>
              </a:defRPr>
            </a:pPr>
            <a:r>
              <a:t> • SAP PM / Maximo</a:t>
            </a:r>
            <a:br/>
            <a:r>
              <a:t> • Prescriptive Orders</a:t>
            </a:r>
            <a:br/>
            <a:r>
              <a:t> • ISA-101 APM Cockpit</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Triaxial Vibration &amp; Oil Telemetry ➔ Edge FFT Spectral Waveform Bus ➔ Physics-Based RUL Prognostics ➔ Automated Maintenance Dispatch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TERRAASSETS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(TERRAASSETS)</a:t>
            </a:r>
          </a:p>
          <a:p>
            <a:pPr>
              <a:spcBef>
                <a:spcPts val="300"/>
              </a:spcBef>
              <a:defRPr sz="950">
                <a:solidFill>
                  <a:srgbClr val="F1F5F9"/>
                </a:solidFill>
              </a:defRPr>
            </a:pPr>
            <a:r>
              <a:t>• High-Margin Software Recurring Revenue: Earn 25%–35% continuous recurring margin on every TerraAssets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