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50" b="1">
                <a:solidFill>
                  <a:srgbClr val="00D4FF"/>
                </a:solidFill>
              </a:defRPr>
            </a:pPr>
            <a:r>
              <a:t>ENTERPRISE PRODUCT SPECIFICATION  |  PLANT ENGINEERING &amp; TWINS</a:t>
            </a:r>
          </a:p>
          <a:p>
            <a:pPr>
              <a:spcAft>
                <a:spcPts val="600"/>
              </a:spcAft>
              <a:defRPr sz="4600" b="1">
                <a:solidFill>
                  <a:srgbClr val="FFFFFF"/>
                </a:solidFill>
              </a:defRPr>
            </a:pPr>
            <a:r>
              <a:t>TerraAssets</a:t>
            </a:r>
          </a:p>
          <a:p>
            <a:pPr>
              <a:spcAft>
                <a:spcPts val="1200"/>
              </a:spcAft>
              <a:defRPr sz="1900" b="1">
                <a:solidFill>
                  <a:srgbClr val="F5C842"/>
                </a:solidFill>
              </a:defRPr>
            </a:pPr>
            <a:r>
              <a:t>AI-Driven Predictive Health Indexing &amp; Prescriptive Asset Lifecycle Management</a:t>
            </a:r>
          </a:p>
          <a:p>
            <a:pPr>
              <a:spcAft>
                <a:spcPts val="1200"/>
              </a:spcAft>
              <a:defRPr sz="1400">
                <a:solidFill>
                  <a:srgbClr val="C8D8F0"/>
                </a:solidFill>
              </a:defRPr>
            </a:pPr>
            <a:r>
              <a:t>Industrial Protocol: ISO 10816 Vibration    |    Domain Architecture: Terrestrial Deterministic Edge Core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AI-Driven Predictive Health Indexing &amp; Prescriptive Asset Lifecycle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ISO CONFORMANCE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ISO 55000 / 14224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RUL PREDICTION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Weibull / AI Hybrid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ASSET DOSSIER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100% Tree Hierarchy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4663440"/>
            <a:ext cx="2523744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100" b="1">
                <a:solidFill>
                  <a:srgbClr val="94A3B8"/>
                </a:solidFill>
              </a:defRPr>
            </a:pPr>
            <a:r>
              <a:t>MTBF GAIN</a:t>
            </a:r>
          </a:p>
          <a:p>
            <a:pPr algn="ctr">
              <a:defRPr sz="1650" b="1">
                <a:solidFill>
                  <a:srgbClr val="00D4FF"/>
                </a:solidFill>
              </a:defRPr>
            </a:pPr>
            <a:r>
              <a:t>+28%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TERRAASSETS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Core Functional Deliverables &amp; Architectural Pillars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01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Multi-Tier Topological Asset Hierarchy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Organizes complex plant asset hierarchies, relationships, and electrical connections using an enterprise graph topology engine.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02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Continuous Transformer Health Analytics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Monitors transformer thermal stresses, winding temperature, and oil degradation parameters continuously.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03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Vibration &amp; Rotating Machine Prognostics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Tracks vibration signatures, harmonics, and run-hours across chillers, compressors, and high-pressure pumps.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69080"/>
            <a:ext cx="5212080" cy="214884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00D4FF"/>
                </a:solidFill>
              </a:defRPr>
            </a:pPr>
            <a:r>
              <a:t>PILLAR 04</a:t>
            </a:r>
          </a:p>
          <a:p>
            <a:pPr>
              <a:spcAft>
                <a:spcPts val="600"/>
              </a:spcAft>
              <a:defRPr sz="1650" b="1">
                <a:solidFill>
                  <a:srgbClr val="FFFFFF"/>
                </a:solidFill>
              </a:defRPr>
            </a:pPr>
            <a:r>
              <a:t>Native SAP / CMMS Bidirectional Integration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Automated creation of maintenance tickets and spare parts reservation in enterprise ERP.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TERRAASSETS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Field-Validated Operational Use Cases &amp; Quantifiable 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PRODUCTIVITY &amp; DOWNTIME MITIGATION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Productivity &amp; Downtime Mitigation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Unplanned production downtime suppressed from legacy baseline of 490 hours/year down to just 180 hours in 2022, courtesy of immediate predictive maintenance alerts.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ASSET PROTECTION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Asset Protection (Substation Transformer Load Tracking)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Continually monitors transformer thermal stresses, phase imbalances, and harmonic distortion to prevent catastrophic insulation failure.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REDUCED MANPOWER</a:t>
            </a:r>
          </a:p>
          <a:p>
            <a:pPr>
              <a:spcAft>
                <a:spcPts val="1200"/>
              </a:spcAft>
              <a:defRPr sz="1600" b="1">
                <a:solidFill>
                  <a:srgbClr val="FFFFFF"/>
                </a:solidFill>
              </a:defRPr>
            </a:pPr>
            <a:r>
              <a:t>Reduced Manpower (Automated SAP Work Order Dispatch)</a:t>
            </a:r>
          </a:p>
          <a:p>
            <a:pPr>
              <a:defRPr sz="1300">
                <a:solidFill>
                  <a:srgbClr val="C8D8F0"/>
                </a:solidFill>
              </a:defRPr>
            </a:pPr>
            <a:r>
              <a:t>Autonomously calculates run-hours and triggers maintenance tickets with required spare parts in SAP ERP, eliminating manual inspections.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TERRAASSETS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Competitive Advantage: Terrestrial Platform vs. Legacy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5212080" cy="502920"/>
          </a:xfrm>
          <a:prstGeom prst="rect">
            <a:avLst/>
          </a:prstGeom>
          <a:solidFill>
            <a:srgbClr val="280F14"/>
          </a:solidFill>
          <a:ln>
            <a:solidFill>
              <a:srgbClr val="FF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5555"/>
                </a:solidFill>
              </a:defRPr>
            </a:pPr>
            <a:r>
              <a:t>TRADITIONAL LEGACY SCADA / SILOED SYSTEMS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645920"/>
            <a:ext cx="5212080" cy="502920"/>
          </a:xfrm>
          <a:prstGeom prst="rect">
            <a:avLst/>
          </a:prstGeom>
          <a:solidFill>
            <a:srgbClr val="0A2D3C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00D4FF"/>
                </a:solidFill>
              </a:defRPr>
            </a:pPr>
            <a:r>
              <a:t>TERRAASSETS TERRESTRIAL PLATFORM ADVANTAGE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4028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Routine maintenance done on fixed calendar dates, replacing healthy components or missing sudden breakdowns.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24028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Condition-based maintenance driven by continuous multi-modal vibration, thermal, and electrical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9184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Generic threshold alarms that go off only when bearing raceways or windings have already been destroyed.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9184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Prognostic multi-physics models that detect micro-degradations months before failure occurs.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Manual creation of work orders and paperwork slowing down critical maintenance responses.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4340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Closed-loop automated creation of work orders in SAP/Maximo with recommended toolkits and spare parts.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5212080" cy="960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>
                <a:solidFill>
                  <a:srgbClr val="94A3B8"/>
                </a:solidFill>
              </a:defRPr>
            </a:pPr>
            <a:r>
              <a:t>Static high/low threshold alarms trigger only after physical process degradation has occurred.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5394960"/>
            <a:ext cx="5212080" cy="960120"/>
          </a:xfrm>
          <a:prstGeom prst="roundRect">
            <a:avLst/>
          </a:prstGeom>
          <a:solidFill>
            <a:srgbClr val="141E37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TerraAssets physics-informed models forecast multi-variable trajectories up to 72 hours in advance.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TERRAASSETS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End-to-End System Architecture &amp; Real-Time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01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Vibration &amp; Condition Ingestion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High-frequency telemetry acquisition from triaxial accelerometers, eddy current proximity probes, oil condition sensors, and thermography.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02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Spectral Waveform Buffering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Raw vibration waveform capture, edge FFT spectrum extraction, circular bearing telemetry buffering, and acoustic transient streaming.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03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RUL Predictive Engine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Physics-based bearing degradation models, spectral peak trending (1x/2x/harmonics), rotor unbalance detection, and RUL time-to-failure forecasting.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06256" y="1645920"/>
            <a:ext cx="2523744" cy="438912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00D4FF"/>
                </a:solidFill>
              </a:defRPr>
            </a:pPr>
            <a:r>
              <a:t>LAYER 04</a:t>
            </a:r>
          </a:p>
          <a:p>
            <a:pPr>
              <a:spcAft>
                <a:spcPts val="1200"/>
              </a:spcAft>
              <a:defRPr sz="1550" b="1">
                <a:solidFill>
                  <a:srgbClr val="FFFFFF"/>
                </a:solidFill>
              </a:defRPr>
            </a:pPr>
            <a:r>
              <a:t>Reliability Dispatch Cockpit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Automated prescriptive work order generation in SAP PM / IBM Maximo, equipment health gauges, and ANSI/ISA-101 reliability dashboards.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TERRAASSETS  |  TERRESTRIAL PLATFORM</a:t>
            </a:r>
          </a:p>
          <a:p>
            <a:pPr>
              <a:defRPr sz="2500" b="1">
                <a:solidFill>
                  <a:srgbClr val="FFFFFF"/>
                </a:solidFill>
              </a:defRPr>
            </a:pPr>
            <a:r>
              <a:t>System Integrator Deployment Playbook &amp; Commercial Enablement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TERRESTRIAL PLATFORM  |  TERRAASSETS CATALOGUE  |  CONFIDENTIAL - AUTHORISED SYSTEM INTEGRATORS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01 | CONNECTIVITY &amp; AUDIT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Zero Rip-and-Replace Onboarding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Deploy edge container onto existing industrial PC or VM. Connect to plant DCS/PLCs via ISO 10816 Vibration. Ingest and normalize all telemetry in under 48 hours without halting production.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02 | TWIN CALIBRATION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Physics-Model Synchronization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Feed historical historian data into TerraAssets models. Automatically build directed causal relationship graphs, calibrate thermodynamics/kinematics, and train edge neural operators.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2" y="1645920"/>
            <a:ext cx="3401568" cy="320040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800"/>
              </a:spcAft>
              <a:defRPr sz="1100" b="1">
                <a:solidFill>
                  <a:srgbClr val="F5C842"/>
                </a:solidFill>
              </a:defRPr>
            </a:pPr>
            <a:r>
              <a:t>PHASE 03 | AUTONOMOUS GO-LIVE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</a:defRPr>
            </a:pPr>
            <a:r>
              <a:t>Closed-Loop Setpoint Actuation</a:t>
            </a:r>
          </a:p>
          <a:p>
            <a:pPr>
              <a:defRPr sz="1250">
                <a:solidFill>
                  <a:srgbClr val="C8D8F0"/>
                </a:solidFill>
              </a:defRPr>
            </a:pPr>
            <a:r>
              <a:t>Transition from advisory warnings to sub-25ms supervisory actuation. Sync alarm suppressions with plant operators and link work orders into SAP/ERP for verifiable recurring ROI.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29200"/>
            <a:ext cx="10698480" cy="1188720"/>
          </a:xfrm>
          <a:prstGeom prst="roundRect">
            <a:avLst/>
          </a:prstGeom>
          <a:solidFill>
            <a:srgbClr val="0C1C34"/>
          </a:solidFill>
          <a:ln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50" b="1">
                <a:solidFill>
                  <a:srgbClr val="00D4FF"/>
                </a:solidFill>
              </a:defRPr>
            </a:pPr>
            <a:r>
              <a:t>COMMERCIAL VALUE PROPOSITION FOR SYSTEM INTEGRATORS (TERRAASSETS)</a:t>
            </a:r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High recurring annual software margins (ARR)  |  Turnkey deployment in days, not months  |  Full co-selling &amp; pre-sales engineering support  |  Certified partner portal at platform.tpcloud.tech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