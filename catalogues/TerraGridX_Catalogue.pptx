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TERRAGRIDX CATALOGUE  |  CONFIDENTIAL - AUTHORISED SYSTEM INTEGRATORS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00D4FF"/>
                </a:solidFill>
              </a:defRPr>
            </a:pPr>
            <a:r>
              <a:t>ENTERPRISE PRODUCT SPECIFICATION  |  GRIDS &amp; UTILITIES</a:t>
            </a:r>
          </a:p>
          <a:p>
            <a:pPr>
              <a:spcAft>
                <a:spcPts val="600"/>
              </a:spcAft>
              <a:defRPr sz="4600" b="1">
                <a:solidFill>
                  <a:srgbClr val="FFFFFF"/>
                </a:solidFill>
              </a:defRPr>
            </a:pPr>
            <a:r>
              <a:t>TerraGridX</a:t>
            </a:r>
          </a:p>
          <a:p>
            <a:pPr>
              <a:spcAft>
                <a:spcPts val="1200"/>
              </a:spcAft>
              <a:defRPr sz="1900" b="1">
                <a:solidFill>
                  <a:srgbClr val="F5C842"/>
                </a:solidFill>
              </a:defRPr>
            </a:pPr>
            <a:r>
              <a:t>Automated Substation Disturbance Analytics &amp; Transmission Intelligence</a:t>
            </a:r>
          </a:p>
          <a:p>
            <a:pPr>
              <a:spcAft>
                <a:spcPts val="1200"/>
              </a:spcAft>
              <a:defRPr sz="1400">
                <a:solidFill>
                  <a:srgbClr val="C8D8F0"/>
                </a:solidFill>
              </a:defRPr>
            </a:pPr>
            <a:r>
              <a:t>Industrial Protocol: IEEE COMTRADE C37.111    |    Domain Architecture: Terrestrial Deterministic Edge Core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Automated Substation Disturbance Analytics &amp; Transmission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SUBSTATION BUS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IEC 61850 MMS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GOOSE TRIPPING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&lt; 4 ms Wire-Speed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FAULT LOCATION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±100m Precision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DUAL BUS PROTOCOL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PRP / HSR Zero-Loss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TERRAGRIDX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Core Functional Deliverables &amp; Architectural Pillars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TERRAGRIDX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01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Automated COMTRADE Harvest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Continuous retrieval of IEEE C37.111-1991/1999/2013 CFG, DAT, and CFF files across distributed IEDs.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02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Full-Cycle Sliding-Window DFT Phasor Engine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Extracts instantaneous fundamental phasors and symmetrical sequence components (positive, negative, zero).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03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K₀-Compensated R-X Impedance Loops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Computes fault impedance trajectory on complex R-X plane to pinpoint distance to line fault.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6908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04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IEC 60255 IDMT Protection Curve Verification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Validates Standard Inverse, Very Inverse, and Extremely Inverse overcurrent trip curves against actual relay times.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TERRAGRIDX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Field-Validated Operational Use Cases &amp; Quantifiable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TERRAGRIDX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01568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PRODUCTIVITY &amp; SAIDI/SAIFI REDUCTION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Productivity &amp; SAIDI/SAIFI Reduction (Fault Localization)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Calculates exact fault distance down to tower numbers within 30 seconds of line trip, guiding repair crews directly to the spot. (TerraGridX openwiki).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645920"/>
            <a:ext cx="3401568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REDUCED MANPOWER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Reduced Manpower (Automated Remote COMTRADE Ingestion)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Replaces manual substation visits with automated background harvesting of IEEE C37.111 COMTRADE files across all connected relays. (TerraGridX openwiki).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645920"/>
            <a:ext cx="3401568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QA &amp; PROTECTION COORDINATION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QA &amp; Protection Coordination (IEC 60255 IDMT Verification)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Compares recorded trip times against Standard Inverse, Very Inverse, and Extremely Inverse curves to flag miscoordinated relay settings. (TerraGridX openwiki).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TERRAGRIDX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Competitive Advantage: Terrestrial Platform vs. Legacy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TERRAGRIDX CATALOGUE  |  CONFIDENTIAL - AUTHORISED SYSTEM INTEGRATORS ONLY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502920"/>
          </a:xfrm>
          <a:prstGeom prst="rect">
            <a:avLst/>
          </a:prstGeom>
          <a:solidFill>
            <a:srgbClr val="280F14"/>
          </a:solidFill>
          <a:ln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5555"/>
                </a:solidFill>
              </a:defRPr>
            </a:pPr>
            <a:r>
              <a:t>TRADITIONAL LEGACY SCADA / SILOED 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212080" cy="502920"/>
          </a:xfrm>
          <a:prstGeom prst="rect">
            <a:avLst/>
          </a:prstGeom>
          <a:solidFill>
            <a:srgbClr val="0A2D3C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00D4FF"/>
                </a:solidFill>
              </a:defRPr>
            </a:pPr>
            <a:r>
              <a:t>TERRAGRIDX TERRESTRIAL PLATFORM ADVANTAGE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Engineers must manually travel to remote substations with laptops to download oscillography files after grid blackouts.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4028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Instant automated harvesting of CFG, DAT, and HDR files across hundreds of distributed IEDs over WAN.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Manual inspection of raw sine wave traces taking days to determine breaker opening times and fault types.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29184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Instantaneous AI waveform diagnostics calculating fault impedance, arc resistance, and clearing times in seconds.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4340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Unsynchronized relay clocks leading to conflicting theories of what caused the blackout.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34340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GPS and PTP nanosecond-synchronized timeline stitching proving the precise root cause without dispute.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9496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Static high/low threshold alarms trigger only after physical process degradation has occurred.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39496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TerraGridX physics-informed models forecast multi-variable trajectories up to 72 hours in advance.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TERRAGRIDX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End-to-End System Architecture &amp; Real-Time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TERRAGRIDX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01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Substation Process Bus Ingestion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Ultra-fast signal acquisition from optical CT/PT instrument transformers, merging units (MU), protection relays, and circuit breaker controllers.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02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Microsecond Process Bus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Hardware-accelerated PRP/HSR redundant Ethernet streaming, IEEE 1588 PTP nanosecond synchronization, and sub-cycle waveform capture.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03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Synchrophasor Stability Core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Real-time phasor measurement unit (PMU) angle divergence analysis, transmission grid oscillation damping, and fault location estimation.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04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Breaker Trip &amp; Grid Cockpit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Sub-4ms GOOSE protective trip command verification, automated synchrocheck breaker closing, and ANSI/ISA-101 single-line substation cockpits.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TERRAGRIDX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System Integrator Deployment Playbook &amp; Commercial Enablement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TERRAGRIDX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01568" cy="32004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PHASE 01 | CONNECTIVITY &amp; AUDIT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Zero Rip-and-Replace Onboarding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Deploy edge container onto existing industrial PC or VM. Connect to plant DCS/PLCs via IEEE COMTRADE C37.111. Ingest and normalize all telemetry in under 48 hours without halting production.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645920"/>
            <a:ext cx="3401568" cy="32004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PHASE 02 | TWIN CALIBRATION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Physics-Model Synchronization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Feed historical historian data into TerraGridX models. Automatically build directed causal relationship graphs, calibrate thermodynamics/kinematics, and train edge neural operators.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645920"/>
            <a:ext cx="3401568" cy="32004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PHASE 03 | AUTONOMOUS GO-LIVE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Closed-Loop Setpoint Actuation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Transition from advisory warnings to sub-25ms supervisory actuation. Sync alarm suppressions with plant operators and link work orders into SAP/ERP for verifiable recurring ROI.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10698480" cy="1188720"/>
          </a:xfrm>
          <a:prstGeom prst="roundRect">
            <a:avLst/>
          </a:prstGeom>
          <a:solidFill>
            <a:srgbClr val="0C1C34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COMMERCIAL VALUE PROPOSITION FOR SYSTEM INTEGRATORS (TERRAGRIDX)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High recurring annual software margins (ARR)  |  Turnkey deployment in days, not months  |  Full co-selling &amp; pre-sales engineering support  |  Certified partner portal at platform.tpcloud.tech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