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TERRESTRIAL PLATFORM™ | ENTERPRISE INDUSTRIAL INTELLIGENCE SUITE | CONFIDENTIAL — FOR SYSTEM INTEGRATORS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0D4FF"/>
                </a:solidFill>
              </a:defRPr>
            </a:pPr>
            <a:r>
              <a:t>ENTERPRISE APPLICATION CATALOGUE | AUTONOMOUS AI &amp; SWARMS</a:t>
            </a:r>
          </a:p>
          <a:p>
            <a:pPr>
              <a:spcAft>
                <a:spcPts val="800"/>
              </a:spcAft>
              <a:defRPr sz="4400" b="1">
                <a:solidFill>
                  <a:srgbClr val="FFFFFF"/>
                </a:solidFill>
              </a:defRPr>
            </a:pPr>
            <a:r>
              <a:t>TerraAI</a:t>
            </a:r>
          </a:p>
          <a:p>
            <a:pPr>
              <a:spcAft>
                <a:spcPts val="1200"/>
              </a:spcAft>
              <a:defRPr sz="1800" b="1">
                <a:solidFill>
                  <a:srgbClr val="F5C842"/>
                </a:solidFill>
              </a:defRPr>
            </a:pPr>
            <a:r>
              <a:t>Autonomous Industrial Intelligence &amp; Physics-Informed Predictive Operations Engine</a:t>
            </a:r>
          </a:p>
          <a:p>
            <a:pPr>
              <a:defRPr sz="1300">
                <a:solidFill>
                  <a:srgbClr val="00D4FF"/>
                </a:solidFill>
              </a:defRPr>
            </a:pPr>
            <a:r>
              <a:t>Protocol Standard: OPC UA / TSN (IEEE 802.1Qbv) | IEC 61850 | MQTT Sparkplug 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89120"/>
            <a:ext cx="2514600" cy="11887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950" b="1">
                <a:solidFill>
                  <a:srgbClr val="94A3B8"/>
                </a:solidFill>
              </a:defRPr>
            </a:pPr>
            <a:r>
              <a:t>AUTONOMOUS CONTROL</a:t>
            </a:r>
          </a:p>
          <a:p>
            <a:pPr algn="ctr">
              <a:defRPr sz="1400" b="1">
                <a:solidFill>
                  <a:srgbClr val="00D4FF"/>
                </a:solidFill>
              </a:defRPr>
            </a:pPr>
            <a:r>
              <a:t>Level 4 Autonomy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4389120"/>
            <a:ext cx="2514600" cy="11887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950" b="1">
                <a:solidFill>
                  <a:srgbClr val="94A3B8"/>
                </a:solidFill>
              </a:defRPr>
            </a:pPr>
            <a:r>
              <a:t>PREDICTIVE HORIZON</a:t>
            </a:r>
          </a:p>
          <a:p>
            <a:pPr algn="ctr">
              <a:defRPr sz="1400" b="1">
                <a:solidFill>
                  <a:srgbClr val="00D4FF"/>
                </a:solidFill>
              </a:defRPr>
            </a:pPr>
            <a:r>
              <a:t>72h Lookahead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4389120"/>
            <a:ext cx="2514600" cy="11887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950" b="1">
                <a:solidFill>
                  <a:srgbClr val="94A3B8"/>
                </a:solidFill>
              </a:defRPr>
            </a:pPr>
            <a:r>
              <a:t>ANALYTICS ENGINE</a:t>
            </a:r>
          </a:p>
          <a:p>
            <a:pPr algn="ctr">
              <a:defRPr sz="1400" b="1">
                <a:solidFill>
                  <a:srgbClr val="00D4FF"/>
                </a:solidFill>
              </a:defRPr>
            </a:pPr>
            <a:r>
              <a:t>PINO Neural Operators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33688" y="4389120"/>
            <a:ext cx="2514600" cy="11887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950" b="1">
                <a:solidFill>
                  <a:srgbClr val="94A3B8"/>
                </a:solidFill>
              </a:defRPr>
            </a:pPr>
            <a:r>
              <a:t>CLOSED-LOOP LATENCY</a:t>
            </a:r>
          </a:p>
          <a:p>
            <a:pPr algn="ctr">
              <a:defRPr sz="1400" b="1">
                <a:solidFill>
                  <a:srgbClr val="00D4FF"/>
                </a:solidFill>
              </a:defRPr>
            </a:pPr>
            <a:r>
              <a:t>Sub-25ms Actuation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